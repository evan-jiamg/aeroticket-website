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27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67" r:id="rId6"/>
    <p:sldId id="270" r:id="rId7"/>
    <p:sldId id="274" r:id="rId8"/>
    <p:sldId id="327" r:id="rId9"/>
    <p:sldId id="359" r:id="rId10"/>
    <p:sldId id="361" r:id="rId11"/>
    <p:sldId id="353" r:id="rId12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385" autoAdjust="0"/>
    <p:restoredTop sz="90929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AB9947F-790B-496B-B4D6-60DAF525AA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830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D55A906-9CEC-45C8-90FE-F334E5C69D7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50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7527359-E15C-4668-9791-AD2B8E3410A7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38345105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181942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55139814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035112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792196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575218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025381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950879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17018201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667331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303293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810281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439863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804340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20410963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26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78950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560099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998320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95217230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05100021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01105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569669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3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zh-TW" altLang="en-US" sz="1600">
                <a:latin typeface="Arial" charset="0"/>
              </a:rPr>
              <a:t>系統分析與設計</a:t>
            </a:r>
            <a:r>
              <a:rPr lang="zh-TW" altLang="en-US" sz="1200">
                <a:latin typeface="Arial" charset="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r"/>
            <a:r>
              <a:rPr lang="en-US" altLang="zh-TW" sz="1400"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第九章 物件導向技術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9.1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9.2 </a:t>
            </a:r>
            <a:r>
              <a:rPr lang="zh-TW" altLang="en-US" smtClean="0"/>
              <a:t>物件導向的基本概念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9.3 </a:t>
            </a:r>
            <a:r>
              <a:rPr lang="zh-TW" altLang="en-US" smtClean="0"/>
              <a:t>物件導向分析與設計及塑模工具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9.4 </a:t>
            </a:r>
            <a:r>
              <a:rPr lang="zh-TW" altLang="en-US" smtClean="0"/>
              <a:t>結論</a:t>
            </a:r>
          </a:p>
        </p:txBody>
      </p:sp>
      <p:sp>
        <p:nvSpPr>
          <p:cNvPr id="512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內容大網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en-US" altLang="zh-TW" smtClean="0"/>
              <a:t>	</a:t>
            </a:r>
            <a:r>
              <a:rPr lang="zh-TW" altLang="en-US" smtClean="0"/>
              <a:t>詳讀本章，你至少能瞭解： </a:t>
            </a:r>
          </a:p>
          <a:p>
            <a:pPr eaLnBrk="1"/>
            <a:r>
              <a:rPr lang="zh-TW" altLang="en-US" smtClean="0"/>
              <a:t>物件導向的基本概念。</a:t>
            </a:r>
          </a:p>
          <a:p>
            <a:pPr eaLnBrk="1"/>
            <a:r>
              <a:rPr lang="zh-TW" altLang="en-US" smtClean="0"/>
              <a:t>物件導向分析與設計的塑模工具。</a:t>
            </a:r>
            <a:endParaRPr lang="en-US" altLang="zh-TW" smtClean="0"/>
          </a:p>
          <a:p>
            <a:pPr eaLnBrk="1"/>
            <a:r>
              <a:rPr lang="zh-TW" altLang="en-US" smtClean="0"/>
              <a:t>物件導向系統開發的過程與產出。</a:t>
            </a:r>
          </a:p>
          <a:p>
            <a:pPr eaLnBrk="1"/>
            <a:endParaRPr lang="zh-TW" altLang="en-US" smtClean="0"/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9.2 </a:t>
            </a:r>
            <a:r>
              <a:rPr lang="zh-TW" altLang="en-US" smtClean="0"/>
              <a:t>物件導向的基本概念</a:t>
            </a:r>
            <a:r>
              <a:rPr lang="en-US" altLang="zh-TW" smtClean="0"/>
              <a:t>(c.5)</a:t>
            </a:r>
            <a:endParaRPr lang="zh-TW" altLang="en-US" smtClean="0"/>
          </a:p>
        </p:txBody>
      </p:sp>
      <p:sp>
        <p:nvSpPr>
          <p:cNvPr id="12291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2998788"/>
          </a:xfrm>
        </p:spPr>
        <p:txBody>
          <a:bodyPr/>
          <a:lstStyle/>
          <a:p>
            <a:pPr lvl="1" eaLnBrk="1">
              <a:lnSpc>
                <a:spcPct val="110000"/>
              </a:lnSpc>
            </a:pPr>
            <a:r>
              <a:rPr lang="zh-TW" altLang="zh-TW" sz="2000" smtClean="0"/>
              <a:t>類別使用一組相同的屬性和操作來描述一個或多個物件，包含如何從類別中建立新的物件。類別有時亦稱為物件類型</a:t>
            </a:r>
            <a:r>
              <a:rPr lang="en-US" altLang="zh-TW" sz="2000" smtClean="0"/>
              <a:t> (Object Type)</a:t>
            </a:r>
            <a:r>
              <a:rPr lang="zh-TW" altLang="zh-TW" sz="2000" smtClean="0"/>
              <a:t>，類別中的任一物件稱為該類別之實例</a:t>
            </a:r>
            <a:r>
              <a:rPr lang="en-US" altLang="zh-TW" sz="2000" smtClean="0"/>
              <a:t> (Instance)</a:t>
            </a:r>
            <a:r>
              <a:rPr lang="zh-TW" altLang="zh-TW" sz="2000" smtClean="0"/>
              <a:t>，因此物件與實例常可互用（視為同義詞）</a:t>
            </a:r>
            <a:r>
              <a:rPr lang="zh-TW" altLang="en-US" sz="2000" smtClean="0"/>
              <a:t>。</a:t>
            </a:r>
            <a:endParaRPr lang="en-US" altLang="zh-TW" sz="2000" smtClean="0"/>
          </a:p>
          <a:p>
            <a:pPr lvl="1" eaLnBrk="1">
              <a:lnSpc>
                <a:spcPct val="110000"/>
              </a:lnSpc>
            </a:pPr>
            <a:r>
              <a:rPr lang="zh-TW" altLang="zh-TW" sz="2000" smtClean="0"/>
              <a:t>以張三、李四、王五與宋七物件為例</a:t>
            </a:r>
            <a:r>
              <a:rPr lang="zh-TW" altLang="en-US" sz="2000" smtClean="0"/>
              <a:t>，</a:t>
            </a:r>
            <a:r>
              <a:rPr lang="zh-TW" altLang="zh-TW" sz="2000" smtClean="0"/>
              <a:t>張三與李四有相似的資訊結構與行為</a:t>
            </a:r>
            <a:r>
              <a:rPr lang="zh-TW" altLang="en-US" sz="2000" smtClean="0"/>
              <a:t>，</a:t>
            </a:r>
            <a:r>
              <a:rPr lang="zh-TW" altLang="zh-TW" sz="2000" smtClean="0"/>
              <a:t>可經由抽象化表示成一個類別稱為「計時員工」類別</a:t>
            </a:r>
            <a:r>
              <a:rPr lang="zh-TW" altLang="en-US" sz="2000" smtClean="0"/>
              <a:t>；</a:t>
            </a:r>
            <a:r>
              <a:rPr lang="zh-TW" altLang="zh-TW" sz="2000" smtClean="0"/>
              <a:t>王五與宋七也有相似的資訊結構與行為可表示成另一個類別稱為「計件員工」類別</a:t>
            </a:r>
            <a:r>
              <a:rPr lang="zh-TW" altLang="en-US" sz="2000" smtClean="0"/>
              <a:t>。</a:t>
            </a:r>
          </a:p>
        </p:txBody>
      </p:sp>
      <p:pic>
        <p:nvPicPr>
          <p:cNvPr id="12292" name="Picture 12" descr="z-vb157d-f9-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7" t="17949" b="2496"/>
          <a:stretch>
            <a:fillRect/>
          </a:stretch>
        </p:blipFill>
        <p:spPr>
          <a:xfrm>
            <a:off x="2916238" y="4437063"/>
            <a:ext cx="3816350" cy="18716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>
              <a:lnSpc>
                <a:spcPct val="110000"/>
              </a:lnSpc>
            </a:pPr>
            <a:r>
              <a:rPr lang="zh-TW" altLang="en-US" sz="2000" smtClean="0"/>
              <a:t>繼承</a:t>
            </a:r>
          </a:p>
          <a:p>
            <a:pPr lvl="1" eaLnBrk="1">
              <a:lnSpc>
                <a:spcPct val="110000"/>
              </a:lnSpc>
            </a:pPr>
            <a:r>
              <a:rPr lang="zh-TW" altLang="zh-TW" sz="2000" smtClean="0"/>
              <a:t>繼承 </a:t>
            </a:r>
            <a:r>
              <a:rPr lang="en-US" altLang="zh-TW" sz="2000" smtClean="0"/>
              <a:t>(Inheritance) </a:t>
            </a:r>
            <a:r>
              <a:rPr lang="zh-TW" altLang="zh-TW" sz="2000" smtClean="0"/>
              <a:t>是類別間之關係，此關係中，某類別之資料結構與行為可供此關係中之其他類別分享</a:t>
            </a:r>
            <a:r>
              <a:rPr lang="zh-TW" altLang="en-US" sz="2000" smtClean="0"/>
              <a:t>。</a:t>
            </a:r>
            <a:endParaRPr lang="en-US" altLang="zh-TW" sz="2000" smtClean="0"/>
          </a:p>
          <a:p>
            <a:pPr lvl="1" eaLnBrk="1">
              <a:lnSpc>
                <a:spcPct val="110000"/>
              </a:lnSpc>
            </a:pPr>
            <a:r>
              <a:rPr lang="zh-TW" altLang="zh-TW" sz="2000" smtClean="0"/>
              <a:t>以張三、李四、王五與宋七物件為例</a:t>
            </a:r>
            <a:r>
              <a:rPr lang="zh-TW" altLang="en-US" sz="2000" smtClean="0"/>
              <a:t>，</a:t>
            </a:r>
            <a:r>
              <a:rPr lang="zh-TW" altLang="zh-TW" sz="2000" smtClean="0"/>
              <a:t>將</a:t>
            </a:r>
            <a:r>
              <a:rPr lang="zh-TW" altLang="en-US" sz="2000" smtClean="0"/>
              <a:t>計件員工</a:t>
            </a:r>
            <a:r>
              <a:rPr lang="zh-TW" altLang="zh-TW" sz="2000" smtClean="0"/>
              <a:t>與</a:t>
            </a:r>
            <a:r>
              <a:rPr lang="zh-TW" altLang="en-US" sz="2000" smtClean="0"/>
              <a:t>計時員工</a:t>
            </a:r>
            <a:r>
              <a:rPr lang="zh-TW" altLang="zh-TW" sz="2000" smtClean="0"/>
              <a:t>相同的部分抽出，一般化成一個更上層的類別（父類別），稱為「</a:t>
            </a:r>
            <a:r>
              <a:rPr lang="zh-TW" altLang="en-US" sz="2000" smtClean="0"/>
              <a:t>臨時員工</a:t>
            </a:r>
            <a:r>
              <a:rPr lang="zh-TW" altLang="zh-TW" sz="2000" smtClean="0"/>
              <a:t>」類別</a:t>
            </a:r>
            <a:r>
              <a:rPr lang="zh-TW" altLang="en-US" sz="2000" smtClean="0"/>
              <a:t>。</a:t>
            </a:r>
          </a:p>
          <a:p>
            <a:pPr eaLnBrk="1">
              <a:lnSpc>
                <a:spcPct val="110000"/>
              </a:lnSpc>
            </a:pPr>
            <a:endParaRPr lang="zh-TW" altLang="en-US" sz="2000" smtClean="0"/>
          </a:p>
        </p:txBody>
      </p:sp>
      <p:pic>
        <p:nvPicPr>
          <p:cNvPr id="15363" name="Picture 12" descr="z-vb157d-f9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14845" r="5426" b="2496"/>
          <a:stretch>
            <a:fillRect/>
          </a:stretch>
        </p:blipFill>
        <p:spPr>
          <a:xfrm>
            <a:off x="3132138" y="3644900"/>
            <a:ext cx="3671887" cy="266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9.2 </a:t>
            </a:r>
            <a:r>
              <a:rPr lang="zh-TW" altLang="en-US" smtClean="0"/>
              <a:t>物件導向的基本概念</a:t>
            </a:r>
            <a:r>
              <a:rPr lang="en-US" altLang="zh-TW" smtClean="0"/>
              <a:t>(c.8)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838200"/>
            <a:ext cx="4000500" cy="5410200"/>
          </a:xfrm>
        </p:spPr>
        <p:txBody>
          <a:bodyPr lIns="91440" tIns="45720" rIns="91440" bIns="45720"/>
          <a:lstStyle/>
          <a:p>
            <a:pPr lvl="1" eaLnBrk="1" hangingPunct="1">
              <a:lnSpc>
                <a:spcPct val="110000"/>
              </a:lnSpc>
              <a:buFontTx/>
              <a:buNone/>
            </a:pPr>
            <a:r>
              <a:rPr lang="en-US" altLang="zh-TW" sz="2000" smtClean="0"/>
              <a:t> </a:t>
            </a:r>
          </a:p>
        </p:txBody>
      </p:sp>
      <p:sp>
        <p:nvSpPr>
          <p:cNvPr id="1843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9-3 </a:t>
            </a:r>
            <a:r>
              <a:rPr lang="zh-TW" altLang="en-US" smtClean="0"/>
              <a:t>類別間之繼承關係與多型</a:t>
            </a:r>
          </a:p>
        </p:txBody>
      </p:sp>
      <p:pic>
        <p:nvPicPr>
          <p:cNvPr id="18436" name="Picture 14" descr="z-vb157d-f9-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4" t="13242" r="2423" b="4359"/>
          <a:stretch>
            <a:fillRect/>
          </a:stretch>
        </p:blipFill>
        <p:spPr>
          <a:xfrm>
            <a:off x="2339975" y="1773238"/>
            <a:ext cx="4824413" cy="4173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1933575" y="2800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1728788" y="1609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1508" name="Rectangle 10"/>
          <p:cNvSpPr>
            <a:spLocks noChangeArrowheads="1"/>
          </p:cNvSpPr>
          <p:nvPr/>
        </p:nvSpPr>
        <p:spPr bwMode="auto">
          <a:xfrm>
            <a:off x="2130425" y="185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2150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9-4 UML</a:t>
            </a:r>
            <a:r>
              <a:rPr lang="zh-TW" altLang="en-US" smtClean="0"/>
              <a:t>之版本與年代演進</a:t>
            </a:r>
          </a:p>
        </p:txBody>
      </p:sp>
      <p:pic>
        <p:nvPicPr>
          <p:cNvPr id="21510" name="Picture 14" descr="z-vb157d-f9-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0" t="6895" r="2603" b="2679"/>
          <a:stretch>
            <a:fillRect/>
          </a:stretch>
        </p:blipFill>
        <p:spPr>
          <a:xfrm>
            <a:off x="2051050" y="1484313"/>
            <a:ext cx="5545138" cy="4765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grpSp>
        <p:nvGrpSpPr>
          <p:cNvPr id="35843" name="群組 21"/>
          <p:cNvGrpSpPr>
            <a:grpSpLocks/>
          </p:cNvGrpSpPr>
          <p:nvPr/>
        </p:nvGrpSpPr>
        <p:grpSpPr bwMode="auto">
          <a:xfrm>
            <a:off x="1619250" y="2062163"/>
            <a:ext cx="5715000" cy="3644900"/>
            <a:chOff x="1500166" y="1571612"/>
            <a:chExt cx="5715040" cy="3643338"/>
          </a:xfrm>
        </p:grpSpPr>
        <p:sp>
          <p:nvSpPr>
            <p:cNvPr id="8" name="矩形 7"/>
            <p:cNvSpPr/>
            <p:nvPr/>
          </p:nvSpPr>
          <p:spPr>
            <a:xfrm>
              <a:off x="1500166" y="1571612"/>
              <a:ext cx="2643206" cy="164307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  <a:bevelB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TW" altLang="en-US" sz="2800" b="1" dirty="0"/>
                <a:t>設計觀點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500166" y="3571876"/>
              <a:ext cx="2643206" cy="164307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  <a:bevelB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TW" altLang="en-US" sz="2800" b="1" dirty="0"/>
                <a:t>流程觀點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4643438" y="1571612"/>
              <a:ext cx="2571768" cy="164307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  <a:bevelB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TW" altLang="en-US" sz="2800" b="1" dirty="0"/>
                <a:t>實施觀點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643438" y="3571876"/>
              <a:ext cx="2571768" cy="164307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  <a:bevelB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TW" altLang="en-US" sz="2800" b="1" dirty="0"/>
                <a:t>部署觀點</a:t>
              </a:r>
            </a:p>
          </p:txBody>
        </p:sp>
        <p:sp>
          <p:nvSpPr>
            <p:cNvPr id="12" name="橢圓 11"/>
            <p:cNvSpPr/>
            <p:nvPr/>
          </p:nvSpPr>
          <p:spPr>
            <a:xfrm>
              <a:off x="2857488" y="2571744"/>
              <a:ext cx="3000396" cy="1643074"/>
            </a:xfrm>
            <a:prstGeom prst="ellipse">
              <a:avLst/>
            </a:prstGeom>
            <a:scene3d>
              <a:camera prst="orthographicFront"/>
              <a:lightRig rig="threePt" dir="t"/>
            </a:scene3d>
            <a:sp3d>
              <a:bevelT w="165100" prst="coolSlant"/>
              <a:bevelB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TW" altLang="en-US" sz="2800" b="1" dirty="0"/>
                <a:t>使用個案</a:t>
              </a:r>
              <a:endParaRPr lang="en-US" altLang="zh-TW" sz="2800" b="1" dirty="0"/>
            </a:p>
            <a:p>
              <a:pPr algn="ctr" eaLnBrk="1" hangingPunct="1">
                <a:defRPr/>
              </a:pPr>
              <a:r>
                <a:rPr lang="zh-TW" altLang="en-US" sz="2800" b="1" dirty="0"/>
                <a:t>觀點</a:t>
              </a:r>
            </a:p>
          </p:txBody>
        </p:sp>
      </p:grpSp>
      <p:sp>
        <p:nvSpPr>
          <p:cNvPr id="35844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9-6 </a:t>
            </a:r>
            <a:r>
              <a:rPr lang="zh-TW" altLang="en-US" smtClean="0"/>
              <a:t>五個連鎖觀點的軟體系統結構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9-7 </a:t>
            </a:r>
            <a:r>
              <a:rPr lang="zh-TW" altLang="en-US" smtClean="0"/>
              <a:t>物件導向塑模活動及塑模工具</a:t>
            </a:r>
          </a:p>
        </p:txBody>
      </p:sp>
      <p:pic>
        <p:nvPicPr>
          <p:cNvPr id="43011" name="Picture 11" descr="z-vb157d-f9-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8366" r="3619" b="4182"/>
          <a:stretch>
            <a:fillRect/>
          </a:stretch>
        </p:blipFill>
        <p:spPr>
          <a:xfrm>
            <a:off x="2484438" y="1484313"/>
            <a:ext cx="4400550" cy="4897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ChangeArrowheads="1"/>
          </p:cNvSpPr>
          <p:nvPr/>
        </p:nvSpPr>
        <p:spPr bwMode="auto">
          <a:xfrm>
            <a:off x="1939925" y="197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4403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9-8 </a:t>
            </a:r>
            <a:r>
              <a:rPr lang="zh-TW" altLang="en-US" smtClean="0"/>
              <a:t>物件導向核心工作流程與塑模工具</a:t>
            </a:r>
          </a:p>
        </p:txBody>
      </p:sp>
      <p:pic>
        <p:nvPicPr>
          <p:cNvPr id="44036" name="Picture 10" descr="z-vb157d-f9-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" t="13503" r="4880" b="2884"/>
          <a:stretch>
            <a:fillRect/>
          </a:stretch>
        </p:blipFill>
        <p:spPr>
          <a:xfrm>
            <a:off x="1331913" y="1628775"/>
            <a:ext cx="6985000" cy="4402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1253</TotalTime>
  <Words>321</Words>
  <Application>Microsoft Office PowerPoint</Application>
  <PresentationFormat>如螢幕大小 (4:3)</PresentationFormat>
  <Paragraphs>32</Paragraphs>
  <Slides>10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ch01</vt:lpstr>
      <vt:lpstr>5_ch01 網際網路基礎</vt:lpstr>
      <vt:lpstr>第九章 物件導向技術</vt:lpstr>
      <vt:lpstr>內容大網</vt:lpstr>
      <vt:lpstr>學習目標</vt:lpstr>
      <vt:lpstr>9.2 物件導向的基本概念(c.5)</vt:lpstr>
      <vt:lpstr>9.2 物件導向的基本概念(c.8)</vt:lpstr>
      <vt:lpstr>圖9-3 類別間之繼承關係與多型</vt:lpstr>
      <vt:lpstr>圖9-4 UML之版本與年代演進</vt:lpstr>
      <vt:lpstr>圖9-6 五個連鎖觀點的軟體系統結構</vt:lpstr>
      <vt:lpstr>圖9-7 物件導向塑模活動及塑模工具</vt:lpstr>
      <vt:lpstr>圖9-8 物件導向核心工作流程與塑模工具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handsome</dc:creator>
  <cp:lastModifiedBy>user</cp:lastModifiedBy>
  <cp:revision>137</cp:revision>
  <dcterms:created xsi:type="dcterms:W3CDTF">1999-12-23T19:55:40Z</dcterms:created>
  <dcterms:modified xsi:type="dcterms:W3CDTF">2020-04-20T02:50:29Z</dcterms:modified>
</cp:coreProperties>
</file>