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  <p:sldMasterId id="2147483826" r:id="rId2"/>
    <p:sldMasterId id="2147483827" r:id="rId3"/>
  </p:sldMasterIdLst>
  <p:notesMasterIdLst>
    <p:notesMasterId r:id="rId25"/>
  </p:notesMasterIdLst>
  <p:handoutMasterIdLst>
    <p:handoutMasterId r:id="rId26"/>
  </p:handoutMasterIdLst>
  <p:sldIdLst>
    <p:sldId id="256" r:id="rId4"/>
    <p:sldId id="258" r:id="rId5"/>
    <p:sldId id="257" r:id="rId6"/>
    <p:sldId id="261" r:id="rId7"/>
    <p:sldId id="314" r:id="rId8"/>
    <p:sldId id="359" r:id="rId9"/>
    <p:sldId id="365" r:id="rId10"/>
    <p:sldId id="367" r:id="rId11"/>
    <p:sldId id="368" r:id="rId12"/>
    <p:sldId id="370" r:id="rId13"/>
    <p:sldId id="371" r:id="rId14"/>
    <p:sldId id="374" r:id="rId15"/>
    <p:sldId id="415" r:id="rId16"/>
    <p:sldId id="381" r:id="rId17"/>
    <p:sldId id="384" r:id="rId18"/>
    <p:sldId id="385" r:id="rId19"/>
    <p:sldId id="386" r:id="rId20"/>
    <p:sldId id="399" r:id="rId21"/>
    <p:sldId id="401" r:id="rId22"/>
    <p:sldId id="403" r:id="rId23"/>
    <p:sldId id="300" r:id="rId2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honburi"/>
        <a:ea typeface="微軟正黑體" pitchFamily="34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0296" autoAdjust="0"/>
    <p:restoredTop sz="97882" autoAdjust="0"/>
  </p:normalViewPr>
  <p:slideViewPr>
    <p:cSldViewPr>
      <p:cViewPr>
        <p:scale>
          <a:sx n="100" d="100"/>
          <a:sy n="100" d="100"/>
        </p:scale>
        <p:origin x="-89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80EE63B-7F9B-4D6B-8BD0-1A2B0AD9A728}" type="datetimeFigureOut">
              <a:rPr lang="zh-TW" altLang="en-US"/>
              <a:pPr>
                <a:defRPr/>
              </a:pPr>
              <a:t>2020/4/20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9FDE77E-9562-4267-AC05-1FBEA5ECE6B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391271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31CF48F-0FD8-4F80-B589-AE43308660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397125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資訊科技_b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189077791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818995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47922527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799236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197978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503482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817622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09730139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80704368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567465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484743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9500" y="449263"/>
            <a:ext cx="7377113" cy="90011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19138" y="1438275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719138" y="3943350"/>
            <a:ext cx="8097837" cy="2352675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865981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376042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950997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32406241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301376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3927475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722729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780862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7855520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09901951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816945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162228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002814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941838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15314525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09704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468803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361323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786060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78082827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86074497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810054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906812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1028" name="Picture 4" descr="資訊科技_bg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1030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5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</p:sldLayoutIdLst>
  <p:transition spd="med">
    <p:random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052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2054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3076" name="Picture 6" descr="資訊科技_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Ins="0"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defTabSz="914400"/>
            <a:r>
              <a:rPr kumimoji="1" lang="zh-TW" altLang="en-US" sz="1600">
                <a:latin typeface="Arial" pitchFamily="34" charset="0"/>
                <a:ea typeface="新細明體" pitchFamily="18" charset="-120"/>
              </a:rPr>
              <a:t>系統分析與設計</a:t>
            </a:r>
            <a:r>
              <a:rPr kumimoji="1" lang="zh-TW" altLang="en-US" sz="1200">
                <a:latin typeface="Arial" pitchFamily="34" charset="0"/>
                <a:ea typeface="新細明體" pitchFamily="18" charset="-120"/>
              </a:rPr>
              <a:t>理論與實務應用(七版)   吳仁和、林信惠 著</a:t>
            </a:r>
          </a:p>
        </p:txBody>
      </p:sp>
      <p:sp>
        <p:nvSpPr>
          <p:cNvPr id="3078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honburi"/>
                <a:ea typeface="微軟正黑體" pitchFamily="34" charset="-120"/>
              </a:defRPr>
            </a:lvl9pPr>
          </a:lstStyle>
          <a:p>
            <a:pPr algn="r"/>
            <a:r>
              <a:rPr kumimoji="1" lang="en-US" altLang="zh-TW" sz="1400">
                <a:latin typeface="Times New Roman" pitchFamily="18" charset="0"/>
                <a:ea typeface="華康特粗明體" pitchFamily="49" charset="-120"/>
              </a:rPr>
              <a:t>ISBN 9789575113094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ransition spd="med">
    <p:random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 algn="ctr" eaLnBrk="1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</a:pPr>
            <a:endParaRPr lang="zh-TW" altLang="en-US" smtClean="0"/>
          </a:p>
        </p:txBody>
      </p:sp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第十章 使用個案塑模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學習目標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10.1 </a:t>
            </a:r>
            <a:r>
              <a:rPr lang="zh-TW" altLang="en-US" smtClean="0"/>
              <a:t>導論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10.2 </a:t>
            </a:r>
            <a:r>
              <a:rPr lang="zh-TW" altLang="en-US" smtClean="0"/>
              <a:t>使用個案模式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10.3 </a:t>
            </a:r>
            <a:r>
              <a:rPr lang="zh-TW" altLang="en-US" smtClean="0"/>
              <a:t>使用個案塑模案例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10.4 </a:t>
            </a:r>
            <a:r>
              <a:rPr lang="zh-TW" altLang="en-US" smtClean="0"/>
              <a:t>活動圖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10.5</a:t>
            </a:r>
            <a:r>
              <a:rPr lang="zh-TW" altLang="en-US" smtClean="0"/>
              <a:t> 活動圖塑模案例</a:t>
            </a:r>
          </a:p>
          <a:p>
            <a:pPr eaLnBrk="1">
              <a:buFont typeface="Wingdings" pitchFamily="2" charset="2"/>
              <a:buNone/>
            </a:pPr>
            <a:r>
              <a:rPr lang="en-US" altLang="zh-TW" smtClean="0"/>
              <a:t>10.6 </a:t>
            </a:r>
            <a:r>
              <a:rPr lang="zh-TW" altLang="en-US" smtClean="0"/>
              <a:t>結論 </a:t>
            </a:r>
            <a:endParaRPr lang="en-US" altLang="zh-TW" smtClean="0"/>
          </a:p>
          <a:p>
            <a:pPr eaLnBrk="1"/>
            <a:endParaRPr lang="zh-TW" altLang="en-US" smtClean="0"/>
          </a:p>
        </p:txBody>
      </p:sp>
      <p:sp>
        <p:nvSpPr>
          <p:cNvPr id="614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內容大綱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學習目標</a:t>
            </a:r>
          </a:p>
        </p:txBody>
      </p:sp>
      <p:sp>
        <p:nvSpPr>
          <p:cNvPr id="7171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>
              <a:buFont typeface="Wingdings" pitchFamily="2" charset="2"/>
              <a:buNone/>
            </a:pPr>
            <a:r>
              <a:rPr lang="zh-TW" altLang="en-US" smtClean="0"/>
              <a:t>詳讀本章，你至少能瞭解：</a:t>
            </a:r>
          </a:p>
          <a:p>
            <a:pPr eaLnBrk="1"/>
            <a:r>
              <a:rPr lang="zh-TW" altLang="zh-TW" smtClean="0"/>
              <a:t>何謂使用個案模式。</a:t>
            </a:r>
          </a:p>
          <a:p>
            <a:pPr eaLnBrk="1"/>
            <a:r>
              <a:rPr lang="zh-TW" altLang="zh-TW" smtClean="0"/>
              <a:t>如何建構使用個案圖、藍圖與資料詞彙。</a:t>
            </a:r>
          </a:p>
          <a:p>
            <a:pPr eaLnBrk="1"/>
            <a:r>
              <a:rPr lang="zh-TW" altLang="zh-TW" smtClean="0"/>
              <a:t>如何表達使用個案模式之文件。</a:t>
            </a:r>
          </a:p>
          <a:p>
            <a:pPr eaLnBrk="1"/>
            <a:r>
              <a:rPr lang="zh-TW" altLang="zh-TW" smtClean="0"/>
              <a:t>何謂活動圖。</a:t>
            </a:r>
          </a:p>
          <a:p>
            <a:pPr eaLnBrk="1"/>
            <a:r>
              <a:rPr lang="zh-TW" altLang="zh-TW" smtClean="0"/>
              <a:t>如何建構活動圖。</a:t>
            </a:r>
          </a:p>
          <a:p>
            <a:pPr eaLnBrk="1"/>
            <a:r>
              <a:rPr lang="zh-TW" altLang="zh-TW" smtClean="0"/>
              <a:t>如何以使用個案圖、活動圖、藍圖、資料詞彙等進行需求塑模。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10-1 </a:t>
            </a:r>
            <a:r>
              <a:rPr lang="zh-TW" altLang="en-US" smtClean="0"/>
              <a:t>使用個案圖之元件</a:t>
            </a:r>
          </a:p>
        </p:txBody>
      </p:sp>
      <p:pic>
        <p:nvPicPr>
          <p:cNvPr id="10243" name="Picture 9" descr="z-vb157d-t10-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9" t="10524" r="4834" b="2531"/>
          <a:stretch>
            <a:fillRect/>
          </a:stretch>
        </p:blipFill>
        <p:spPr>
          <a:xfrm>
            <a:off x="2268538" y="1557338"/>
            <a:ext cx="5184775" cy="4819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sp>
        <p:nvSpPr>
          <p:cNvPr id="21507" name="Rectangle 6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pic>
        <p:nvPicPr>
          <p:cNvPr id="21508" name="Picture 7" descr="未命名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1493838"/>
            <a:ext cx="5946775" cy="478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10-1 </a:t>
            </a:r>
            <a:r>
              <a:rPr lang="zh-TW" altLang="en-US" smtClean="0"/>
              <a:t>使用個案圖之關係範例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1990725"/>
          </a:xfrm>
        </p:spPr>
        <p:txBody>
          <a:bodyPr/>
          <a:lstStyle/>
          <a:p>
            <a:pPr eaLnBrk="1"/>
            <a:r>
              <a:rPr lang="zh-TW" altLang="zh-TW" smtClean="0"/>
              <a:t>假設客戶與業務部間之互動包含下訂單、查詢訂單、取消訂單與簽收訂單，其使用個案圖可表示如</a:t>
            </a:r>
            <a:r>
              <a:rPr lang="zh-TW" altLang="en-US" smtClean="0"/>
              <a:t>下</a:t>
            </a:r>
            <a:r>
              <a:rPr lang="zh-TW" altLang="zh-TW" smtClean="0"/>
              <a:t>圖。</a:t>
            </a:r>
            <a:endParaRPr lang="en-US" altLang="zh-TW" smtClean="0"/>
          </a:p>
          <a:p>
            <a:pPr eaLnBrk="1"/>
            <a:r>
              <a:rPr lang="zh-TW" altLang="zh-TW" smtClean="0"/>
              <a:t>以取消訂單為例，自然語言描述方式及事件條列描述方式分別說明如下：</a:t>
            </a:r>
            <a:endParaRPr lang="zh-TW" altLang="en-US" sz="2000" smtClean="0"/>
          </a:p>
        </p:txBody>
      </p:sp>
      <p:pic>
        <p:nvPicPr>
          <p:cNvPr id="26627" name="Picture 12" descr="z-vb157d-f10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53"/>
          <a:stretch>
            <a:fillRect/>
          </a:stretch>
        </p:blipFill>
        <p:spPr>
          <a:xfrm>
            <a:off x="1403350" y="3357563"/>
            <a:ext cx="6192838" cy="27241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10.2.2 </a:t>
            </a:r>
            <a:r>
              <a:rPr lang="zh-TW" altLang="en-US" smtClean="0"/>
              <a:t>使用個案圖之建構步驟與準則</a:t>
            </a:r>
            <a:r>
              <a:rPr lang="en-US" altLang="zh-TW" smtClean="0"/>
              <a:t>(c.5)</a:t>
            </a:r>
            <a:endParaRPr lang="zh-TW" altLang="en-US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10-2 </a:t>
            </a:r>
            <a:r>
              <a:rPr lang="zh-TW" altLang="en-US" smtClean="0"/>
              <a:t>使用個案模式之文件樣板</a:t>
            </a:r>
          </a:p>
        </p:txBody>
      </p:sp>
      <p:pic>
        <p:nvPicPr>
          <p:cNvPr id="33795" name="Picture 12" descr="z-vb157d-t10-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08" r="2702" b="1540"/>
          <a:stretch>
            <a:fillRect/>
          </a:stretch>
        </p:blipFill>
        <p:spPr>
          <a:xfrm>
            <a:off x="1763713" y="1557338"/>
            <a:ext cx="6192837" cy="4813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643063"/>
            <a:ext cx="7558087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10-3a </a:t>
            </a:r>
            <a:r>
              <a:rPr lang="zh-TW" altLang="en-US" smtClean="0"/>
              <a:t>書籍資料藍圖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700213"/>
            <a:ext cx="5859463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10-3b </a:t>
            </a:r>
            <a:r>
              <a:rPr lang="zh-TW" altLang="en-US" smtClean="0"/>
              <a:t>書籍資料藍圖之資料詞彙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9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85938"/>
            <a:ext cx="6851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10-4a </a:t>
            </a:r>
            <a:r>
              <a:rPr lang="zh-TW" altLang="en-US" smtClean="0"/>
              <a:t>客戶資料表藍圖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/>
            <a:endParaRPr lang="zh-TW" altLang="en-US" smtClean="0"/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838" y="1700213"/>
            <a:ext cx="7069137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10-4b </a:t>
            </a:r>
            <a:r>
              <a:rPr lang="zh-TW" altLang="en-US" smtClean="0"/>
              <a:t>客戶資料表藍圖之資料詞彙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10-5a </a:t>
            </a:r>
            <a:r>
              <a:rPr lang="zh-TW" altLang="en-US" smtClean="0"/>
              <a:t>訂單藍圖</a:t>
            </a:r>
          </a:p>
        </p:txBody>
      </p:sp>
      <p:pic>
        <p:nvPicPr>
          <p:cNvPr id="4505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78075" y="1438275"/>
            <a:ext cx="4778375" cy="4857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95513" y="1438275"/>
            <a:ext cx="5184775" cy="4857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10-5b </a:t>
            </a:r>
            <a:r>
              <a:rPr lang="zh-TW" altLang="en-US" smtClean="0"/>
              <a:t>訂單藍圖之資料詞彙</a:t>
            </a:r>
          </a:p>
        </p:txBody>
      </p:sp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719138" y="1438275"/>
            <a:ext cx="8097837" cy="1054100"/>
          </a:xfrm>
        </p:spPr>
        <p:txBody>
          <a:bodyPr/>
          <a:lstStyle/>
          <a:p>
            <a:pPr eaLnBrk="1"/>
            <a:r>
              <a:rPr lang="zh-TW" altLang="zh-TW" sz="2000" smtClean="0"/>
              <a:t>對照使用者與企業需求描述之事件條列式，新增訂購項目使用個案符合下列需求：</a:t>
            </a:r>
          </a:p>
          <a:p>
            <a:pPr eaLnBrk="1"/>
            <a:endParaRPr lang="zh-TW" altLang="en-US" sz="2000" smtClean="0"/>
          </a:p>
        </p:txBody>
      </p:sp>
      <p:pic>
        <p:nvPicPr>
          <p:cNvPr id="54275" name="Picture 21" descr="z-vb157d-t10-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" t="10942" r="2542" b="3299"/>
          <a:stretch>
            <a:fillRect/>
          </a:stretch>
        </p:blipFill>
        <p:spPr>
          <a:xfrm>
            <a:off x="1979613" y="2276475"/>
            <a:ext cx="5616575" cy="4105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10-7 </a:t>
            </a:r>
            <a:r>
              <a:rPr lang="zh-TW" altLang="en-US" smtClean="0"/>
              <a:t>新增訂購項目使用個案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5734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10-3 </a:t>
            </a:r>
            <a:r>
              <a:rPr lang="zh-TW" altLang="en-US" smtClean="0"/>
              <a:t>西子灣線上訂購系統使用個案圖</a:t>
            </a:r>
          </a:p>
        </p:txBody>
      </p:sp>
      <p:pic>
        <p:nvPicPr>
          <p:cNvPr id="57348" name="Picture 13" descr="z-vb157d-f10-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12" t="12952" r="8791"/>
          <a:stretch>
            <a:fillRect/>
          </a:stretch>
        </p:blipFill>
        <p:spPr>
          <a:xfrm>
            <a:off x="2627313" y="1484313"/>
            <a:ext cx="4559300" cy="4681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2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/>
            <a:r>
              <a:rPr lang="zh-TW" altLang="en-US" smtClean="0"/>
              <a:t>活動圖是一種塑模工具，</a:t>
            </a:r>
            <a:r>
              <a:rPr lang="zh-TW" altLang="zh-TW" smtClean="0"/>
              <a:t>可被用於表達行為者、一個物件、一個使用個案、許多使用個案間或一個系統在生命週期中之循序或同步的操作、作業流程或行為</a:t>
            </a:r>
            <a:r>
              <a:rPr lang="zh-TW" altLang="en-US" smtClean="0"/>
              <a:t>。</a:t>
            </a:r>
            <a:endParaRPr lang="en-US" altLang="zh-TW" smtClean="0"/>
          </a:p>
          <a:p>
            <a:pPr eaLnBrk="1"/>
            <a:r>
              <a:rPr lang="zh-TW" altLang="en-US" smtClean="0"/>
              <a:t>活動圖之主要元件：活動與轉換，兩者之關係與表達如下圖所示。</a:t>
            </a:r>
          </a:p>
          <a:p>
            <a:pPr eaLnBrk="1"/>
            <a:endParaRPr lang="zh-TW" altLang="en-US" smtClean="0"/>
          </a:p>
        </p:txBody>
      </p:sp>
      <p:sp>
        <p:nvSpPr>
          <p:cNvPr id="58371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10.4 </a:t>
            </a:r>
            <a:r>
              <a:rPr lang="zh-TW" altLang="en-US" smtClean="0"/>
              <a:t>活動圖</a:t>
            </a:r>
          </a:p>
        </p:txBody>
      </p:sp>
      <p:pic>
        <p:nvPicPr>
          <p:cNvPr id="58372" name="Picture 16" descr="z-vb157d-f10-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6" t="37007" b="5104"/>
          <a:stretch>
            <a:fillRect/>
          </a:stretch>
        </p:blipFill>
        <p:spPr>
          <a:xfrm>
            <a:off x="1835150" y="4149725"/>
            <a:ext cx="5616575" cy="1163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圖片 8" descr="未命名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55875" y="1557338"/>
            <a:ext cx="4460875" cy="47513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TW" smtClean="0"/>
              <a:t>10.4.1 </a:t>
            </a:r>
            <a:r>
              <a:rPr lang="zh-TW" altLang="en-US" smtClean="0"/>
              <a:t>活動圖之元件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Line 6"/>
          <p:cNvSpPr>
            <a:spLocks noChangeShapeType="1"/>
          </p:cNvSpPr>
          <p:nvPr/>
        </p:nvSpPr>
        <p:spPr bwMode="auto">
          <a:xfrm>
            <a:off x="38100" y="981075"/>
            <a:ext cx="0" cy="5802313"/>
          </a:xfrm>
          <a:prstGeom prst="line">
            <a:avLst/>
          </a:prstGeom>
          <a:noFill/>
          <a:ln w="1905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2707" name="Rectangle 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10-7 </a:t>
            </a:r>
            <a:r>
              <a:rPr lang="zh-TW" altLang="en-US" smtClean="0"/>
              <a:t>新增訂購項目使用個案之活動圖</a:t>
            </a:r>
          </a:p>
        </p:txBody>
      </p:sp>
      <p:grpSp>
        <p:nvGrpSpPr>
          <p:cNvPr id="72708" name="Group 82"/>
          <p:cNvGrpSpPr>
            <a:grpSpLocks/>
          </p:cNvGrpSpPr>
          <p:nvPr/>
        </p:nvGrpSpPr>
        <p:grpSpPr bwMode="auto">
          <a:xfrm>
            <a:off x="395288" y="1628775"/>
            <a:ext cx="8280400" cy="4824413"/>
            <a:chOff x="249" y="1026"/>
            <a:chExt cx="5216" cy="3039"/>
          </a:xfrm>
        </p:grpSpPr>
        <p:sp>
          <p:nvSpPr>
            <p:cNvPr id="72709" name="Rectangle 60"/>
            <p:cNvSpPr>
              <a:spLocks noChangeArrowheads="1"/>
            </p:cNvSpPr>
            <p:nvPr/>
          </p:nvSpPr>
          <p:spPr bwMode="auto">
            <a:xfrm>
              <a:off x="249" y="1026"/>
              <a:ext cx="2268" cy="264"/>
            </a:xfrm>
            <a:prstGeom prst="rect">
              <a:avLst/>
            </a:prstGeom>
            <a:solidFill>
              <a:srgbClr val="C6D9F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13743" tIns="0" rIns="13743" bIns="0"/>
            <a:lstStyle>
              <a:lvl1pPr marL="42863" algn="just">
                <a:lnSpc>
                  <a:spcPct val="120000"/>
                </a:lnSpc>
                <a:spcBef>
                  <a:spcPct val="20000"/>
                </a:spcBef>
                <a:buFont typeface="Wingdings" pitchFamily="2" charset="2"/>
                <a:buChar char="q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Font typeface="Wingdings" pitchFamily="2" charset="2"/>
                <a:buChar char="l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har char="–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Font typeface="Wingdings" pitchFamily="2" charset="2"/>
                <a:buChar char="§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defTabSz="914400" eaLnBrk="1" hangingPunct="1">
                <a:lnSpc>
                  <a:spcPts val="16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>
                  <a:ea typeface="全真中黑體" pitchFamily="49" charset="-120"/>
                  <a:cs typeface="Times New Roman" pitchFamily="18" charset="0"/>
                </a:rPr>
                <a:t>西子灣文化事業股份有限公司</a:t>
              </a:r>
              <a:endParaRPr lang="zh-TW" altLang="zh-TW" sz="1200">
                <a:latin typeface="Arial" pitchFamily="34" charset="0"/>
                <a:ea typeface="全真中黑體" pitchFamily="49" charset="-120"/>
                <a:cs typeface="Times New Roman" pitchFamily="18" charset="0"/>
              </a:endParaRPr>
            </a:p>
            <a:p>
              <a:pPr algn="ctr" defTabSz="914400" eaLnBrk="1" hangingPunct="1">
                <a:lnSpc>
                  <a:spcPts val="16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>
                  <a:ea typeface="全真中黑體" pitchFamily="49" charset="-120"/>
                  <a:cs typeface="Times New Roman" pitchFamily="18" charset="0"/>
                </a:rPr>
                <a:t>使用個案名稱：新增訂購項目</a:t>
              </a:r>
              <a:endParaRPr lang="zh-TW" altLang="zh-TW" sz="1200">
                <a:latin typeface="Arial" pitchFamily="34" charset="0"/>
                <a:ea typeface="全真中黑體" pitchFamily="49" charset="-120"/>
                <a:cs typeface="Times New Roman" pitchFamily="18" charset="0"/>
              </a:endParaRPr>
            </a:p>
          </p:txBody>
        </p:sp>
        <p:sp>
          <p:nvSpPr>
            <p:cNvPr id="72710" name="Rectangle 64"/>
            <p:cNvSpPr>
              <a:spLocks noChangeArrowheads="1"/>
            </p:cNvSpPr>
            <p:nvPr/>
          </p:nvSpPr>
          <p:spPr bwMode="auto">
            <a:xfrm>
              <a:off x="249" y="1290"/>
              <a:ext cx="2268" cy="2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13743" tIns="0" rIns="13743" bIns="0"/>
            <a:lstStyle>
              <a:lvl1pPr marL="42863" algn="just">
                <a:lnSpc>
                  <a:spcPct val="120000"/>
                </a:lnSpc>
                <a:spcBef>
                  <a:spcPct val="20000"/>
                </a:spcBef>
                <a:buFont typeface="Wingdings" pitchFamily="2" charset="2"/>
                <a:buChar char="q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1pPr>
              <a:lvl2pPr marL="742950" indent="-285750" algn="just">
                <a:lnSpc>
                  <a:spcPct val="120000"/>
                </a:lnSpc>
                <a:spcBef>
                  <a:spcPct val="20000"/>
                </a:spcBef>
                <a:buFont typeface="Wingdings" pitchFamily="2" charset="2"/>
                <a:buChar char="l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2pPr>
              <a:lvl3pPr marL="1143000" indent="-228600" algn="just">
                <a:lnSpc>
                  <a:spcPct val="120000"/>
                </a:lnSpc>
                <a:spcBef>
                  <a:spcPct val="20000"/>
                </a:spcBef>
                <a:buChar char="–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3pPr>
              <a:lvl4pPr marL="1600200" indent="-228600" algn="just">
                <a:lnSpc>
                  <a:spcPct val="120000"/>
                </a:lnSpc>
                <a:spcBef>
                  <a:spcPct val="20000"/>
                </a:spcBef>
                <a:buFont typeface="Wingdings" pitchFamily="2" charset="2"/>
                <a:buChar char="§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4pPr>
              <a:lvl5pPr marL="2057400" indent="-228600" algn="just">
                <a:lnSpc>
                  <a:spcPct val="120000"/>
                </a:lnSpc>
                <a:spcBef>
                  <a:spcPct val="20000"/>
                </a:spcBef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5pPr>
              <a:lvl6pPr marL="25146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6pPr>
              <a:lvl7pPr marL="29718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7pPr>
              <a:lvl8pPr marL="34290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8pPr>
              <a:lvl9pPr marL="3886200" indent="-228600" algn="just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200">
                  <a:solidFill>
                    <a:schemeClr val="bg2"/>
                  </a:solidFill>
                  <a:latin typeface="Times New Roman" pitchFamily="18" charset="0"/>
                  <a:ea typeface="新細明體" pitchFamily="18" charset="-120"/>
                </a:defRPr>
              </a:lvl9pPr>
            </a:lstStyle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行為者：客戶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目標：使客戶能在線上瀏覽書籍產品並進行訂購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前提：客戶已連線至網站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結束狀態：客戶讀取已置入書籍訂購項目之購物車內容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一系列事件：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正常程序</a:t>
              </a:r>
              <a:r>
                <a:rPr lang="en-US" altLang="zh-TW" sz="1200"/>
                <a:t>--</a:t>
              </a:r>
              <a:endParaRPr lang="zh-TW" altLang="zh-TW" sz="1200"/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 i="1"/>
                <a:t>1.</a:t>
              </a:r>
              <a:r>
                <a:rPr lang="zh-TW" altLang="zh-TW" sz="1200"/>
                <a:t>客戶透過瀏覽器上網，至西子灣線上訂購系統後，瀏覽書籍型錄。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 i="1"/>
                <a:t>2.</a:t>
              </a:r>
              <a:r>
                <a:rPr lang="zh-TW" altLang="zh-TW" sz="1200"/>
                <a:t>客戶如</a:t>
              </a:r>
              <a:r>
                <a:rPr lang="zh-TW" altLang="zh-TW" sz="1200">
                  <a:latin typeface="Arial" pitchFamily="34" charset="0"/>
                  <a:cs typeface="Arial" pitchFamily="34" charset="0"/>
                </a:rPr>
                <a:t>欲得知一</a:t>
              </a:r>
              <a:r>
                <a:rPr lang="zh-TW" altLang="zh-TW" sz="1200"/>
                <a:t>書籍</a:t>
              </a:r>
              <a:r>
                <a:rPr lang="zh-TW" altLang="zh-TW" sz="1200">
                  <a:latin typeface="Arial" pitchFamily="34" charset="0"/>
                </a:rPr>
                <a:t>之詳細資料，</a:t>
              </a:r>
              <a:r>
                <a:rPr lang="zh-TW" altLang="zh-TW" sz="1200"/>
                <a:t>可查看</a:t>
              </a:r>
              <a:r>
                <a:rPr lang="zh-TW" altLang="zh-TW" sz="1200">
                  <a:latin typeface="Arial" pitchFamily="34" charset="0"/>
                </a:rPr>
                <a:t>其</a:t>
              </a:r>
              <a:r>
                <a:rPr lang="zh-TW" altLang="zh-TW" sz="1200"/>
                <a:t>細部說明</a:t>
              </a:r>
              <a:r>
                <a:rPr lang="zh-TW" altLang="zh-TW" sz="1200">
                  <a:latin typeface="Arial" pitchFamily="34" charset="0"/>
                </a:rPr>
                <a:t>（</a:t>
              </a:r>
              <a:r>
                <a:rPr lang="zh-TW" altLang="zh-TW" sz="1200"/>
                <a:t>如表</a:t>
              </a:r>
              <a:r>
                <a:rPr lang="en-US" altLang="zh-TW" sz="1200"/>
                <a:t>10 </a:t>
              </a:r>
              <a:r>
                <a:rPr lang="zh-TW" altLang="zh-TW" sz="1200"/>
                <a:t>及</a:t>
              </a:r>
              <a:r>
                <a:rPr lang="en-US" altLang="zh-TW" sz="1200"/>
                <a:t>10-3b</a:t>
              </a:r>
              <a:r>
                <a:rPr lang="zh-TW" altLang="zh-TW" sz="1200"/>
                <a:t>）。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 i="1"/>
                <a:t>3.</a:t>
              </a:r>
              <a:r>
                <a:rPr lang="zh-TW" altLang="zh-TW" sz="1200"/>
                <a:t>客戶若有意購買書籍，可點選該書籍產品將之</a:t>
              </a:r>
              <a:r>
                <a:rPr lang="zh-TW" altLang="en-US" sz="1200"/>
                <a:t>放</a:t>
              </a:r>
              <a:r>
                <a:rPr lang="zh-TW" altLang="zh-TW" sz="1200"/>
                <a:t>入購物車內，並設定訂購數量（</a:t>
              </a:r>
              <a:r>
                <a:rPr lang="zh-TW" altLang="zh-TW" sz="1200">
                  <a:latin typeface="Arial" pitchFamily="34" charset="0"/>
                </a:rPr>
                <a:t>未設定時預設值為</a:t>
              </a:r>
              <a:r>
                <a:rPr lang="en-US" altLang="zh-TW" sz="1200"/>
                <a:t>1</a:t>
              </a:r>
              <a:r>
                <a:rPr lang="zh-TW" altLang="zh-TW" sz="1200"/>
                <a:t>）</a:t>
              </a:r>
              <a:r>
                <a:rPr lang="zh-TW" altLang="zh-TW" sz="1200">
                  <a:latin typeface="Arial" pitchFamily="34" charset="0"/>
                </a:rPr>
                <a:t>（客戶可一次訂購一至</a:t>
              </a:r>
              <a:r>
                <a:rPr lang="zh-TW" altLang="zh-TW" sz="1200"/>
                <a:t>多項書籍產品</a:t>
              </a:r>
              <a:r>
                <a:rPr lang="zh-TW" altLang="zh-TW" sz="1200">
                  <a:latin typeface="Arial" pitchFamily="34" charset="0"/>
                </a:rPr>
                <a:t>，訂購數量不加以限制）</a:t>
              </a:r>
              <a:r>
                <a:rPr lang="zh-TW" altLang="zh-TW" sz="1200"/>
                <a:t>。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 i="1"/>
                <a:t>4.</a:t>
              </a:r>
              <a:r>
                <a:rPr lang="zh-TW" altLang="zh-TW" sz="1200"/>
                <a:t>系統自動計算並顯示購物車內的訂購金額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>
                  <a:latin typeface="新細明體" pitchFamily="18" charset="-120"/>
                </a:rPr>
                <a:t>‧</a:t>
              </a:r>
              <a:r>
                <a:rPr lang="zh-TW" altLang="zh-TW" sz="1200"/>
                <a:t>計算單項產品金額</a:t>
              </a:r>
              <a:r>
                <a:rPr lang="zh-TW" altLang="en-US" sz="1200"/>
                <a:t> </a:t>
              </a:r>
              <a:r>
                <a:rPr lang="en-US" altLang="zh-TW" sz="1200"/>
                <a:t>= </a:t>
              </a:r>
              <a:r>
                <a:rPr lang="zh-TW" altLang="zh-TW" sz="1200"/>
                <a:t>單價 </a:t>
              </a:r>
              <a:r>
                <a:rPr lang="en-US" altLang="zh-TW" sz="1200">
                  <a:latin typeface="新細明體" pitchFamily="18" charset="-120"/>
                </a:rPr>
                <a:t>×</a:t>
              </a:r>
              <a:r>
                <a:rPr lang="en-US" altLang="zh-TW" sz="1200"/>
                <a:t> </a:t>
              </a:r>
              <a:r>
                <a:rPr lang="zh-TW" altLang="zh-TW" sz="1200"/>
                <a:t>數量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>
                  <a:latin typeface="新細明體" pitchFamily="18" charset="-120"/>
                </a:rPr>
                <a:t>‧</a:t>
              </a:r>
              <a:r>
                <a:rPr lang="zh-TW" altLang="zh-TW" sz="1200"/>
                <a:t>計算訂購總金額：</a:t>
              </a:r>
              <a:r>
                <a:rPr lang="en-US" altLang="zh-TW" sz="1200"/>
                <a:t>Σ</a:t>
              </a:r>
              <a:r>
                <a:rPr lang="zh-TW" altLang="zh-TW" sz="1200"/>
                <a:t>（單項產品金額）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en-US" altLang="zh-TW" sz="1200" i="1"/>
                <a:t>5.</a:t>
              </a:r>
              <a:r>
                <a:rPr lang="en-US" altLang="zh-TW" sz="1200"/>
                <a:t> </a:t>
              </a:r>
              <a:r>
                <a:rPr lang="zh-TW" altLang="zh-TW" sz="1200"/>
                <a:t>客戶讀取已置入書籍訂購項目之購物車內容</a:t>
              </a:r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Tx/>
                <a:buNone/>
              </a:pPr>
              <a:r>
                <a:rPr lang="zh-TW" altLang="zh-TW" sz="1200"/>
                <a:t>例外狀況</a:t>
              </a:r>
              <a:r>
                <a:rPr lang="en-US" altLang="zh-TW" sz="1200"/>
                <a:t>--</a:t>
              </a:r>
              <a:endParaRPr lang="zh-TW" altLang="zh-TW" sz="1200"/>
            </a:p>
            <a:p>
              <a:pPr defTabSz="914400" eaLnBrk="1" hangingPunct="1">
                <a:lnSpc>
                  <a:spcPts val="1500"/>
                </a:lnSpc>
                <a:spcBef>
                  <a:spcPct val="0"/>
                </a:spcBef>
                <a:buFont typeface="Wingdings" pitchFamily="2" charset="2"/>
                <a:buChar char=""/>
              </a:pPr>
              <a:r>
                <a:rPr lang="zh-TW" altLang="zh-TW" sz="1200"/>
                <a:t>客戶不慎將非欲訂購之書籍項目置入購物車內</a:t>
              </a:r>
            </a:p>
            <a:p>
              <a:pPr lvl="1" defTabSz="914400" eaLnBrk="1" hangingPunct="1">
                <a:lnSpc>
                  <a:spcPts val="1500"/>
                </a:lnSpc>
                <a:spcBef>
                  <a:spcPct val="0"/>
                </a:spcBef>
                <a:buFont typeface="Wingdings" pitchFamily="2" charset="2"/>
                <a:buChar char=""/>
              </a:pPr>
              <a:r>
                <a:rPr lang="zh-TW" altLang="zh-TW" sz="1200"/>
                <a:t>客戶可於購物車內，刪除或修改錯誤的訂購項目與數量</a:t>
              </a:r>
            </a:p>
          </p:txBody>
        </p:sp>
        <p:pic>
          <p:nvPicPr>
            <p:cNvPr id="72711" name="Picture 6" descr="圖10-7 新增訂購項目使用個案之活動圖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9" y="1026"/>
              <a:ext cx="2766" cy="21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矩形 37"/>
            <p:cNvSpPr/>
            <p:nvPr/>
          </p:nvSpPr>
          <p:spPr>
            <a:xfrm>
              <a:off x="975" y="3067"/>
              <a:ext cx="622" cy="1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862" y="2731"/>
              <a:ext cx="648" cy="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249" y="2731"/>
              <a:ext cx="405" cy="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49" y="2477"/>
              <a:ext cx="122" cy="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882" y="2387"/>
              <a:ext cx="696" cy="1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249" y="2260"/>
              <a:ext cx="203" cy="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19" name="肘形接點 18"/>
            <p:cNvCxnSpPr/>
            <p:nvPr/>
          </p:nvCxnSpPr>
          <p:spPr>
            <a:xfrm flipV="1">
              <a:off x="453" y="1389"/>
              <a:ext cx="2917" cy="871"/>
            </a:xfrm>
            <a:prstGeom prst="bent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接點 24"/>
            <p:cNvCxnSpPr/>
            <p:nvPr/>
          </p:nvCxnSpPr>
          <p:spPr>
            <a:xfrm flipV="1">
              <a:off x="2562" y="1842"/>
              <a:ext cx="1742" cy="545"/>
            </a:xfrm>
            <a:prstGeom prst="bentConnector3">
              <a:avLst>
                <a:gd name="adj1" fmla="val 1635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20" name="肘形接點 28"/>
            <p:cNvCxnSpPr>
              <a:cxnSpLocks noChangeShapeType="1"/>
              <a:stCxn id="26" idx="3"/>
            </p:cNvCxnSpPr>
            <p:nvPr/>
          </p:nvCxnSpPr>
          <p:spPr bwMode="auto">
            <a:xfrm flipV="1">
              <a:off x="2534" y="2115"/>
              <a:ext cx="814" cy="554"/>
            </a:xfrm>
            <a:prstGeom prst="bentConnector3">
              <a:avLst>
                <a:gd name="adj1" fmla="val 49509"/>
              </a:avLst>
            </a:prstGeom>
            <a:noFill/>
            <a:ln w="28575" algn="ctr">
              <a:solidFill>
                <a:schemeClr val="accent1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肘形接點 35"/>
            <p:cNvCxnSpPr/>
            <p:nvPr/>
          </p:nvCxnSpPr>
          <p:spPr>
            <a:xfrm flipV="1">
              <a:off x="1485" y="2477"/>
              <a:ext cx="1904" cy="254"/>
            </a:xfrm>
            <a:prstGeom prst="bentConnector3">
              <a:avLst>
                <a:gd name="adj1" fmla="val 69105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肘形接點 39"/>
            <p:cNvCxnSpPr>
              <a:stCxn id="38" idx="3"/>
            </p:cNvCxnSpPr>
            <p:nvPr/>
          </p:nvCxnSpPr>
          <p:spPr>
            <a:xfrm flipV="1">
              <a:off x="1605" y="2784"/>
              <a:ext cx="1711" cy="351"/>
            </a:xfrm>
            <a:prstGeom prst="bent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2290" y="2614"/>
              <a:ext cx="236" cy="1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54"/>
          <p:cNvSpPr>
            <a:spLocks noChangeArrowheads="1"/>
          </p:cNvSpPr>
          <p:nvPr/>
        </p:nvSpPr>
        <p:spPr bwMode="auto">
          <a:xfrm>
            <a:off x="0" y="635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zh-TW" sz="1800">
              <a:solidFill>
                <a:schemeClr val="tx1"/>
              </a:solidFill>
            </a:endParaRPr>
          </a:p>
        </p:txBody>
      </p:sp>
      <p:pic>
        <p:nvPicPr>
          <p:cNvPr id="74755" name="Picture 47" descr="z-vb157d-f10-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" t="12834" r="2592"/>
          <a:stretch>
            <a:fillRect/>
          </a:stretch>
        </p:blipFill>
        <p:spPr>
          <a:xfrm>
            <a:off x="1547813" y="1700213"/>
            <a:ext cx="6480175" cy="46624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10-8 </a:t>
            </a:r>
            <a:r>
              <a:rPr lang="zh-TW" altLang="en-US" smtClean="0"/>
              <a:t>西子灣線上訂購系統活動圖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q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l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algn="just">
              <a:lnSpc>
                <a:spcPct val="120000"/>
              </a:lnSpc>
              <a:spcBef>
                <a:spcPct val="20000"/>
              </a:spcBef>
              <a:buChar char="–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algn="just">
              <a:lnSpc>
                <a:spcPct val="120000"/>
              </a:lnSpc>
              <a:spcBef>
                <a:spcPct val="20000"/>
              </a:spcBef>
              <a:buFont typeface="Wingdings" pitchFamily="2" charset="2"/>
              <a:buChar char="§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algn="just">
              <a:lnSpc>
                <a:spcPct val="120000"/>
              </a:lnSpc>
              <a:spcBef>
                <a:spcPct val="20000"/>
              </a:spcBef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algn="just" defTabSz="4572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200">
                <a:solidFill>
                  <a:schemeClr val="bg2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solidFill>
                <a:schemeClr val="tx1"/>
              </a:solidFill>
            </a:endParaRPr>
          </a:p>
        </p:txBody>
      </p:sp>
      <p:sp>
        <p:nvSpPr>
          <p:cNvPr id="76803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圖</a:t>
            </a:r>
            <a:r>
              <a:rPr lang="en-US" altLang="zh-TW" smtClean="0"/>
              <a:t>10-9 </a:t>
            </a:r>
            <a:r>
              <a:rPr lang="zh-TW" altLang="en-US" smtClean="0"/>
              <a:t>銷售作業流程塑模之活動圖範例</a:t>
            </a:r>
          </a:p>
        </p:txBody>
      </p:sp>
      <p:pic>
        <p:nvPicPr>
          <p:cNvPr id="76804" name="Picture 12" descr="z-vb157d-f10-9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9837" r="2057" b="2679"/>
          <a:stretch>
            <a:fillRect/>
          </a:stretch>
        </p:blipFill>
        <p:spPr>
          <a:xfrm>
            <a:off x="2124075" y="1484313"/>
            <a:ext cx="4940300" cy="4824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133600"/>
            <a:ext cx="7319962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1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zh-TW" altLang="en-US" smtClean="0"/>
              <a:t>表</a:t>
            </a:r>
            <a:r>
              <a:rPr lang="en-US" altLang="zh-TW" smtClean="0"/>
              <a:t>10-9 </a:t>
            </a:r>
            <a:r>
              <a:rPr lang="zh-TW" altLang="en-US" smtClean="0"/>
              <a:t>使用個案模式與流程圖之比較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01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ch01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ch01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5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5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6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honburi"/>
            <a:ea typeface="微軟正黑體" pitchFamily="34" charset="-120"/>
          </a:defRPr>
        </a:defPPr>
      </a:lstStyle>
    </a:lnDef>
  </a:objectDefaults>
  <a:extraClrSchemeLst>
    <a:extraClrScheme>
      <a:clrScheme name="6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1226</TotalTime>
  <Words>599</Words>
  <Application>Microsoft Office PowerPoint</Application>
  <PresentationFormat>如螢幕大小 (4:3)</PresentationFormat>
  <Paragraphs>58</Paragraphs>
  <Slides>21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3</vt:i4>
      </vt:variant>
      <vt:variant>
        <vt:lpstr>投影片標題</vt:lpstr>
      </vt:variant>
      <vt:variant>
        <vt:i4>21</vt:i4>
      </vt:variant>
    </vt:vector>
  </HeadingPairs>
  <TitlesOfParts>
    <vt:vector size="24" baseType="lpstr">
      <vt:lpstr>ch01</vt:lpstr>
      <vt:lpstr>5_ch01 網際網路基礎</vt:lpstr>
      <vt:lpstr>6_ch01 網際網路基礎</vt:lpstr>
      <vt:lpstr>第十章 使用個案塑模</vt:lpstr>
      <vt:lpstr>內容大綱</vt:lpstr>
      <vt:lpstr>學習目標</vt:lpstr>
      <vt:lpstr>表10-1 使用個案圖之元件</vt:lpstr>
      <vt:lpstr>圖10-1 使用個案圖之關係範例</vt:lpstr>
      <vt:lpstr>10.2.2 使用個案圖之建構步驟與準則(c.5)</vt:lpstr>
      <vt:lpstr>表10-2 使用個案模式之文件樣板</vt:lpstr>
      <vt:lpstr>表10-3a 書籍資料藍圖</vt:lpstr>
      <vt:lpstr>表10-3b 書籍資料藍圖之資料詞彙</vt:lpstr>
      <vt:lpstr>表10-4a 客戶資料表藍圖</vt:lpstr>
      <vt:lpstr>表10-4b 客戶資料表藍圖之資料詞彙</vt:lpstr>
      <vt:lpstr>圖10-5a 訂單藍圖</vt:lpstr>
      <vt:lpstr>表10-5b 訂單藍圖之資料詞彙</vt:lpstr>
      <vt:lpstr>表10-7 新增訂購項目使用個案</vt:lpstr>
      <vt:lpstr>圖10-3 西子灣線上訂購系統使用個案圖</vt:lpstr>
      <vt:lpstr>10.4 活動圖</vt:lpstr>
      <vt:lpstr>10.4.1 活動圖之元件</vt:lpstr>
      <vt:lpstr>圖10-7 新增訂購項目使用個案之活動圖</vt:lpstr>
      <vt:lpstr>圖10-8 西子灣線上訂購系統活動圖</vt:lpstr>
      <vt:lpstr>圖10-9 銷售作業流程塑模之活動圖範例</vt:lpstr>
      <vt:lpstr>表10-9 使用個案模式與流程圖之比較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第十章使用個案模式</dc:title>
  <dc:creator>handsome</dc:creator>
  <cp:lastModifiedBy>user</cp:lastModifiedBy>
  <cp:revision>190</cp:revision>
  <dcterms:created xsi:type="dcterms:W3CDTF">1999-12-20T09:16:27Z</dcterms:created>
  <dcterms:modified xsi:type="dcterms:W3CDTF">2020-04-20T02:51:15Z</dcterms:modified>
</cp:coreProperties>
</file>