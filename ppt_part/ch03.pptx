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57" r:id="rId4"/>
    <p:sldId id="285" r:id="rId5"/>
    <p:sldId id="314" r:id="rId6"/>
    <p:sldId id="319" r:id="rId7"/>
    <p:sldId id="274" r:id="rId8"/>
    <p:sldId id="277" r:id="rId9"/>
    <p:sldId id="279" r:id="rId10"/>
    <p:sldId id="331" r:id="rId11"/>
    <p:sldId id="332" r:id="rId12"/>
    <p:sldId id="333" r:id="rId13"/>
    <p:sldId id="338" r:id="rId14"/>
    <p:sldId id="341" r:id="rId15"/>
    <p:sldId id="344" r:id="rId16"/>
    <p:sldId id="346" r:id="rId17"/>
    <p:sldId id="347" r:id="rId18"/>
    <p:sldId id="349" r:id="rId19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562" autoAdjust="0"/>
    <p:restoredTop sz="90886" autoAdjust="0"/>
  </p:normalViewPr>
  <p:slideViewPr>
    <p:cSldViewPr>
      <p:cViewPr varScale="1">
        <p:scale>
          <a:sx n="108" d="100"/>
          <a:sy n="108" d="100"/>
        </p:scale>
        <p:origin x="-65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1656" y="-5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0DB94-B32D-4F4E-B19A-A6EDFDEDCAE3}" type="datetimeFigureOut">
              <a:rPr lang="zh-TW" altLang="en-US" smtClean="0"/>
              <a:t>2020/4/20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8964C-04B7-4FBE-A0D1-3E8A0B1C9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364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8783E8A-86BA-4430-BFD6-762563A1745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50248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3E8A-86BA-4430-BFD6-762563A17459}" type="slidenum">
              <a:rPr lang="en-US" altLang="zh-TW" smtClean="0"/>
              <a:pPr/>
              <a:t>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TW" altLang="en-US" smtClean="0"/>
          </a:p>
        </p:txBody>
      </p:sp>
      <p:sp>
        <p:nvSpPr>
          <p:cNvPr id="77828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5EBD4A-09E9-41AC-A06F-904B90C17352}" type="slidenum">
              <a:rPr lang="en-US" altLang="zh-TW"/>
              <a:pPr/>
              <a:t>15</a:t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0825" y="2974975"/>
            <a:ext cx="8637588" cy="900113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pic>
        <p:nvPicPr>
          <p:cNvPr id="233477" name="Picture 5" descr="資訊科技_bg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8575" y="3875088"/>
            <a:ext cx="6651625" cy="103187"/>
          </a:xfrm>
          <a:prstGeom prst="rect">
            <a:avLst/>
          </a:prstGeom>
          <a:noFill/>
        </p:spPr>
      </p:pic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rIns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系統分析與設計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理論與實務應用</a:t>
            </a:r>
            <a:r>
              <a:rPr lang="zh-TW" altLang="en-US" sz="1200" dirty="0" smtClean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(七版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)   吳仁和、林信惠 著</a:t>
            </a:r>
          </a:p>
        </p:txBody>
      </p:sp>
      <p:sp>
        <p:nvSpPr>
          <p:cNvPr id="8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400" kern="1200" dirty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ISBN </a:t>
            </a:r>
            <a:r>
              <a:rPr kumimoji="1" lang="en-US" altLang="zh-TW" sz="1400" kern="1200" dirty="0" smtClean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9789575113094</a:t>
            </a:r>
            <a:endParaRPr kumimoji="1" lang="en-US" altLang="zh-TW" sz="1400" kern="1200" dirty="0">
              <a:solidFill>
                <a:schemeClr val="tx1"/>
              </a:solidFill>
              <a:latin typeface="Times New Roman" pitchFamily="18" charset="0"/>
              <a:ea typeface="華康特粗明體" pitchFamily="49" charset="-120"/>
              <a:cs typeface="+mn-cs"/>
            </a:endParaRPr>
          </a:p>
        </p:txBody>
      </p:sp>
    </p:spTree>
  </p:cSld>
  <p:clrMapOvr>
    <a:masterClrMapping/>
  </p:clrMapOvr>
  <p:transition spd="med">
    <p:random/>
  </p:transition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+mn-ea"/>
                <a:ea typeface="+mn-ea"/>
              </a:defRPr>
            </a:lvl1pPr>
            <a:lvl2pPr>
              <a:defRPr sz="2200">
                <a:latin typeface="+mn-ea"/>
                <a:ea typeface="+mn-ea"/>
              </a:defRPr>
            </a:lvl2pPr>
            <a:lvl3pPr>
              <a:defRPr sz="2200">
                <a:latin typeface="+mn-ea"/>
                <a:ea typeface="+mn-ea"/>
              </a:defRPr>
            </a:lvl3pPr>
            <a:lvl4pPr>
              <a:defRPr sz="2200">
                <a:latin typeface="+mn-ea"/>
                <a:ea typeface="+mn-ea"/>
              </a:defRPr>
            </a:lvl4pPr>
            <a:lvl5pPr>
              <a:defRPr sz="2200">
                <a:latin typeface="+mn-ea"/>
                <a:ea typeface="+mn-ea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9138" y="1438275"/>
            <a:ext cx="3971925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43463" y="1438275"/>
            <a:ext cx="3973512" cy="4857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92913" y="449263"/>
            <a:ext cx="2024062" cy="58467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9138" y="449263"/>
            <a:ext cx="5921375" cy="58467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0" y="449263"/>
            <a:ext cx="7377113" cy="900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438275"/>
            <a:ext cx="8097837" cy="48577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按一下以編輯母片本文樣式</a:t>
            </a:r>
          </a:p>
          <a:p>
            <a:pPr lvl="1"/>
            <a:r>
              <a:rPr lang="zh-TW" altLang="en-US" smtClean="0"/>
              <a:t>第二階層</a:t>
            </a:r>
          </a:p>
          <a:p>
            <a:pPr lvl="2"/>
            <a:r>
              <a:rPr lang="zh-TW" altLang="en-US" smtClean="0"/>
              <a:t>第三階層</a:t>
            </a:r>
          </a:p>
          <a:p>
            <a:pPr lvl="3"/>
            <a:r>
              <a:rPr lang="zh-TW" altLang="en-US" smtClean="0"/>
              <a:t>第四階層</a:t>
            </a:r>
          </a:p>
          <a:p>
            <a:pPr lvl="4"/>
            <a:r>
              <a:rPr lang="zh-TW" altLang="en-US" smtClean="0"/>
              <a:t>第五階層</a:t>
            </a:r>
          </a:p>
        </p:txBody>
      </p:sp>
      <p:pic>
        <p:nvPicPr>
          <p:cNvPr id="232454" name="Picture 6" descr="資訊科技_bg2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443038" y="1349375"/>
            <a:ext cx="6651625" cy="103188"/>
          </a:xfrm>
          <a:prstGeom prst="rect">
            <a:avLst/>
          </a:prstGeom>
          <a:noFill/>
        </p:spPr>
      </p:pic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50825" y="0"/>
            <a:ext cx="4468813" cy="3603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rIns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6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系統分析與設計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理論與實務應用</a:t>
            </a:r>
            <a:r>
              <a:rPr lang="zh-TW" altLang="en-US" sz="1200" dirty="0" smtClean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(七版</a:t>
            </a:r>
            <a:r>
              <a:rPr lang="zh-TW" altLang="en-US" sz="1200" dirty="0">
                <a:solidFill>
                  <a:schemeClr val="tx1"/>
                </a:solidFill>
                <a:latin typeface="Arial" charset="0"/>
                <a:ea typeface="新細明體" pitchFamily="18" charset="-120"/>
              </a:rPr>
              <a:t>)   吳仁和、林信惠 著</a:t>
            </a:r>
          </a:p>
        </p:txBody>
      </p:sp>
      <p:sp>
        <p:nvSpPr>
          <p:cNvPr id="9" name="Text Box 4"/>
          <p:cNvSpPr txBox="1">
            <a:spLocks noChangeArrowheads="1"/>
          </p:cNvSpPr>
          <p:nvPr userDrawn="1"/>
        </p:nvSpPr>
        <p:spPr bwMode="auto">
          <a:xfrm>
            <a:off x="6011863" y="0"/>
            <a:ext cx="2879725" cy="360363"/>
          </a:xfrm>
          <a:prstGeom prst="rect">
            <a:avLst/>
          </a:prstGeom>
          <a:noFill/>
          <a:ln w="12700" cap="sq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en-US" altLang="zh-TW" sz="1400" kern="1200" dirty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ISBN </a:t>
            </a:r>
            <a:r>
              <a:rPr kumimoji="1" lang="en-US" altLang="zh-TW" sz="1400" kern="1200" dirty="0" smtClean="0">
                <a:solidFill>
                  <a:schemeClr val="tx1"/>
                </a:solidFill>
                <a:latin typeface="Times New Roman" pitchFamily="18" charset="0"/>
                <a:ea typeface="華康特粗明體" pitchFamily="49" charset="-120"/>
                <a:cs typeface="+mn-cs"/>
              </a:rPr>
              <a:t>9789575113094</a:t>
            </a:r>
            <a:endParaRPr kumimoji="1" lang="en-US" altLang="zh-TW" sz="1400" kern="1200" dirty="0">
              <a:solidFill>
                <a:schemeClr val="tx1"/>
              </a:solidFill>
              <a:latin typeface="Times New Roman" pitchFamily="18" charset="0"/>
              <a:ea typeface="華康特粗明體" pitchFamily="49" charset="-120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</p:sldLayoutIdLst>
  <p:transition spd="med">
    <p:random/>
  </p:transition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>
          <a:solidFill>
            <a:srgbClr val="0E3384"/>
          </a:solidFill>
          <a:latin typeface="Times New Roman" pitchFamily="18" charset="0"/>
          <a:ea typeface="華康特粗明體" pitchFamily="49" charset="-120"/>
        </a:defRPr>
      </a:lvl9pPr>
    </p:titleStyle>
    <p:bodyStyle>
      <a:lvl1pPr marL="342900" indent="-3429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q"/>
        <a:defRPr kumimoji="1" sz="22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l"/>
        <a:defRPr kumimoji="1" sz="2200">
          <a:solidFill>
            <a:schemeClr val="bg2"/>
          </a:solidFill>
          <a:latin typeface="+mn-lt"/>
          <a:ea typeface="+mn-ea"/>
        </a:defRPr>
      </a:lvl2pPr>
      <a:lvl3pPr marL="11430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–"/>
        <a:defRPr kumimoji="1" sz="2200">
          <a:solidFill>
            <a:schemeClr val="bg2"/>
          </a:solidFill>
          <a:latin typeface="+mn-lt"/>
          <a:ea typeface="+mn-ea"/>
        </a:defRPr>
      </a:lvl3pPr>
      <a:lvl4pPr marL="16002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Wingdings" pitchFamily="2" charset="2"/>
        <a:buChar char="§"/>
        <a:defRPr kumimoji="1" sz="2200">
          <a:solidFill>
            <a:schemeClr val="bg2"/>
          </a:solidFill>
          <a:latin typeface="+mn-lt"/>
          <a:ea typeface="+mn-ea"/>
        </a:defRPr>
      </a:lvl4pPr>
      <a:lvl5pPr marL="20574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5pPr>
      <a:lvl6pPr marL="25146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6pPr>
      <a:lvl7pPr marL="29718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7pPr>
      <a:lvl8pPr marL="34290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8pPr>
      <a:lvl9pPr marL="3886200" indent="-228600" algn="just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/>
              <a:t>第三章 </a:t>
            </a:r>
            <a:r>
              <a:rPr lang="zh-TW" altLang="en-US" dirty="0" smtClean="0"/>
              <a:t>需求分析</a:t>
            </a:r>
            <a:endParaRPr lang="zh-TW" altLang="en-US" dirty="0"/>
          </a:p>
        </p:txBody>
      </p:sp>
    </p:spTree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內容大網</a:t>
            </a:r>
            <a:endParaRPr lang="zh-TW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mtClean="0"/>
              <a:t>學習目標</a:t>
            </a:r>
          </a:p>
          <a:p>
            <a:r>
              <a:rPr lang="en-US" altLang="zh-TW" smtClean="0"/>
              <a:t>3.1 </a:t>
            </a:r>
            <a:r>
              <a:rPr lang="zh-TW" altLang="en-US" smtClean="0"/>
              <a:t>導論</a:t>
            </a:r>
          </a:p>
          <a:p>
            <a:r>
              <a:rPr lang="en-US" altLang="zh-TW" smtClean="0"/>
              <a:t>3.2 </a:t>
            </a:r>
            <a:r>
              <a:rPr lang="zh-TW" altLang="en-US" smtClean="0"/>
              <a:t>需求擷取方式</a:t>
            </a:r>
          </a:p>
          <a:p>
            <a:r>
              <a:rPr lang="en-US" altLang="zh-TW" smtClean="0"/>
              <a:t>3.3 </a:t>
            </a:r>
            <a:r>
              <a:rPr lang="zh-TW" altLang="en-US" smtClean="0"/>
              <a:t>需求表達工具與方法</a:t>
            </a:r>
            <a:endParaRPr lang="en-US" altLang="zh-TW" smtClean="0"/>
          </a:p>
          <a:p>
            <a:r>
              <a:rPr lang="en-US" altLang="zh-TW" smtClean="0"/>
              <a:t>3.4 </a:t>
            </a:r>
            <a:r>
              <a:rPr lang="zh-TW" altLang="zh-TW" smtClean="0"/>
              <a:t>需求分析結果與文件樣</a:t>
            </a:r>
            <a:r>
              <a:rPr lang="zh-TW" altLang="en-US" smtClean="0"/>
              <a:t>板</a:t>
            </a:r>
          </a:p>
          <a:p>
            <a:r>
              <a:rPr lang="en-US" altLang="zh-TW" smtClean="0"/>
              <a:t>3.5 </a:t>
            </a:r>
            <a:r>
              <a:rPr lang="zh-TW" altLang="en-US" smtClean="0"/>
              <a:t>需求分析個案</a:t>
            </a:r>
          </a:p>
          <a:p>
            <a:r>
              <a:rPr lang="en-US" altLang="zh-TW" smtClean="0"/>
              <a:t>3.6 </a:t>
            </a:r>
            <a:r>
              <a:rPr lang="zh-TW" altLang="en-US" smtClean="0"/>
              <a:t>結論 </a:t>
            </a: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/>
              <a:t>學習目標</a:t>
            </a:r>
            <a:endParaRPr lang="zh-TW" altLang="en-US" sz="32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TW" dirty="0" smtClean="0"/>
              <a:t>	</a:t>
            </a:r>
            <a:r>
              <a:rPr lang="zh-TW" altLang="en-US" dirty="0" smtClean="0"/>
              <a:t>詳讀本章，你至少能瞭解：</a:t>
            </a:r>
          </a:p>
          <a:p>
            <a:pPr eaLnBrk="1" hangingPunct="1"/>
            <a:r>
              <a:rPr lang="zh-TW" altLang="zh-TW" dirty="0" smtClean="0"/>
              <a:t>需求分析步驟與應注意事項。</a:t>
            </a:r>
          </a:p>
          <a:p>
            <a:pPr eaLnBrk="1" hangingPunct="1"/>
            <a:r>
              <a:rPr lang="zh-TW" altLang="zh-TW" dirty="0" smtClean="0"/>
              <a:t>常見的六種需求擷取方式及執行要點。</a:t>
            </a:r>
          </a:p>
          <a:p>
            <a:pPr eaLnBrk="1" hangingPunct="1"/>
            <a:r>
              <a:rPr lang="zh-TW" altLang="zh-TW" dirty="0" smtClean="0"/>
              <a:t>何謂環境圖、流程圖、處理描述、藍圖與資料詞彙。</a:t>
            </a:r>
          </a:p>
          <a:p>
            <a:pPr eaLnBrk="1" hangingPunct="1"/>
            <a:r>
              <a:rPr lang="zh-TW" altLang="zh-TW" dirty="0" smtClean="0"/>
              <a:t>如何以環境圖、流程圖、處理描述、藍圖與資料詞彙進行需求塑模。</a:t>
            </a:r>
          </a:p>
          <a:p>
            <a:pPr eaLnBrk="1" hangingPunct="1"/>
            <a:r>
              <a:rPr lang="zh-TW" altLang="zh-TW" dirty="0" smtClean="0"/>
              <a:t>需求分析之重要工作與文件樣板為何。</a:t>
            </a:r>
            <a:r>
              <a:rPr lang="zh-TW" altLang="en-US" dirty="0" smtClean="0"/>
              <a:t> </a:t>
            </a:r>
          </a:p>
        </p:txBody>
      </p:sp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/>
              <a:t>圖</a:t>
            </a:r>
            <a:r>
              <a:rPr lang="en-US" altLang="zh-TW" dirty="0"/>
              <a:t>3-1 </a:t>
            </a:r>
            <a:r>
              <a:rPr lang="zh-TW" altLang="en-US" dirty="0"/>
              <a:t>需求分析之重要步驟</a:t>
            </a:r>
            <a:endParaRPr lang="zh-TW" altLang="en-US" sz="3200" dirty="0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1990725" y="2152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pic>
        <p:nvPicPr>
          <p:cNvPr id="13" name="圖片 12" descr="z-vb157d-f3-1.jpg"/>
          <p:cNvPicPr>
            <a:picLocks noChangeAspect="1"/>
          </p:cNvPicPr>
          <p:nvPr/>
        </p:nvPicPr>
        <p:blipFill>
          <a:blip r:embed="rId3" cstate="print"/>
          <a:srcRect l="16216" t="28251" r="7207"/>
          <a:stretch>
            <a:fillRect/>
          </a:stretch>
        </p:blipFill>
        <p:spPr>
          <a:xfrm>
            <a:off x="530831" y="2143116"/>
            <a:ext cx="8184141" cy="34290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/>
              <a:t>圖</a:t>
            </a:r>
            <a:r>
              <a:rPr lang="en-US" altLang="zh-TW" dirty="0"/>
              <a:t>3-2 </a:t>
            </a:r>
            <a:r>
              <a:rPr lang="zh-TW" altLang="en-US" dirty="0"/>
              <a:t>需求塑模</a:t>
            </a:r>
            <a:endParaRPr lang="zh-TW" altLang="en-US" sz="3200" dirty="0"/>
          </a:p>
        </p:txBody>
      </p:sp>
      <p:sp>
        <p:nvSpPr>
          <p:cNvPr id="38916" name="Rectangle 6"/>
          <p:cNvSpPr>
            <a:spLocks noChangeArrowheads="1"/>
          </p:cNvSpPr>
          <p:nvPr/>
        </p:nvSpPr>
        <p:spPr bwMode="auto">
          <a:xfrm>
            <a:off x="3662363" y="15192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zh-TW" altLang="en-US"/>
          </a:p>
        </p:txBody>
      </p:sp>
      <p:sp>
        <p:nvSpPr>
          <p:cNvPr id="3891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pic>
        <p:nvPicPr>
          <p:cNvPr id="14" name="圖片 13" descr="z-vb157d-f3-2.jpg"/>
          <p:cNvPicPr>
            <a:picLocks noChangeAspect="1"/>
          </p:cNvPicPr>
          <p:nvPr/>
        </p:nvPicPr>
        <p:blipFill>
          <a:blip r:embed="rId2" cstate="print"/>
          <a:srcRect l="49207" t="14826" r="5591" b="3547"/>
          <a:stretch>
            <a:fillRect/>
          </a:stretch>
        </p:blipFill>
        <p:spPr>
          <a:xfrm>
            <a:off x="3323274" y="1526535"/>
            <a:ext cx="2963238" cy="476544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表</a:t>
            </a:r>
            <a:r>
              <a:rPr lang="en-US" altLang="zh-TW" dirty="0" smtClean="0"/>
              <a:t>3-1 </a:t>
            </a:r>
            <a:r>
              <a:rPr lang="zh-TW" altLang="en-US" dirty="0" smtClean="0"/>
              <a:t>環境圖之元件</a:t>
            </a:r>
            <a:endParaRPr lang="zh-TW" altLang="en-US" dirty="0"/>
          </a:p>
        </p:txBody>
      </p:sp>
      <p:pic>
        <p:nvPicPr>
          <p:cNvPr id="4403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3" y="2016648"/>
            <a:ext cx="6000769" cy="3876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sz="4000" dirty="0" smtClean="0"/>
              <a:t>表</a:t>
            </a:r>
            <a:r>
              <a:rPr lang="en-US" altLang="zh-TW" sz="4000" dirty="0" smtClean="0"/>
              <a:t>3-2 </a:t>
            </a:r>
            <a:r>
              <a:rPr lang="zh-TW" altLang="en-US" sz="4000" dirty="0"/>
              <a:t>流程圖</a:t>
            </a:r>
            <a:r>
              <a:rPr lang="zh-TW" altLang="en-US" sz="4000" dirty="0" smtClean="0"/>
              <a:t>之元件</a:t>
            </a:r>
            <a:endParaRPr lang="zh-TW" altLang="en-US" dirty="0"/>
          </a:p>
        </p:txBody>
      </p:sp>
      <p:pic>
        <p:nvPicPr>
          <p:cNvPr id="51204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5616" y="1425958"/>
            <a:ext cx="4515276" cy="49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/>
              <a:t>3.3.4 </a:t>
            </a:r>
            <a:r>
              <a:rPr lang="zh-TW" altLang="en-US" dirty="0"/>
              <a:t>處理描述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 smtClean="0"/>
              <a:t>處理描述進一步地表達每個處理之執行步驟、規則、控制等，並說明其資料之輸入和輸出內容與所涉及之外部實體。</a:t>
            </a:r>
          </a:p>
          <a:p>
            <a:pPr eaLnBrk="1" hangingPunct="1"/>
            <a:r>
              <a:rPr lang="zh-TW" altLang="en-US" dirty="0" smtClean="0"/>
              <a:t>每個處理描述之名稱應與流程圖中之作業處理同名，處理描述之表達形式可如下所示。</a:t>
            </a:r>
          </a:p>
        </p:txBody>
      </p:sp>
      <p:pic>
        <p:nvPicPr>
          <p:cNvPr id="57349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480" y="3286124"/>
            <a:ext cx="6394450" cy="2309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/>
              <a:t>3.3.6 </a:t>
            </a:r>
            <a:r>
              <a:rPr lang="zh-TW" altLang="en-US" dirty="0"/>
              <a:t>資料詞彙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zh-TW" altLang="en-US" b="1" dirty="0" smtClean="0"/>
              <a:t>資料詞彙</a:t>
            </a:r>
            <a:r>
              <a:rPr lang="en-US" altLang="zh-TW" b="1" dirty="0" smtClean="0"/>
              <a:t>(Data Glossary)</a:t>
            </a:r>
            <a:r>
              <a:rPr lang="zh-TW" altLang="en-US" b="1" dirty="0" smtClean="0"/>
              <a:t> </a:t>
            </a:r>
            <a:r>
              <a:rPr lang="zh-TW" altLang="en-US" dirty="0" smtClean="0"/>
              <a:t>進一步說明藍圖無法表達之內容，如資訊之長度、型態、格式、公式、規則、範圍與限制等 ，並分別舉例說明之。 </a:t>
            </a:r>
            <a:endParaRPr lang="en-US" altLang="zh-TW" dirty="0" smtClean="0"/>
          </a:p>
          <a:p>
            <a:pPr eaLnBrk="1" hangingPunct="1">
              <a:spcBef>
                <a:spcPts val="1200"/>
              </a:spcBef>
            </a:pPr>
            <a:r>
              <a:rPr lang="zh-TW" altLang="zh-TW" dirty="0" smtClean="0"/>
              <a:t>基本上，一張藍圖有其對應之資料詞彙，藍圖中每一欄位在資料詞彙中應有一記錄描述之。</a:t>
            </a:r>
            <a:endParaRPr lang="en-US" altLang="zh-TW" dirty="0" smtClean="0"/>
          </a:p>
          <a:p>
            <a:pPr eaLnBrk="1" hangingPunct="1">
              <a:spcBef>
                <a:spcPts val="1200"/>
              </a:spcBef>
            </a:pPr>
            <a:r>
              <a:rPr lang="zh-TW" altLang="zh-TW" dirty="0" smtClean="0"/>
              <a:t>資料詞彙之內容與格式之考量，應以能具體掌握與進一步表達資訊需求為原則。</a:t>
            </a:r>
            <a:endParaRPr lang="zh-TW" altLang="en-US" dirty="0" smtClean="0"/>
          </a:p>
        </p:txBody>
      </p:sp>
      <p:pic>
        <p:nvPicPr>
          <p:cNvPr id="59397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4786321"/>
            <a:ext cx="7296957" cy="11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3.3.6 </a:t>
            </a:r>
            <a:r>
              <a:rPr lang="zh-TW" altLang="en-US" dirty="0" smtClean="0"/>
              <a:t>資料詞彙 </a:t>
            </a:r>
            <a:r>
              <a:rPr lang="en-US" altLang="zh-TW" dirty="0" smtClean="0"/>
              <a:t>(c.2)</a:t>
            </a:r>
            <a:endParaRPr lang="zh-TW" altLang="en-US" dirty="0"/>
          </a:p>
        </p:txBody>
      </p:sp>
      <p:sp>
        <p:nvSpPr>
          <p:cNvPr id="6041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 smtClean="0"/>
              <a:t>資料詞彙中，規則、格式、範圍、公式等資訊可使用</a:t>
            </a:r>
            <a:r>
              <a:rPr lang="zh-TW" altLang="zh-TW" b="1" dirty="0" smtClean="0"/>
              <a:t>資料字典</a:t>
            </a:r>
            <a:r>
              <a:rPr lang="zh-TW" altLang="zh-TW" dirty="0" smtClean="0"/>
              <a:t>的格式來表達。</a:t>
            </a:r>
            <a:endParaRPr lang="en-US" altLang="zh-TW" dirty="0" smtClean="0"/>
          </a:p>
          <a:p>
            <a:r>
              <a:rPr lang="zh-TW" altLang="zh-TW" dirty="0" smtClean="0"/>
              <a:t>資料字典以文字的方式輔助資訊之顯示，其為系統所有資料元素定義之集合。</a:t>
            </a:r>
            <a:endParaRPr lang="en-US" altLang="zh-TW" dirty="0" smtClean="0"/>
          </a:p>
          <a:p>
            <a:r>
              <a:rPr lang="zh-TW" altLang="zh-TW" dirty="0" smtClean="0"/>
              <a:t>資料字典之表達符號與意義</a:t>
            </a:r>
            <a:r>
              <a:rPr lang="zh-TW" altLang="en-US" dirty="0" smtClean="0"/>
              <a:t>如下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785918" y="3786190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zh-TW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符　號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zh-TW" altLang="zh-TW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意　義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= a + 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由</a:t>
                      </a:r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與</a:t>
                      </a:r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組成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r>
                        <a:rPr lang="en-US" altLang="zh-TW" baseline="0" dirty="0" smtClean="0"/>
                        <a:t> = [a | b]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為</a:t>
                      </a:r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或</a:t>
                      </a:r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 = a + (b)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為</a:t>
                      </a:r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或</a:t>
                      </a:r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與</a:t>
                      </a:r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的組合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r>
                        <a:rPr lang="en-US" altLang="zh-TW" baseline="0" dirty="0" smtClean="0"/>
                        <a:t> = {a}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由零個、一個或多個</a:t>
                      </a:r>
                      <a:r>
                        <a:rPr kumimoji="0" lang="en-US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0" lang="zh-TW" altLang="zh-TW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組成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3.3.6 </a:t>
            </a:r>
            <a:r>
              <a:rPr lang="zh-TW" altLang="en-US" dirty="0" smtClean="0"/>
              <a:t>資料詞彙 </a:t>
            </a:r>
            <a:r>
              <a:rPr lang="en-US" altLang="zh-TW" dirty="0" smtClean="0"/>
              <a:t>(c.3)</a:t>
            </a:r>
            <a:endParaRPr lang="zh-TW" altLang="en-US" dirty="0"/>
          </a:p>
        </p:txBody>
      </p:sp>
      <p:sp>
        <p:nvSpPr>
          <p:cNvPr id="6144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 smtClean="0"/>
              <a:t>以下範例說明客戶訂單的資料元素可被定義成如下之組合與架構：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zh-TW" dirty="0" smtClean="0"/>
              <a:t>定義客戶訂單後，需再對其中之資料元素提供適當的說明。</a:t>
            </a:r>
            <a:r>
              <a:rPr lang="zh-TW" altLang="en-US" dirty="0" smtClean="0"/>
              <a:t>例如：</a:t>
            </a:r>
            <a:endParaRPr lang="en-US" altLang="zh-TW" dirty="0" smtClean="0"/>
          </a:p>
        </p:txBody>
      </p:sp>
      <p:sp>
        <p:nvSpPr>
          <p:cNvPr id="6" name="文字方塊 5"/>
          <p:cNvSpPr txBox="1"/>
          <p:nvPr/>
        </p:nvSpPr>
        <p:spPr>
          <a:xfrm>
            <a:off x="2012970" y="2419357"/>
            <a:ext cx="5416550" cy="19383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TW" altLang="zh-TW" dirty="0"/>
              <a:t>客戶訂單＝客戶名稱</a:t>
            </a:r>
          </a:p>
          <a:p>
            <a:pPr eaLnBrk="1" hangingPunct="1">
              <a:defRPr/>
            </a:pPr>
            <a:r>
              <a:rPr lang="zh-TW" altLang="zh-TW" dirty="0"/>
              <a:t>　　　　　＋訂單編號</a:t>
            </a:r>
          </a:p>
          <a:p>
            <a:pPr eaLnBrk="1" hangingPunct="1">
              <a:defRPr/>
            </a:pPr>
            <a:r>
              <a:rPr lang="zh-TW" altLang="zh-TW" dirty="0"/>
              <a:t>　　　　　＋〔送貨地址｜自行取貨〕</a:t>
            </a:r>
          </a:p>
          <a:p>
            <a:pPr eaLnBrk="1" hangingPunct="1">
              <a:defRPr/>
            </a:pPr>
            <a:r>
              <a:rPr lang="zh-TW" altLang="zh-TW" dirty="0"/>
              <a:t>　　　　　＋（售貨員）</a:t>
            </a:r>
          </a:p>
          <a:p>
            <a:pPr eaLnBrk="1" hangingPunct="1">
              <a:defRPr/>
            </a:pPr>
            <a:r>
              <a:rPr lang="zh-TW" altLang="zh-TW" dirty="0"/>
              <a:t>　　　　　＋｛訂單項目｝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428625" y="5538805"/>
            <a:ext cx="8494713" cy="46196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TW" altLang="zh-TW" dirty="0"/>
              <a:t>訂單項目＝零件號碼＋（零件名稱）＋數量＋單價＋（折扣）</a:t>
            </a:r>
            <a:endParaRPr lang="zh-TW" altLang="en-US" dirty="0"/>
          </a:p>
        </p:txBody>
      </p:sp>
    </p:spTree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3.4 </a:t>
            </a:r>
            <a:r>
              <a:rPr lang="zh-TW" altLang="en-US" dirty="0" smtClean="0"/>
              <a:t>需求分析結果與文件樣板</a:t>
            </a:r>
            <a:endParaRPr lang="zh-TW" altLang="en-US" dirty="0"/>
          </a:p>
        </p:txBody>
      </p:sp>
      <p:sp>
        <p:nvSpPr>
          <p:cNvPr id="6246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 smtClean="0"/>
              <a:t>完成需求分析與確認後，需求分析結果之文件應包括該階段中重要工作結果之摘述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zh-TW" dirty="0" smtClean="0"/>
              <a:t>需求分析結果之文件樣</a:t>
            </a:r>
            <a:r>
              <a:rPr lang="zh-TW" altLang="en-US" dirty="0" smtClean="0"/>
              <a:t>板</a:t>
            </a:r>
            <a:r>
              <a:rPr lang="zh-TW" altLang="zh-TW" dirty="0" smtClean="0"/>
              <a:t>如</a:t>
            </a:r>
            <a:r>
              <a:rPr lang="zh-TW" altLang="en-US" dirty="0" smtClean="0"/>
              <a:t>下：</a:t>
            </a:r>
          </a:p>
        </p:txBody>
      </p:sp>
      <p:pic>
        <p:nvPicPr>
          <p:cNvPr id="6246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88" y="2786063"/>
            <a:ext cx="4857766" cy="372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3.5.2 </a:t>
            </a:r>
            <a:r>
              <a:rPr lang="zh-TW" altLang="zh-TW" dirty="0" smtClean="0"/>
              <a:t>需求塑模</a:t>
            </a:r>
            <a:r>
              <a:rPr lang="en-US" altLang="zh-TW" dirty="0" smtClean="0"/>
              <a:t>—</a:t>
            </a:r>
            <a:r>
              <a:rPr lang="zh-TW" altLang="zh-TW" dirty="0" smtClean="0"/>
              <a:t>建構環境圖</a:t>
            </a:r>
            <a:endParaRPr lang="zh-TW" altLang="en-US" dirty="0"/>
          </a:p>
        </p:txBody>
      </p:sp>
      <p:sp>
        <p:nvSpPr>
          <p:cNvPr id="6861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2" pitchFamily="18" charset="2"/>
              <a:buNone/>
            </a:pPr>
            <a:r>
              <a:rPr lang="en-US" altLang="zh-TW" dirty="0" smtClean="0"/>
              <a:t>1.  </a:t>
            </a:r>
            <a:r>
              <a:rPr lang="zh-TW" altLang="zh-TW" dirty="0" smtClean="0"/>
              <a:t>整理事件條列式，如表</a:t>
            </a:r>
            <a:r>
              <a:rPr lang="en-US" altLang="zh-TW" dirty="0" smtClean="0"/>
              <a:t>3-7</a:t>
            </a:r>
            <a:r>
              <a:rPr lang="zh-TW" altLang="zh-TW" dirty="0" smtClean="0"/>
              <a:t>所示。</a:t>
            </a:r>
            <a:endParaRPr lang="en-US" altLang="zh-TW" dirty="0" smtClean="0"/>
          </a:p>
          <a:p>
            <a:pPr lvl="1"/>
            <a:endParaRPr lang="zh-TW" altLang="en-US" dirty="0" smtClean="0"/>
          </a:p>
        </p:txBody>
      </p:sp>
      <p:pic>
        <p:nvPicPr>
          <p:cNvPr id="686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361" y="2072272"/>
            <a:ext cx="4223763" cy="45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98988" y="2500313"/>
            <a:ext cx="4514850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圖</a:t>
            </a:r>
            <a:r>
              <a:rPr lang="en-US" altLang="zh-TW" dirty="0" smtClean="0"/>
              <a:t>3-3 </a:t>
            </a:r>
            <a:r>
              <a:rPr lang="zh-TW" altLang="en-US" dirty="0" smtClean="0"/>
              <a:t>夢幻資訊系統環境圖</a:t>
            </a:r>
            <a:endParaRPr lang="zh-TW" altLang="en-US" dirty="0"/>
          </a:p>
        </p:txBody>
      </p:sp>
      <p:sp>
        <p:nvSpPr>
          <p:cNvPr id="716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71685" name="Object 1"/>
          <p:cNvGraphicFramePr>
            <a:graphicFrameLocks noChangeAspect="1"/>
          </p:cNvGraphicFramePr>
          <p:nvPr/>
        </p:nvGraphicFramePr>
        <p:xfrm>
          <a:off x="968375" y="1928813"/>
          <a:ext cx="7246938" cy="421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8" name="Visio" r:id="rId3" imgW="3621024" imgH="2106168" progId="Visio.Drawing.11">
                  <p:embed/>
                </p:oleObj>
              </mc:Choice>
              <mc:Fallback>
                <p:oleObj name="Visio" r:id="rId3" imgW="3621024" imgH="210616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" y="1928813"/>
                        <a:ext cx="7246938" cy="42148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6" name="Text Box 3"/>
          <p:cNvSpPr txBox="1">
            <a:spLocks noChangeArrowheads="1"/>
          </p:cNvSpPr>
          <p:nvPr/>
        </p:nvSpPr>
        <p:spPr bwMode="auto">
          <a:xfrm>
            <a:off x="3001963" y="1928813"/>
            <a:ext cx="2071687" cy="86677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TW" sz="1200">
                <a:solidFill>
                  <a:srgbClr val="000000"/>
                </a:solidFill>
                <a:latin typeface="Calibri" pitchFamily="34" charset="0"/>
              </a:rPr>
              <a:t>A01.</a:t>
            </a:r>
            <a:r>
              <a:rPr lang="zh-TW" altLang="en-US" sz="1200">
                <a:solidFill>
                  <a:srgbClr val="000000"/>
                </a:solidFill>
                <a:latin typeface="Calibri" pitchFamily="34" charset="0"/>
              </a:rPr>
              <a:t>客戶＋新增＋訂單</a:t>
            </a:r>
            <a:endParaRPr lang="zh-TW" altLang="en-US" sz="1200">
              <a:solidFill>
                <a:srgbClr val="000000"/>
              </a:solidFill>
            </a:endParaRPr>
          </a:p>
          <a:p>
            <a:pPr eaLnBrk="1" hangingPunct="1"/>
            <a:r>
              <a:rPr lang="en-US" altLang="zh-TW" sz="1200">
                <a:solidFill>
                  <a:srgbClr val="000000"/>
                </a:solidFill>
                <a:latin typeface="Calibri" pitchFamily="34" charset="0"/>
              </a:rPr>
              <a:t>A03.</a:t>
            </a:r>
            <a:r>
              <a:rPr lang="zh-TW" altLang="en-US" sz="1200">
                <a:solidFill>
                  <a:srgbClr val="000000"/>
                </a:solidFill>
                <a:latin typeface="Calibri" pitchFamily="34" charset="0"/>
              </a:rPr>
              <a:t>客戶＋新增＋銷退單</a:t>
            </a:r>
            <a:endParaRPr lang="zh-TW" altLang="en-US" sz="1200">
              <a:solidFill>
                <a:srgbClr val="000000"/>
              </a:solidFill>
            </a:endParaRPr>
          </a:p>
          <a:p>
            <a:pPr eaLnBrk="1" hangingPunct="1"/>
            <a:r>
              <a:rPr lang="en-US" altLang="zh-TW" sz="1200">
                <a:solidFill>
                  <a:srgbClr val="000000"/>
                </a:solidFill>
                <a:latin typeface="Calibri" pitchFamily="34" charset="0"/>
              </a:rPr>
              <a:t>A05.</a:t>
            </a:r>
            <a:r>
              <a:rPr lang="zh-TW" altLang="en-US" sz="1200">
                <a:solidFill>
                  <a:srgbClr val="000000"/>
                </a:solidFill>
                <a:latin typeface="Calibri" pitchFamily="34" charset="0"/>
              </a:rPr>
              <a:t>客戶＋新增＋付款證明</a:t>
            </a:r>
            <a:endParaRPr lang="zh-TW" altLang="en-US" sz="1200">
              <a:solidFill>
                <a:srgbClr val="000000"/>
              </a:solidFill>
            </a:endParaRPr>
          </a:p>
          <a:p>
            <a:pPr eaLnBrk="1" hangingPunct="1"/>
            <a:r>
              <a:rPr lang="en-US" altLang="zh-TW" sz="1200">
                <a:solidFill>
                  <a:srgbClr val="000000"/>
                </a:solidFill>
                <a:latin typeface="Arial" pitchFamily="34" charset="0"/>
              </a:rPr>
              <a:t>…</a:t>
            </a:r>
            <a:endParaRPr lang="zh-TW" altLang="zh-TW" sz="4800"/>
          </a:p>
        </p:txBody>
      </p:sp>
      <p:sp>
        <p:nvSpPr>
          <p:cNvPr id="71687" name="Text Box 4"/>
          <p:cNvSpPr txBox="1">
            <a:spLocks noChangeArrowheads="1"/>
          </p:cNvSpPr>
          <p:nvPr/>
        </p:nvSpPr>
        <p:spPr bwMode="auto">
          <a:xfrm>
            <a:off x="930275" y="2743200"/>
            <a:ext cx="2143125" cy="757238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TW" sz="1200">
                <a:solidFill>
                  <a:srgbClr val="000000"/>
                </a:solidFill>
                <a:latin typeface="Calibri" pitchFamily="34" charset="0"/>
              </a:rPr>
              <a:t>A02.</a:t>
            </a:r>
            <a:r>
              <a:rPr lang="zh-TW" altLang="en-US" sz="1200">
                <a:solidFill>
                  <a:srgbClr val="000000"/>
                </a:solidFill>
                <a:latin typeface="Calibri" pitchFamily="34" charset="0"/>
              </a:rPr>
              <a:t>客戶＋接收＋送貨單</a:t>
            </a:r>
            <a:endParaRPr lang="zh-TW" altLang="en-US" sz="1200">
              <a:solidFill>
                <a:srgbClr val="000000"/>
              </a:solidFill>
            </a:endParaRPr>
          </a:p>
          <a:p>
            <a:pPr eaLnBrk="1" hangingPunct="1"/>
            <a:r>
              <a:rPr lang="en-US" altLang="zh-TW" sz="1200">
                <a:solidFill>
                  <a:srgbClr val="000000"/>
                </a:solidFill>
                <a:latin typeface="Calibri" pitchFamily="34" charset="0"/>
              </a:rPr>
              <a:t>A04.</a:t>
            </a:r>
            <a:r>
              <a:rPr lang="zh-TW" altLang="en-US" sz="1200">
                <a:solidFill>
                  <a:srgbClr val="000000"/>
                </a:solidFill>
                <a:latin typeface="Calibri" pitchFamily="34" charset="0"/>
              </a:rPr>
              <a:t>客戶＋接收＋請款單</a:t>
            </a:r>
            <a:endParaRPr lang="zh-TW" altLang="en-US" sz="1200">
              <a:solidFill>
                <a:srgbClr val="000000"/>
              </a:solidFill>
            </a:endParaRPr>
          </a:p>
          <a:p>
            <a:pPr eaLnBrk="1" hangingPunct="1"/>
            <a:r>
              <a:rPr lang="en-US" altLang="zh-TW" sz="1200">
                <a:solidFill>
                  <a:srgbClr val="000000"/>
                </a:solidFill>
                <a:latin typeface="Arial" pitchFamily="34" charset="0"/>
              </a:rPr>
              <a:t>…</a:t>
            </a:r>
            <a:endParaRPr lang="zh-TW" altLang="zh-TW" sz="480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圖</a:t>
            </a:r>
            <a:r>
              <a:rPr lang="en-US" altLang="zh-TW" dirty="0" smtClean="0"/>
              <a:t>3-4 </a:t>
            </a:r>
            <a:r>
              <a:rPr lang="zh-TW" altLang="en-US" dirty="0" smtClean="0"/>
              <a:t>訂單送貨流程圖</a:t>
            </a:r>
            <a:endParaRPr lang="zh-TW" altLang="en-US" dirty="0"/>
          </a:p>
        </p:txBody>
      </p:sp>
      <p:sp>
        <p:nvSpPr>
          <p:cNvPr id="7680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TW" altLang="en-US"/>
          </a:p>
        </p:txBody>
      </p:sp>
      <p:graphicFrame>
        <p:nvGraphicFramePr>
          <p:cNvPr id="76805" name="Object 1"/>
          <p:cNvGraphicFramePr>
            <a:graphicFrameLocks noChangeAspect="1"/>
          </p:cNvGraphicFramePr>
          <p:nvPr/>
        </p:nvGraphicFramePr>
        <p:xfrm>
          <a:off x="1500188" y="1857375"/>
          <a:ext cx="6192837" cy="385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08" name="Visio" r:id="rId4" imgW="3406140" imgH="2124456" progId="Visio.Drawing.11">
                  <p:embed/>
                </p:oleObj>
              </mc:Choice>
              <mc:Fallback>
                <p:oleObj name="Visio" r:id="rId4" imgW="3406140" imgH="212445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1857375"/>
                        <a:ext cx="6192837" cy="38576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表</a:t>
            </a:r>
            <a:r>
              <a:rPr lang="en-US" altLang="zh-TW" dirty="0" smtClean="0"/>
              <a:t>3-8 </a:t>
            </a:r>
            <a:r>
              <a:rPr lang="zh-TW" altLang="en-US" dirty="0" smtClean="0"/>
              <a:t>訂單處理描述</a:t>
            </a:r>
            <a:endParaRPr lang="zh-TW" altLang="en-US" dirty="0"/>
          </a:p>
        </p:txBody>
      </p:sp>
      <p:pic>
        <p:nvPicPr>
          <p:cNvPr id="12" name="圖片 11" descr="z-vb157d-t3-8.jpg"/>
          <p:cNvPicPr>
            <a:picLocks noChangeAspect="1"/>
          </p:cNvPicPr>
          <p:nvPr/>
        </p:nvPicPr>
        <p:blipFill>
          <a:blip r:embed="rId2" cstate="print"/>
          <a:srcRect l="5903" t="20884" r="6250" b="4418"/>
          <a:stretch>
            <a:fillRect/>
          </a:stretch>
        </p:blipFill>
        <p:spPr>
          <a:xfrm>
            <a:off x="285720" y="2218370"/>
            <a:ext cx="8540671" cy="313945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3.5.3 </a:t>
            </a:r>
            <a:r>
              <a:rPr lang="zh-TW" altLang="zh-TW" dirty="0" smtClean="0"/>
              <a:t>需求塑模</a:t>
            </a:r>
            <a:r>
              <a:rPr lang="en-US" altLang="zh-TW" dirty="0" smtClean="0"/>
              <a:t>—</a:t>
            </a:r>
            <a:r>
              <a:rPr lang="zh-TW" altLang="zh-TW" dirty="0" smtClean="0"/>
              <a:t>建構流程圖</a:t>
            </a:r>
            <a:r>
              <a:rPr lang="zh-TW" altLang="en-US" dirty="0" smtClean="0"/>
              <a:t> </a:t>
            </a:r>
            <a:r>
              <a:rPr lang="en-US" altLang="zh-TW" dirty="0" smtClean="0"/>
              <a:t>(c.5)</a:t>
            </a:r>
            <a:endParaRPr lang="zh-TW" altLang="en-US" dirty="0"/>
          </a:p>
        </p:txBody>
      </p:sp>
      <p:sp>
        <p:nvSpPr>
          <p:cNvPr id="80899" name="內容版面配置區 2"/>
          <p:cNvSpPr>
            <a:spLocks noGrp="1"/>
          </p:cNvSpPr>
          <p:nvPr>
            <p:ph idx="1"/>
          </p:nvPr>
        </p:nvSpPr>
        <p:spPr>
          <a:xfrm>
            <a:off x="285720" y="1438275"/>
            <a:ext cx="3286148" cy="4857750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zh-TW" altLang="zh-TW" sz="2100" dirty="0" smtClean="0">
                <a:latin typeface="+mn-lt"/>
              </a:rPr>
              <a:t>藍圖</a:t>
            </a:r>
            <a:r>
              <a:rPr lang="en-US" altLang="zh-TW" sz="2100" dirty="0" smtClean="0">
                <a:latin typeface="+mn-lt"/>
              </a:rPr>
              <a:t>1-1</a:t>
            </a:r>
            <a:endParaRPr lang="zh-TW" altLang="zh-TW" sz="2100" dirty="0" smtClean="0">
              <a:latin typeface="+mn-lt"/>
            </a:endParaRPr>
          </a:p>
          <a:p>
            <a:pPr lvl="1">
              <a:lnSpc>
                <a:spcPct val="114000"/>
              </a:lnSpc>
            </a:pPr>
            <a:r>
              <a:rPr lang="zh-TW" altLang="zh-TW" sz="2100" dirty="0" smtClean="0">
                <a:latin typeface="+mn-lt"/>
              </a:rPr>
              <a:t>以訂單送貨流程之訂單為例，其藍圖基本上可以該公司目前之訂單報表為基礎，再進一步對訂單上的每一欄位，以由上而下、由左至右之原則編號，例如客戶編號為</a:t>
            </a:r>
            <a:r>
              <a:rPr lang="en-US" altLang="zh-TW" sz="2100" dirty="0" smtClean="0">
                <a:latin typeface="+mn-lt"/>
              </a:rPr>
              <a:t>A</a:t>
            </a:r>
            <a:r>
              <a:rPr lang="zh-TW" altLang="zh-TW" sz="2100" dirty="0" smtClean="0">
                <a:latin typeface="+mn-lt"/>
              </a:rPr>
              <a:t>、地址為</a:t>
            </a:r>
            <a:r>
              <a:rPr lang="en-US" altLang="zh-TW" sz="2100" dirty="0" smtClean="0">
                <a:latin typeface="+mn-lt"/>
              </a:rPr>
              <a:t>B</a:t>
            </a:r>
            <a:r>
              <a:rPr lang="zh-TW" altLang="zh-TW" sz="2100" dirty="0" smtClean="0">
                <a:latin typeface="+mn-lt"/>
              </a:rPr>
              <a:t>，依序至總金額為</a:t>
            </a:r>
            <a:r>
              <a:rPr lang="en-US" altLang="zh-TW" sz="2100" dirty="0" smtClean="0">
                <a:latin typeface="+mn-lt"/>
              </a:rPr>
              <a:t>O</a:t>
            </a:r>
            <a:r>
              <a:rPr lang="zh-TW" altLang="zh-TW" sz="2100" dirty="0" smtClean="0">
                <a:latin typeface="+mn-lt"/>
              </a:rPr>
              <a:t>等，詳如</a:t>
            </a:r>
            <a:r>
              <a:rPr lang="zh-TW" altLang="en-US" sz="2100" dirty="0" smtClean="0">
                <a:latin typeface="+mn-lt"/>
              </a:rPr>
              <a:t>右</a:t>
            </a:r>
            <a:r>
              <a:rPr lang="zh-TW" altLang="zh-TW" sz="2100" dirty="0" smtClean="0">
                <a:latin typeface="+mn-lt"/>
              </a:rPr>
              <a:t>表所示。</a:t>
            </a:r>
            <a:endParaRPr lang="zh-TW" altLang="en-US" sz="2100" dirty="0" smtClean="0">
              <a:latin typeface="+mn-lt"/>
            </a:endParaRPr>
          </a:p>
        </p:txBody>
      </p:sp>
      <p:pic>
        <p:nvPicPr>
          <p:cNvPr id="80901" name="Picture 2"/>
          <p:cNvPicPr>
            <a:picLocks noChangeAspect="1" noChangeArrowheads="1"/>
          </p:cNvPicPr>
          <p:nvPr/>
        </p:nvPicPr>
        <p:blipFill>
          <a:blip r:embed="rId2" cstate="print"/>
          <a:srcRect r="5632"/>
          <a:stretch>
            <a:fillRect/>
          </a:stretch>
        </p:blipFill>
        <p:spPr bwMode="auto">
          <a:xfrm>
            <a:off x="3734783" y="1919288"/>
            <a:ext cx="5123497" cy="3795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 smtClean="0"/>
              <a:t>表</a:t>
            </a:r>
            <a:r>
              <a:rPr lang="en-US" altLang="zh-TW" dirty="0" smtClean="0"/>
              <a:t>3-10 </a:t>
            </a:r>
            <a:r>
              <a:rPr lang="zh-TW" altLang="en-US" dirty="0" smtClean="0"/>
              <a:t>訂單資料詞彙</a:t>
            </a:r>
            <a:endParaRPr lang="zh-TW" altLang="en-US" dirty="0"/>
          </a:p>
        </p:txBody>
      </p:sp>
      <p:pic>
        <p:nvPicPr>
          <p:cNvPr id="8294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56" y="1500174"/>
            <a:ext cx="6000769" cy="482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ch01 網際網路基礎">
  <a:themeElements>
    <a:clrScheme name="">
      <a:dk1>
        <a:srgbClr val="000000"/>
      </a:dk1>
      <a:lt1>
        <a:srgbClr val="FFFFFF"/>
      </a:lt1>
      <a:dk2>
        <a:srgbClr val="CCFFFF"/>
      </a:dk2>
      <a:lt2>
        <a:srgbClr val="CBCBCB"/>
      </a:lt2>
      <a:accent1>
        <a:srgbClr val="009999"/>
      </a:accent1>
      <a:accent2>
        <a:srgbClr val="FF9933"/>
      </a:accent2>
      <a:accent3>
        <a:srgbClr val="E2FFFF"/>
      </a:accent3>
      <a:accent4>
        <a:srgbClr val="DADADA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2_ch01 網際網路基礎">
      <a:majorFont>
        <a:latin typeface="Times New Roman"/>
        <a:ea typeface="華康特粗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3600" tIns="46800" rIns="936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3600" tIns="46800" rIns="936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20000"/>
          </a:spcBef>
          <a:spcAft>
            <a:spcPct val="0"/>
          </a:spcAft>
          <a:buClrTx/>
          <a:buSzTx/>
          <a:buFont typeface="Wingdings" pitchFamily="2" charset="2"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</a:objectDefaults>
  <a:extraClrSchemeLst>
    <a:extraClrScheme>
      <a:clrScheme name="2_ch01 網際網路基礎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h01 網際網路基礎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h01 網際網路基礎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ch01</Template>
  <TotalTime>1102</TotalTime>
  <Words>565</Words>
  <Application>Microsoft Office PowerPoint</Application>
  <PresentationFormat>如螢幕大小 (4:3)</PresentationFormat>
  <Paragraphs>76</Paragraphs>
  <Slides>18</Slides>
  <Notes>2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0" baseType="lpstr">
      <vt:lpstr>2_ch01 網際網路基礎</vt:lpstr>
      <vt:lpstr>Visio</vt:lpstr>
      <vt:lpstr>第三章 需求分析</vt:lpstr>
      <vt:lpstr>內容大網</vt:lpstr>
      <vt:lpstr>學習目標</vt:lpstr>
      <vt:lpstr>圖3-1 需求分析之重要步驟</vt:lpstr>
      <vt:lpstr>圖3-2 需求塑模</vt:lpstr>
      <vt:lpstr>表3-1 環境圖之元件</vt:lpstr>
      <vt:lpstr>表3-2 流程圖之元件</vt:lpstr>
      <vt:lpstr>3.3.4 處理描述</vt:lpstr>
      <vt:lpstr>3.3.6 資料詞彙</vt:lpstr>
      <vt:lpstr>3.3.6 資料詞彙 (c.2)</vt:lpstr>
      <vt:lpstr>3.3.6 資料詞彙 (c.3)</vt:lpstr>
      <vt:lpstr>3.4 需求分析結果與文件樣板</vt:lpstr>
      <vt:lpstr>3.5.2 需求塑模—建構環境圖</vt:lpstr>
      <vt:lpstr>圖3-3 夢幻資訊系統環境圖</vt:lpstr>
      <vt:lpstr>圖3-4 訂單送貨流程圖</vt:lpstr>
      <vt:lpstr>表3-8 訂單處理描述</vt:lpstr>
      <vt:lpstr>3.5.3 需求塑模—建構流程圖 (c.5)</vt:lpstr>
      <vt:lpstr>表3-10 訂單資料詞彙</vt:lpstr>
    </vt:vector>
  </TitlesOfParts>
  <Company>nsysu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 需求擷取與分析</dc:title>
  <dc:creator>handsome</dc:creator>
  <cp:lastModifiedBy>user</cp:lastModifiedBy>
  <cp:revision>131</cp:revision>
  <dcterms:created xsi:type="dcterms:W3CDTF">1999-12-18T11:38:40Z</dcterms:created>
  <dcterms:modified xsi:type="dcterms:W3CDTF">2020-04-20T02:40:10Z</dcterms:modified>
</cp:coreProperties>
</file>