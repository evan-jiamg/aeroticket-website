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  <p:sldMasterId id="2147483775" r:id="rId2"/>
    <p:sldMasterId id="2147483776" r:id="rId3"/>
    <p:sldMasterId id="2147483814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375" r:id="rId7"/>
    <p:sldId id="293" r:id="rId8"/>
    <p:sldId id="274" r:id="rId9"/>
    <p:sldId id="277" r:id="rId10"/>
    <p:sldId id="385" r:id="rId11"/>
    <p:sldId id="281" r:id="rId12"/>
    <p:sldId id="283" r:id="rId13"/>
    <p:sldId id="288" r:id="rId14"/>
    <p:sldId id="315" r:id="rId15"/>
    <p:sldId id="320" r:id="rId16"/>
  </p:sldIdLst>
  <p:sldSz cx="9144000" cy="6858000" type="screen4x3"/>
  <p:notesSz cx="6662738" cy="987266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879" autoAdjust="0"/>
    <p:restoredTop sz="90929" autoAdjust="0"/>
  </p:normalViewPr>
  <p:slideViewPr>
    <p:cSldViewPr>
      <p:cViewPr>
        <p:scale>
          <a:sx n="100" d="100"/>
          <a:sy n="100" d="100"/>
        </p:scale>
        <p:origin x="-894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3" d="100"/>
          <a:sy n="43" d="100"/>
        </p:scale>
        <p:origin x="-1416" y="-90"/>
      </p:cViewPr>
      <p:guideLst>
        <p:guide orient="horz" pos="3109"/>
        <p:guide pos="209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5075" y="0"/>
            <a:ext cx="28876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34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8876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34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5075" y="9378950"/>
            <a:ext cx="28876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7F97743-8EFB-4D85-ACD1-2084B5DB58C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10676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5075" y="0"/>
            <a:ext cx="28876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4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63600" y="739775"/>
            <a:ext cx="4938713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689475"/>
            <a:ext cx="4884738" cy="444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8876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5075" y="9378950"/>
            <a:ext cx="28876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F6813B6-9323-412E-ABE0-F2C7D87D3AE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95795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9832418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6145012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30762926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946409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8575965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7346253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3938329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32946214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503334036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9348894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8326222"/>
      </p:ext>
    </p:extLst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9500" y="449263"/>
            <a:ext cx="7377113" cy="90011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19138" y="1438275"/>
            <a:ext cx="8097837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719138" y="3943350"/>
            <a:ext cx="8097837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5446172"/>
      </p:ext>
    </p:extLst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標題， 2 個小物件與1 個大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9500" y="449263"/>
            <a:ext cx="7377113" cy="90011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719138" y="1438275"/>
            <a:ext cx="3971925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719138" y="3943350"/>
            <a:ext cx="3971925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half" idx="3"/>
          </p:nvPr>
        </p:nvSpPr>
        <p:spPr>
          <a:xfrm>
            <a:off x="4843463" y="1438275"/>
            <a:ext cx="3973512" cy="485775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7670134"/>
      </p:ext>
    </p:extLst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9500" y="449263"/>
            <a:ext cx="7377113" cy="90011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3828858"/>
      </p:ext>
    </p:extLst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7570287"/>
      </p:ext>
    </p:extLst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9907318"/>
      </p:ext>
    </p:extLst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30670309"/>
      </p:ext>
    </p:extLst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773843"/>
      </p:ext>
    </p:extLst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794176"/>
      </p:ext>
    </p:extLst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2312348"/>
      </p:ext>
    </p:extLst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080204"/>
      </p:ext>
    </p:extLst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18967474"/>
      </p:ext>
    </p:extLst>
  </p:cSld>
  <p:clrMapOvr>
    <a:masterClrMapping/>
  </p:clrMapOvr>
  <p:transition spd="med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14284579"/>
      </p:ext>
    </p:extLst>
  </p:cSld>
  <p:clrMapOvr>
    <a:masterClrMapping/>
  </p:clrMapOvr>
  <p:transition spd="med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2450214"/>
      </p:ext>
    </p:extLst>
  </p:cSld>
  <p:clrMapOvr>
    <a:masterClrMapping/>
  </p:clrMapOvr>
  <p:transition spd="med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0066412"/>
      </p:ext>
    </p:extLst>
  </p:cSld>
  <p:clrMapOvr>
    <a:masterClrMapping/>
  </p:clrMapOvr>
  <p:transition spd="med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8766756"/>
      </p:ext>
    </p:extLst>
  </p:cSld>
  <p:clrMapOvr>
    <a:masterClrMapping/>
  </p:clrMapOvr>
  <p:transition spd="med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3290997"/>
      </p:ext>
    </p:extLst>
  </p:cSld>
  <p:clrMapOvr>
    <a:masterClrMapping/>
  </p:clrMapOvr>
  <p:transition spd="med"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67917742"/>
      </p:ext>
    </p:extLst>
  </p:cSld>
  <p:clrMapOvr>
    <a:masterClrMapping/>
  </p:clrMapOvr>
  <p:transition spd="med"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8596265"/>
      </p:ext>
    </p:extLst>
  </p:cSld>
  <p:clrMapOvr>
    <a:masterClrMapping/>
  </p:clrMapOvr>
  <p:transition spd="med"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658510"/>
      </p:ext>
    </p:extLst>
  </p:cSld>
  <p:clrMapOvr>
    <a:masterClrMapping/>
  </p:clrMapOvr>
  <p:transition spd="med"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3656411"/>
      </p:ext>
    </p:extLst>
  </p:cSld>
  <p:clrMapOvr>
    <a:masterClrMapping/>
  </p:clrMapOvr>
  <p:transition spd="med"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8727749"/>
      </p:ext>
    </p:extLst>
  </p:cSld>
  <p:clrMapOvr>
    <a:masterClrMapping/>
  </p:clrMapOvr>
  <p:transition spd="med"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47236709"/>
      </p:ext>
    </p:extLst>
  </p:cSld>
  <p:clrMapOvr>
    <a:masterClrMapping/>
  </p:clrMapOvr>
  <p:transition spd="med"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973121448"/>
      </p:ext>
    </p:extLst>
  </p:cSld>
  <p:clrMapOvr>
    <a:masterClrMapping/>
  </p:clrMapOvr>
  <p:transition spd="med"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4126606"/>
      </p:ext>
    </p:extLst>
  </p:cSld>
  <p:clrMapOvr>
    <a:masterClrMapping/>
  </p:clrMapOvr>
  <p:transition spd="med"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777337"/>
      </p:ext>
    </p:extLst>
  </p:cSld>
  <p:clrMapOvr>
    <a:masterClrMapping/>
  </p:clrMapOvr>
  <p:transition spd="med"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資訊科技_bg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3875088"/>
            <a:ext cx="6651625" cy="10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zh-TW" altLang="en-US" sz="1600">
                <a:latin typeface="Arial" charset="0"/>
              </a:rPr>
              <a:t>系統分析與設計</a:t>
            </a:r>
            <a:r>
              <a:rPr lang="zh-TW" altLang="en-US" sz="1200">
                <a:latin typeface="Arial" charset="0"/>
              </a:rPr>
              <a:t>理論與實務應用(七版)   吳仁和、林信惠 著</a:t>
            </a: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/>
            <a:r>
              <a:rPr lang="en-US" altLang="zh-TW" sz="1400">
                <a:ea typeface="華康特粗明體" pitchFamily="49" charset="-120"/>
              </a:rPr>
              <a:t>ISBN 9789575113094</a:t>
            </a:r>
          </a:p>
        </p:txBody>
      </p:sp>
      <p:sp>
        <p:nvSpPr>
          <p:cNvPr id="23347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0825" y="2974975"/>
            <a:ext cx="8637588" cy="900113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3802276"/>
      </p:ext>
    </p:extLst>
  </p:cSld>
  <p:clrMapOvr>
    <a:masterClrMapping/>
  </p:clrMapOvr>
  <p:transition spd="med">
    <p:random/>
  </p:transition>
  <p:hf hdr="0" ft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129962"/>
      </p:ext>
    </p:extLst>
  </p:cSld>
  <p:clrMapOvr>
    <a:masterClrMapping/>
  </p:clrMapOvr>
  <p:transition spd="med"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35527787"/>
      </p:ext>
    </p:extLst>
  </p:cSld>
  <p:clrMapOvr>
    <a:masterClrMapping/>
  </p:clrMapOvr>
  <p:transition spd="med"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0611508"/>
      </p:ext>
    </p:extLst>
  </p:cSld>
  <p:clrMapOvr>
    <a:masterClrMapping/>
  </p:clrMapOvr>
  <p:transition spd="med"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4889915"/>
      </p:ext>
    </p:extLst>
  </p:cSld>
  <p:clrMapOvr>
    <a:masterClrMapping/>
  </p:clrMapOvr>
  <p:transition spd="med"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9149277"/>
      </p:ext>
    </p:extLst>
  </p:cSld>
  <p:clrMapOvr>
    <a:masterClrMapping/>
  </p:clrMapOvr>
  <p:transition spd="med"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71616"/>
      </p:ext>
    </p:extLst>
  </p:cSld>
  <p:clrMapOvr>
    <a:masterClrMapping/>
  </p:clrMapOvr>
  <p:transition spd="med"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82448458"/>
      </p:ext>
    </p:extLst>
  </p:cSld>
  <p:clrMapOvr>
    <a:masterClrMapping/>
  </p:clrMapOvr>
  <p:transition spd="med"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92321908"/>
      </p:ext>
    </p:extLst>
  </p:cSld>
  <p:clrMapOvr>
    <a:masterClrMapping/>
  </p:clrMapOvr>
  <p:transition spd="med"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3382734"/>
      </p:ext>
    </p:extLst>
  </p:cSld>
  <p:clrMapOvr>
    <a:masterClrMapping/>
  </p:clrMapOvr>
  <p:transition spd="med"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7222084"/>
      </p:ext>
    </p:extLst>
  </p:cSld>
  <p:clrMapOvr>
    <a:masterClrMapping/>
  </p:clrMapOvr>
  <p:transition spd="med">
    <p:rand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4" name="日期版面配置區 15"/>
          <p:cNvSpPr>
            <a:spLocks noGrp="1"/>
          </p:cNvSpPr>
          <p:nvPr>
            <p:ph type="dt" sz="half" idx="10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吳仁和、林信惠 </a:t>
            </a:r>
            <a:r>
              <a:rPr lang="en-US" altLang="zh-TW"/>
              <a:t>(2016)</a:t>
            </a:r>
          </a:p>
        </p:txBody>
      </p:sp>
      <p:sp>
        <p:nvSpPr>
          <p:cNvPr id="5" name="頁尾版面配置區 1"/>
          <p:cNvSpPr>
            <a:spLocks noGrp="1"/>
          </p:cNvSpPr>
          <p:nvPr>
            <p:ph type="ftr" sz="quarter" idx="11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14"/>
          <p:cNvSpPr>
            <a:spLocks noGrp="1"/>
          </p:cNvSpPr>
          <p:nvPr>
            <p:ph type="sldNum" sz="quarter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6330F06C-F697-4E54-885A-EDEA7C9B13D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04373283"/>
      </p:ext>
    </p:extLst>
  </p:cSld>
  <p:clrMapOvr>
    <a:masterClrMapping/>
  </p:clrMapOvr>
  <p:hf hdr="0" ft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9500" y="449263"/>
            <a:ext cx="7377113" cy="90011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19138" y="1438275"/>
            <a:ext cx="8097837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719138" y="3943350"/>
            <a:ext cx="8097837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7366590"/>
      </p:ext>
    </p:extLst>
  </p:cSld>
  <p:clrMapOvr>
    <a:masterClrMapping/>
  </p:clrMapOvr>
  <p:transition spd="med">
    <p:random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>
  <p:cSld name="標題， 2 個小物件與1 個大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9500" y="449263"/>
            <a:ext cx="7377113" cy="90011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719138" y="1438275"/>
            <a:ext cx="3971925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719138" y="3943350"/>
            <a:ext cx="3971925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half" idx="3"/>
          </p:nvPr>
        </p:nvSpPr>
        <p:spPr>
          <a:xfrm>
            <a:off x="4843463" y="1438275"/>
            <a:ext cx="3973512" cy="485775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565183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38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1028" name="Picture 6" descr="資訊科技_bg2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 Box 5"/>
          <p:cNvSpPr txBox="1">
            <a:spLocks noChangeArrowheads="1"/>
          </p:cNvSpPr>
          <p:nvPr userDrawn="1"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zh-TW" altLang="en-US" sz="1600">
                <a:latin typeface="Arial" charset="0"/>
              </a:rPr>
              <a:t>系統分析與設計</a:t>
            </a:r>
            <a:r>
              <a:rPr lang="zh-TW" altLang="en-US" sz="1200">
                <a:latin typeface="Arial" charset="0"/>
              </a:rPr>
              <a:t>理論與實務應用(七版)   吳仁和、林信惠 著</a:t>
            </a:r>
          </a:p>
        </p:txBody>
      </p:sp>
      <p:sp>
        <p:nvSpPr>
          <p:cNvPr id="1030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/>
            <a:r>
              <a:rPr lang="en-US" altLang="zh-TW" sz="1400"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</p:sldLayoutIdLst>
  <p:transition spd="med">
    <p:random/>
  </p:transition>
  <p:timing>
    <p:tnLst>
      <p:par>
        <p:cTn id="1" dur="indefinite" restart="never" nodeType="tmRoot"/>
      </p:par>
    </p:tnLst>
  </p:timing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5" descr="資訊科技_bg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3875088"/>
            <a:ext cx="6651625" cy="10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zh-TW" altLang="en-US" sz="1600">
                <a:latin typeface="Arial" charset="0"/>
              </a:rPr>
              <a:t>系統分析與設計</a:t>
            </a:r>
            <a:r>
              <a:rPr lang="zh-TW" altLang="en-US" sz="1200">
                <a:latin typeface="Arial" charset="0"/>
              </a:rPr>
              <a:t>理論與實務應用(七版)   吳仁和、林信惠 著</a:t>
            </a: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sp>
        <p:nvSpPr>
          <p:cNvPr id="2054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/>
            <a:r>
              <a:rPr lang="en-US" altLang="zh-TW" sz="1400"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transition spd="med">
    <p:random/>
  </p:transition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3076" name="Picture 6" descr="資訊科技_bg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zh-TW" altLang="en-US" sz="1600">
                <a:latin typeface="Arial" charset="0"/>
              </a:rPr>
              <a:t>系統分析與設計</a:t>
            </a:r>
            <a:r>
              <a:rPr lang="zh-TW" altLang="en-US" sz="1200">
                <a:latin typeface="Arial" charset="0"/>
              </a:rPr>
              <a:t>理論與實務應用(七版)   吳仁和、林信惠 著</a:t>
            </a:r>
          </a:p>
        </p:txBody>
      </p:sp>
      <p:sp>
        <p:nvSpPr>
          <p:cNvPr id="3078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/>
            <a:r>
              <a:rPr lang="en-US" altLang="zh-TW" sz="1400"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</p:sldLayoutIdLst>
  <p:transition spd="med">
    <p:random/>
  </p:transition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fontAlgn="base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4100" name="Picture 6" descr="資訊科技_bg2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zh-TW" altLang="en-US" sz="1600">
                <a:latin typeface="Arial" charset="0"/>
              </a:rPr>
              <a:t>系統分析與設計</a:t>
            </a:r>
            <a:r>
              <a:rPr lang="zh-TW" altLang="en-US" sz="1200">
                <a:latin typeface="Arial" charset="0"/>
              </a:rPr>
              <a:t>理論與實務應用(七版)   吳仁和、林信惠 著</a:t>
            </a:r>
          </a:p>
        </p:txBody>
      </p:sp>
      <p:sp>
        <p:nvSpPr>
          <p:cNvPr id="4102" name="Text Box 5"/>
          <p:cNvSpPr txBox="1">
            <a:spLocks noChangeArrowheads="1"/>
          </p:cNvSpPr>
          <p:nvPr userDrawn="1"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zh-TW" altLang="en-US" sz="1600">
                <a:latin typeface="Arial" charset="0"/>
              </a:rPr>
              <a:t>系統分析與設計</a:t>
            </a:r>
            <a:r>
              <a:rPr lang="zh-TW" altLang="en-US" sz="1200">
                <a:latin typeface="Arial" charset="0"/>
              </a:rPr>
              <a:t>理論與實務應用(七版)   吳仁和、林信惠 著</a:t>
            </a:r>
          </a:p>
        </p:txBody>
      </p:sp>
      <p:sp>
        <p:nvSpPr>
          <p:cNvPr id="4103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/>
            <a:r>
              <a:rPr lang="en-US" altLang="zh-TW" sz="1400"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34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  <p:sldLayoutId id="2147483935" r:id="rId12"/>
    <p:sldLayoutId id="2147483931" r:id="rId13"/>
    <p:sldLayoutId id="2147483932" r:id="rId14"/>
  </p:sldLayoutIdLst>
  <p:transition spd="med">
    <p:random/>
  </p:transition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標題 7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eaLnBrk="1" hangingPunct="1"/>
            <a:r>
              <a:rPr lang="zh-TW" altLang="en-US" smtClean="0"/>
              <a:t>第四章  結構化技術</a:t>
            </a:r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mtClean="0"/>
              <a:t>內容大綱</a:t>
            </a:r>
          </a:p>
        </p:txBody>
      </p:sp>
      <p:sp>
        <p:nvSpPr>
          <p:cNvPr id="8195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smtClean="0"/>
              <a:t>學習目標</a:t>
            </a:r>
          </a:p>
          <a:p>
            <a:pPr eaLnBrk="1" hangingPunct="1"/>
            <a:r>
              <a:rPr lang="en-US" altLang="zh-TW" smtClean="0"/>
              <a:t>4.1</a:t>
            </a:r>
            <a:r>
              <a:rPr lang="zh-TW" altLang="zh-TW" smtClean="0"/>
              <a:t>　導論</a:t>
            </a:r>
          </a:p>
          <a:p>
            <a:pPr eaLnBrk="1" hangingPunct="1"/>
            <a:r>
              <a:rPr lang="en-US" altLang="zh-TW" smtClean="0"/>
              <a:t>4.2</a:t>
            </a:r>
            <a:r>
              <a:rPr lang="zh-TW" altLang="zh-TW" smtClean="0"/>
              <a:t>　結構化技術之概念</a:t>
            </a:r>
          </a:p>
          <a:p>
            <a:pPr eaLnBrk="1" hangingPunct="1"/>
            <a:r>
              <a:rPr lang="en-US" altLang="zh-TW" smtClean="0"/>
              <a:t>4.3</a:t>
            </a:r>
            <a:r>
              <a:rPr lang="zh-TW" altLang="zh-TW" smtClean="0"/>
              <a:t>　結構化分析與設計工具</a:t>
            </a:r>
          </a:p>
          <a:p>
            <a:pPr eaLnBrk="1" hangingPunct="1"/>
            <a:r>
              <a:rPr lang="en-US" altLang="zh-TW" smtClean="0"/>
              <a:t>4.4</a:t>
            </a:r>
            <a:r>
              <a:rPr lang="zh-TW" altLang="zh-TW" smtClean="0"/>
              <a:t>　軟硬體環境設計與開發工具選擇</a:t>
            </a:r>
          </a:p>
          <a:p>
            <a:pPr eaLnBrk="1" hangingPunct="1"/>
            <a:r>
              <a:rPr lang="en-US" altLang="zh-TW" smtClean="0"/>
              <a:t>4.5</a:t>
            </a:r>
            <a:r>
              <a:rPr lang="zh-TW" altLang="zh-TW" smtClean="0"/>
              <a:t>　系統分析與設計之文件樣板</a:t>
            </a:r>
          </a:p>
          <a:p>
            <a:pPr eaLnBrk="1" hangingPunct="1"/>
            <a:r>
              <a:rPr lang="en-US" altLang="zh-TW" smtClean="0"/>
              <a:t>4.6</a:t>
            </a:r>
            <a:r>
              <a:rPr lang="zh-TW" altLang="zh-TW" smtClean="0"/>
              <a:t>　結論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mtClean="0"/>
              <a:t>學習目標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 lIns="91440" tIns="45720" rIns="91440" bIns="45720"/>
          <a:lstStyle/>
          <a:p>
            <a:pPr eaLnBrk="1" hangingPunct="1">
              <a:buFontTx/>
              <a:buNone/>
            </a:pPr>
            <a:r>
              <a:rPr lang="en-US" altLang="zh-TW" smtClean="0"/>
              <a:t>	</a:t>
            </a:r>
            <a:r>
              <a:rPr lang="zh-TW" altLang="en-US" smtClean="0"/>
              <a:t>詳讀本章，你至少能瞭解：</a:t>
            </a:r>
          </a:p>
          <a:p>
            <a:pPr eaLnBrk="1" hangingPunct="1"/>
            <a:r>
              <a:rPr lang="zh-TW" altLang="zh-TW" smtClean="0"/>
              <a:t>結構化分析與設計之概念。</a:t>
            </a:r>
          </a:p>
          <a:p>
            <a:pPr eaLnBrk="1" hangingPunct="1"/>
            <a:r>
              <a:rPr lang="zh-TW" altLang="zh-TW" smtClean="0"/>
              <a:t>何謂由上而下設計、編碼與實施。</a:t>
            </a:r>
          </a:p>
          <a:p>
            <a:pPr eaLnBrk="1" hangingPunct="1"/>
            <a:r>
              <a:rPr lang="zh-TW" altLang="zh-TW" smtClean="0"/>
              <a:t>結構化分析與設計之工具與應用準則。</a:t>
            </a:r>
            <a:r>
              <a:rPr lang="zh-TW" altLang="en-US" smtClean="0"/>
              <a:t> </a:t>
            </a:r>
          </a:p>
        </p:txBody>
      </p:sp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4.2.2 </a:t>
            </a:r>
            <a:r>
              <a:rPr lang="zh-TW" altLang="en-US" smtClean="0"/>
              <a:t>結構化程式設計</a:t>
            </a:r>
          </a:p>
        </p:txBody>
      </p:sp>
      <p:sp>
        <p:nvSpPr>
          <p:cNvPr id="19459" name="Rectangle 10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zh-TW" sz="2000" smtClean="0"/>
              <a:t>Dijkstra (1969)</a:t>
            </a:r>
            <a:r>
              <a:rPr lang="zh-TW" altLang="en-US" sz="2000" smtClean="0"/>
              <a:t>提出結構化程式設計的概念，以消除以往程式因</a:t>
            </a:r>
            <a:r>
              <a:rPr lang="en-US" altLang="zh-TW" sz="2000" smtClean="0"/>
              <a:t>GOTO</a:t>
            </a:r>
            <a:r>
              <a:rPr lang="zh-TW" altLang="en-US" sz="2000" smtClean="0"/>
              <a:t>指令而造成的混亂狀態。 </a:t>
            </a:r>
          </a:p>
          <a:p>
            <a:pPr eaLnBrk="1" hangingPunct="1"/>
            <a:r>
              <a:rPr lang="zh-TW" altLang="en-US" sz="2000" smtClean="0"/>
              <a:t>結構化程式的背後理論指出，任何程式邏輯僅有一輸入與一輸出，且均可由如下之三種結構構成：循序、選擇與重複。</a:t>
            </a:r>
          </a:p>
        </p:txBody>
      </p:sp>
      <p:pic>
        <p:nvPicPr>
          <p:cNvPr id="19460" name="Picture 12" descr="z-vb157d-f4-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49"/>
          <a:stretch>
            <a:fillRect/>
          </a:stretch>
        </p:blipFill>
        <p:spPr>
          <a:xfrm>
            <a:off x="1476375" y="3213100"/>
            <a:ext cx="6119813" cy="3016250"/>
          </a:xfrm>
        </p:spPr>
      </p:pic>
    </p:spTree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14"/>
          <p:cNvGrpSpPr>
            <a:grpSpLocks/>
          </p:cNvGrpSpPr>
          <p:nvPr/>
        </p:nvGrpSpPr>
        <p:grpSpPr bwMode="auto">
          <a:xfrm>
            <a:off x="468313" y="1989138"/>
            <a:ext cx="8351837" cy="3455987"/>
            <a:chOff x="294" y="1525"/>
            <a:chExt cx="5171" cy="1675"/>
          </a:xfrm>
        </p:grpSpPr>
        <p:pic>
          <p:nvPicPr>
            <p:cNvPr id="23558" name="Picture 12" descr="z-vb157d-04-p11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" y="1752"/>
              <a:ext cx="2460" cy="1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59" name="Picture 13" descr="z-vb157d-f4-2a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02" t="17738"/>
            <a:stretch>
              <a:fillRect/>
            </a:stretch>
          </p:blipFill>
          <p:spPr bwMode="auto">
            <a:xfrm>
              <a:off x="2789" y="1525"/>
              <a:ext cx="2676" cy="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55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mtClean="0"/>
              <a:t>圖</a:t>
            </a:r>
            <a:r>
              <a:rPr lang="en-US" altLang="zh-TW" smtClean="0"/>
              <a:t>4-2a </a:t>
            </a:r>
            <a:r>
              <a:rPr lang="zh-TW" altLang="en-US" smtClean="0"/>
              <a:t>由上而下設計範例</a:t>
            </a:r>
            <a:endParaRPr lang="en-US" altLang="zh-TW" smtClean="0"/>
          </a:p>
        </p:txBody>
      </p:sp>
      <p:sp>
        <p:nvSpPr>
          <p:cNvPr id="23556" name="Rectangle 7"/>
          <p:cNvSpPr>
            <a:spLocks noChangeArrowheads="1"/>
          </p:cNvSpPr>
          <p:nvPr/>
        </p:nvSpPr>
        <p:spPr bwMode="auto">
          <a:xfrm>
            <a:off x="0" y="-211138"/>
            <a:ext cx="184150" cy="42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8" name="向右箭號 7"/>
          <p:cNvSpPr/>
          <p:nvPr/>
        </p:nvSpPr>
        <p:spPr>
          <a:xfrm>
            <a:off x="4067175" y="2997200"/>
            <a:ext cx="857250" cy="7143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ChangeArrowheads="1"/>
          </p:cNvSpPr>
          <p:nvPr/>
        </p:nvSpPr>
        <p:spPr bwMode="auto">
          <a:xfrm>
            <a:off x="0" y="-211138"/>
            <a:ext cx="184150" cy="42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26627" name="Rectangle 9"/>
          <p:cNvSpPr>
            <a:spLocks noChangeArrowheads="1"/>
          </p:cNvSpPr>
          <p:nvPr/>
        </p:nvSpPr>
        <p:spPr bwMode="auto">
          <a:xfrm>
            <a:off x="0" y="-211138"/>
            <a:ext cx="184150" cy="42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grpSp>
        <p:nvGrpSpPr>
          <p:cNvPr id="26628" name="Group 21"/>
          <p:cNvGrpSpPr>
            <a:grpSpLocks/>
          </p:cNvGrpSpPr>
          <p:nvPr/>
        </p:nvGrpSpPr>
        <p:grpSpPr bwMode="auto">
          <a:xfrm>
            <a:off x="250825" y="2636838"/>
            <a:ext cx="8497888" cy="2252662"/>
            <a:chOff x="340" y="1661"/>
            <a:chExt cx="5080" cy="1419"/>
          </a:xfrm>
        </p:grpSpPr>
        <p:pic>
          <p:nvPicPr>
            <p:cNvPr id="26630" name="Picture 16" descr="z-vb157d-04-p119-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" y="2160"/>
              <a:ext cx="1225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31" name="Picture 18" descr="z-vb157d-04-p119-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8" y="1661"/>
              <a:ext cx="1270" cy="9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32" name="Picture 20" descr="z-vb157d-f4-2b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40" t="16879" r="5353"/>
            <a:stretch>
              <a:fillRect/>
            </a:stretch>
          </p:blipFill>
          <p:spPr bwMode="auto">
            <a:xfrm>
              <a:off x="3424" y="1706"/>
              <a:ext cx="1996" cy="1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向右箭號 9"/>
            <p:cNvSpPr/>
            <p:nvPr/>
          </p:nvSpPr>
          <p:spPr>
            <a:xfrm>
              <a:off x="1610" y="2251"/>
              <a:ext cx="363" cy="31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/>
            </a:p>
          </p:txBody>
        </p:sp>
        <p:sp>
          <p:nvSpPr>
            <p:cNvPr id="11" name="向右箭號 10"/>
            <p:cNvSpPr/>
            <p:nvPr/>
          </p:nvSpPr>
          <p:spPr>
            <a:xfrm>
              <a:off x="3334" y="2205"/>
              <a:ext cx="360" cy="31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/>
            </a:p>
          </p:txBody>
        </p:sp>
      </p:grpSp>
      <p:sp>
        <p:nvSpPr>
          <p:cNvPr id="26629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mtClean="0"/>
              <a:t>圖</a:t>
            </a:r>
            <a:r>
              <a:rPr lang="en-US" altLang="zh-TW" smtClean="0"/>
              <a:t>4-2b </a:t>
            </a:r>
            <a:r>
              <a:rPr lang="zh-TW" altLang="en-US" smtClean="0"/>
              <a:t>由下而上設計範例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-211138"/>
            <a:ext cx="184150" cy="42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32771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mtClean="0"/>
              <a:t>圖</a:t>
            </a:r>
            <a:r>
              <a:rPr lang="en-US" altLang="zh-TW" smtClean="0"/>
              <a:t>4-3 </a:t>
            </a:r>
            <a:r>
              <a:rPr lang="zh-TW" altLang="en-US" smtClean="0"/>
              <a:t>軟體測試之種類與執行順序</a:t>
            </a:r>
          </a:p>
        </p:txBody>
      </p:sp>
      <p:pic>
        <p:nvPicPr>
          <p:cNvPr id="32772" name="Picture 10" descr="z-vb157d-f4-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28838" y="1808163"/>
            <a:ext cx="5278437" cy="4117975"/>
          </a:xfrm>
        </p:spPr>
      </p:pic>
    </p:spTree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4.2.3 </a:t>
            </a:r>
            <a:r>
              <a:rPr lang="zh-TW" altLang="en-US" smtClean="0"/>
              <a:t>由上而下發展</a:t>
            </a:r>
            <a:r>
              <a:rPr lang="en-US" altLang="zh-TW" smtClean="0"/>
              <a:t>(c.13)</a:t>
            </a:r>
            <a:endParaRPr lang="zh-TW" altLang="en-US" smtClean="0"/>
          </a:p>
        </p:txBody>
      </p:sp>
      <p:sp>
        <p:nvSpPr>
          <p:cNvPr id="33795" name="Rectangle 10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zh-TW" altLang="en-US" sz="2000" smtClean="0"/>
              <a:t>由上而下實施</a:t>
            </a:r>
          </a:p>
          <a:p>
            <a:pPr lvl="1" eaLnBrk="1" hangingPunct="1"/>
            <a:r>
              <a:rPr lang="zh-TW" altLang="zh-TW" sz="2000" smtClean="0"/>
              <a:t>由上而下測試是在低階模組尚未完成前，先測試系統的高階模組</a:t>
            </a:r>
            <a:endParaRPr lang="en-US" altLang="zh-TW" sz="2000" smtClean="0"/>
          </a:p>
          <a:p>
            <a:pPr lvl="1" eaLnBrk="1" hangingPunct="1"/>
            <a:r>
              <a:rPr lang="zh-TW" altLang="zh-TW" sz="2000" smtClean="0"/>
              <a:t>由下而上測試是由程式結構圖的最底端模組開始，逐次往上測試</a:t>
            </a:r>
            <a:r>
              <a:rPr lang="zh-TW" altLang="en-US" sz="2000" smtClean="0"/>
              <a:t> </a:t>
            </a:r>
            <a:r>
              <a:rPr lang="en-US" altLang="zh-TW" sz="2000" smtClean="0"/>
              <a:t>(</a:t>
            </a:r>
            <a:r>
              <a:rPr lang="zh-TW" altLang="en-US" sz="2000" smtClean="0"/>
              <a:t>如下圖</a:t>
            </a:r>
            <a:r>
              <a:rPr lang="en-US" altLang="zh-TW" sz="2000" smtClean="0"/>
              <a:t>)</a:t>
            </a:r>
            <a:r>
              <a:rPr lang="zh-TW" altLang="en-US" sz="2000" smtClean="0"/>
              <a:t>。 </a:t>
            </a:r>
          </a:p>
        </p:txBody>
      </p:sp>
      <p:pic>
        <p:nvPicPr>
          <p:cNvPr id="33796" name="Picture 12" descr="z-vb157d-f4-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2" t="14845"/>
          <a:stretch>
            <a:fillRect/>
          </a:stretch>
        </p:blipFill>
        <p:spPr>
          <a:xfrm>
            <a:off x="1403350" y="3141663"/>
            <a:ext cx="6913563" cy="3135312"/>
          </a:xfrm>
        </p:spPr>
      </p:pic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4.2.3 </a:t>
            </a:r>
            <a:r>
              <a:rPr lang="zh-TW" altLang="en-US" smtClean="0"/>
              <a:t>由上而下發展</a:t>
            </a:r>
            <a:r>
              <a:rPr lang="en-US" altLang="zh-TW" smtClean="0"/>
              <a:t>(c.14)</a:t>
            </a:r>
            <a:endParaRPr lang="zh-TW" altLang="en-US" smtClean="0"/>
          </a:p>
        </p:txBody>
      </p:sp>
      <p:sp>
        <p:nvSpPr>
          <p:cNvPr id="34819" name="Rectangle 11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zh-TW" altLang="zh-TW" sz="2000" smtClean="0"/>
              <a:t>應用由上而下的整合測試，首先由結構圖上最頂端的模組開始進行測試，而以殘根模組</a:t>
            </a:r>
            <a:r>
              <a:rPr lang="en-US" altLang="zh-TW" sz="2000" smtClean="0"/>
              <a:t>(Stub Module)</a:t>
            </a:r>
            <a:r>
              <a:rPr lang="zh-TW" altLang="zh-TW" sz="2000" smtClean="0"/>
              <a:t>或虛擬模組</a:t>
            </a:r>
            <a:r>
              <a:rPr lang="en-US" altLang="zh-TW" sz="2000" smtClean="0"/>
              <a:t>(Dummy Module)</a:t>
            </a:r>
            <a:r>
              <a:rPr lang="zh-TW" altLang="zh-TW" sz="2000" smtClean="0"/>
              <a:t>暫時代替其下一層未完成的模組。</a:t>
            </a:r>
            <a:endParaRPr lang="en-US" altLang="zh-TW" sz="2000" smtClean="0"/>
          </a:p>
          <a:p>
            <a:pPr eaLnBrk="1" hangingPunct="1"/>
            <a:r>
              <a:rPr lang="zh-TW" altLang="zh-TW" sz="2000" smtClean="0"/>
              <a:t>以</a:t>
            </a:r>
            <a:r>
              <a:rPr lang="zh-TW" altLang="en-US" sz="2000" smtClean="0"/>
              <a:t>下</a:t>
            </a:r>
            <a:r>
              <a:rPr lang="zh-TW" altLang="zh-TW" sz="2000" smtClean="0"/>
              <a:t>圖為例，測試模組</a:t>
            </a:r>
            <a:r>
              <a:rPr lang="en-US" altLang="zh-TW" sz="2000" smtClean="0"/>
              <a:t>A</a:t>
            </a:r>
            <a:r>
              <a:rPr lang="zh-TW" altLang="zh-TW" sz="2000" smtClean="0"/>
              <a:t>時，</a:t>
            </a:r>
            <a:r>
              <a:rPr lang="en-US" altLang="zh-TW" sz="2000" smtClean="0"/>
              <a:t>C</a:t>
            </a:r>
            <a:r>
              <a:rPr lang="zh-TW" altLang="zh-TW" sz="2000" smtClean="0"/>
              <a:t>與</a:t>
            </a:r>
            <a:r>
              <a:rPr lang="en-US" altLang="zh-TW" sz="2000" smtClean="0"/>
              <a:t>D</a:t>
            </a:r>
            <a:r>
              <a:rPr lang="zh-TW" altLang="zh-TW" sz="2000" smtClean="0"/>
              <a:t>是虛擬模組，同樣地，測試模組</a:t>
            </a:r>
            <a:r>
              <a:rPr lang="en-US" altLang="zh-TW" sz="2000" smtClean="0"/>
              <a:t>B</a:t>
            </a:r>
            <a:r>
              <a:rPr lang="zh-TW" altLang="zh-TW" sz="2000" smtClean="0"/>
              <a:t>時，</a:t>
            </a:r>
            <a:r>
              <a:rPr lang="en-US" altLang="zh-TW" sz="2000" smtClean="0"/>
              <a:t>E</a:t>
            </a:r>
            <a:r>
              <a:rPr lang="zh-TW" altLang="zh-TW" sz="2000" smtClean="0"/>
              <a:t>與</a:t>
            </a:r>
            <a:r>
              <a:rPr lang="en-US" altLang="zh-TW" sz="2000" smtClean="0"/>
              <a:t>F</a:t>
            </a:r>
            <a:r>
              <a:rPr lang="zh-TW" altLang="zh-TW" sz="2000" smtClean="0"/>
              <a:t>是虛擬模組。</a:t>
            </a:r>
            <a:r>
              <a:rPr lang="zh-TW" altLang="en-US" sz="2000" smtClean="0"/>
              <a:t> </a:t>
            </a:r>
          </a:p>
          <a:p>
            <a:pPr eaLnBrk="1" hangingPunct="1"/>
            <a:endParaRPr lang="zh-TW" altLang="en-US" sz="2000" smtClean="0"/>
          </a:p>
        </p:txBody>
      </p:sp>
      <p:pic>
        <p:nvPicPr>
          <p:cNvPr id="34820" name="Picture 13" descr="z-vb157d-f4-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5" t="21156" r="7753" b="6717"/>
          <a:stretch>
            <a:fillRect/>
          </a:stretch>
        </p:blipFill>
        <p:spPr>
          <a:xfrm>
            <a:off x="1692275" y="3644900"/>
            <a:ext cx="5761038" cy="2428875"/>
          </a:xfrm>
        </p:spPr>
      </p:pic>
    </p:spTree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mtClean="0"/>
              <a:t>圖</a:t>
            </a:r>
            <a:r>
              <a:rPr lang="en-US" altLang="zh-TW" smtClean="0"/>
              <a:t>4-6 </a:t>
            </a:r>
            <a:r>
              <a:rPr lang="zh-TW" altLang="en-US" smtClean="0"/>
              <a:t>由下而上測試之啟動模組關係</a:t>
            </a:r>
          </a:p>
        </p:txBody>
      </p:sp>
      <p:pic>
        <p:nvPicPr>
          <p:cNvPr id="38915" name="Picture 8" descr="z-vb157d-f4-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45" t="13350" r="9485" b="5341"/>
          <a:stretch>
            <a:fillRect/>
          </a:stretch>
        </p:blipFill>
        <p:spPr>
          <a:xfrm>
            <a:off x="2268538" y="1628775"/>
            <a:ext cx="4824412" cy="4633913"/>
          </a:xfrm>
        </p:spPr>
      </p:pic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ChangeArrowheads="1"/>
          </p:cNvSpPr>
          <p:nvPr/>
        </p:nvSpPr>
        <p:spPr bwMode="auto">
          <a:xfrm>
            <a:off x="1728788" y="230188"/>
            <a:ext cx="91440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41987" name="Rectangle 9"/>
          <p:cNvSpPr>
            <a:spLocks noChangeArrowheads="1"/>
          </p:cNvSpPr>
          <p:nvPr/>
        </p:nvSpPr>
        <p:spPr bwMode="auto">
          <a:xfrm>
            <a:off x="1728788" y="230188"/>
            <a:ext cx="91440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41988" name="Rectangle 19"/>
          <p:cNvSpPr>
            <a:spLocks noChangeArrowheads="1"/>
          </p:cNvSpPr>
          <p:nvPr/>
        </p:nvSpPr>
        <p:spPr bwMode="auto">
          <a:xfrm>
            <a:off x="2141538" y="708025"/>
            <a:ext cx="91440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41989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mtClean="0"/>
              <a:t>圖</a:t>
            </a:r>
            <a:r>
              <a:rPr lang="en-US" altLang="zh-TW" smtClean="0"/>
              <a:t>4-7 </a:t>
            </a:r>
            <a:r>
              <a:rPr lang="zh-TW" altLang="en-US" smtClean="0"/>
              <a:t>結構化分析與設計及塑模工具</a:t>
            </a:r>
          </a:p>
        </p:txBody>
      </p:sp>
      <p:pic>
        <p:nvPicPr>
          <p:cNvPr id="41990" name="Picture 12" descr="z-vb157d-f4-7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9837" r="4019" b="3668"/>
          <a:stretch>
            <a:fillRect/>
          </a:stretch>
        </p:blipFill>
        <p:spPr>
          <a:xfrm>
            <a:off x="2555875" y="1484313"/>
            <a:ext cx="4643438" cy="4752975"/>
          </a:xfr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ChangeArrowheads="1"/>
          </p:cNvSpPr>
          <p:nvPr/>
        </p:nvSpPr>
        <p:spPr bwMode="auto">
          <a:xfrm>
            <a:off x="0" y="-211138"/>
            <a:ext cx="184150" cy="42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4505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mtClean="0"/>
              <a:t>圖</a:t>
            </a:r>
            <a:r>
              <a:rPr lang="en-US" altLang="zh-TW" smtClean="0"/>
              <a:t>4-8 </a:t>
            </a:r>
            <a:r>
              <a:rPr lang="zh-TW" altLang="en-US" smtClean="0"/>
              <a:t>資料流程圖範例</a:t>
            </a:r>
          </a:p>
        </p:txBody>
      </p:sp>
      <p:pic>
        <p:nvPicPr>
          <p:cNvPr id="45060" name="Picture 10" descr="z-vb157d-f4-8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7" t="20152" r="3607" b="5719"/>
          <a:stretch>
            <a:fillRect/>
          </a:stretch>
        </p:blipFill>
        <p:spPr>
          <a:xfrm>
            <a:off x="900113" y="2060575"/>
            <a:ext cx="7559675" cy="3195638"/>
          </a:xfr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ch01 網際網路基礎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4_ch01 網際網路基礎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4_ch01 網際網路基礎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h01 網際網路基礎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ch01 網際網路基礎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h01 網際網路基礎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2_ch01 網際網路基礎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2_ch01 網際網路基礎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h01 網際網路基礎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h01 網際網路基礎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ch01 網際網路基礎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3_ch01 網際網路基礎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3_ch01 網際網路基礎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h01 網際網路基礎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h01 網際網路基礎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ch01 網際網路基礎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2_ch01 網際網路基礎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3600" tIns="46800" rIns="936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3600" tIns="46800" rIns="936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lnDef>
  </a:objectDefaults>
  <a:extraClrSchemeLst>
    <a:extraClrScheme>
      <a:clrScheme name="2_ch01 網際網路基礎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h01 網際網路基礎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h01 網際網路基礎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1203</TotalTime>
  <Words>245</Words>
  <Application>Microsoft Office PowerPoint</Application>
  <PresentationFormat>如螢幕大小 (4:3)</PresentationFormat>
  <Paragraphs>30</Paragraphs>
  <Slides>12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4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4_ch01 網際網路基礎</vt:lpstr>
      <vt:lpstr>2_ch01 網際網路基礎</vt:lpstr>
      <vt:lpstr>3_ch01 網際網路基礎</vt:lpstr>
      <vt:lpstr>5_ch01 網際網路基礎</vt:lpstr>
      <vt:lpstr>第四章  結構化技術</vt:lpstr>
      <vt:lpstr>內容大綱</vt:lpstr>
      <vt:lpstr>學習目標</vt:lpstr>
      <vt:lpstr>4.2.2 結構化程式設計</vt:lpstr>
      <vt:lpstr>圖4-2a 由上而下設計範例</vt:lpstr>
      <vt:lpstr>圖4-2b 由下而上設計範例</vt:lpstr>
      <vt:lpstr>圖4-3 軟體測試之種類與執行順序</vt:lpstr>
      <vt:lpstr>4.2.3 由上而下發展(c.13)</vt:lpstr>
      <vt:lpstr>4.2.3 由上而下發展(c.14)</vt:lpstr>
      <vt:lpstr>圖4-6 由下而上測試之啟動模組關係</vt:lpstr>
      <vt:lpstr>圖4-7 結構化分析與設計及塑模工具</vt:lpstr>
      <vt:lpstr>圖4-8 資料流程圖範例</vt:lpstr>
    </vt:vector>
  </TitlesOfParts>
  <Company>nsysu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結構化技術</dc:title>
  <dc:creator>handsome</dc:creator>
  <cp:lastModifiedBy>user</cp:lastModifiedBy>
  <cp:revision>186</cp:revision>
  <cp:lastPrinted>2000-03-01T10:15:20Z</cp:lastPrinted>
  <dcterms:created xsi:type="dcterms:W3CDTF">1999-12-21T19:04:48Z</dcterms:created>
  <dcterms:modified xsi:type="dcterms:W3CDTF">2020-04-20T02:40:40Z</dcterms:modified>
</cp:coreProperties>
</file>