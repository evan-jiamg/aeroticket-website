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9" r:id="rId4"/>
    <p:sldId id="270" r:id="rId5"/>
    <p:sldId id="274" r:id="rId6"/>
    <p:sldId id="276" r:id="rId7"/>
    <p:sldId id="277" r:id="rId8"/>
    <p:sldId id="280" r:id="rId9"/>
    <p:sldId id="284" r:id="rId10"/>
    <p:sldId id="288" r:id="rId11"/>
    <p:sldId id="291" r:id="rId12"/>
    <p:sldId id="293" r:id="rId13"/>
    <p:sldId id="300" r:id="rId14"/>
    <p:sldId id="301" r:id="rId15"/>
    <p:sldId id="302" r:id="rId16"/>
    <p:sldId id="303" r:id="rId17"/>
    <p:sldId id="313" r:id="rId18"/>
    <p:sldId id="318" r:id="rId19"/>
    <p:sldId id="319" r:id="rId20"/>
    <p:sldId id="351" r:id="rId21"/>
    <p:sldId id="347" r:id="rId22"/>
    <p:sldId id="348" r:id="rId23"/>
    <p:sldId id="315" r:id="rId24"/>
    <p:sldId id="355" r:id="rId25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華康特粗明體" pitchFamily="49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華康特粗明體" pitchFamily="49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華康特粗明體" pitchFamily="49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華康特粗明體" pitchFamily="49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華康特粗明體" pitchFamily="49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華康特粗明體" pitchFamily="49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華康特粗明體" pitchFamily="49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華康特粗明體" pitchFamily="49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華康特粗明體" pitchFamily="49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A50021"/>
    <a:srgbClr val="CC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989" autoAdjust="0"/>
    <p:restoredTop sz="94660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1656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itchFamily="18" charset="-120"/>
              </a:defRPr>
            </a:lvl1pPr>
          </a:lstStyle>
          <a:p>
            <a:fld id="{7F299BE6-0849-4286-A3BB-6429FD4EAE3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96035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itchFamily="18" charset="-120"/>
              </a:defRPr>
            </a:lvl1pPr>
          </a:lstStyle>
          <a:p>
            <a:fld id="{31AF512C-931C-4777-9E3D-6662B8F2BF4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8676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1536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2CF425-BCDB-429B-AE39-AEEF87C8DE7B}" type="slidenum">
              <a:rPr lang="en-US" altLang="zh-TW"/>
              <a:pPr/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pic>
        <p:nvPicPr>
          <p:cNvPr id="233477" name="Picture 5" descr="資訊科技_bg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rIns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系統分析與設計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理論與實務應用</a:t>
            </a:r>
            <a:r>
              <a:rPr lang="zh-TW" altLang="en-US" sz="1200" dirty="0" smtClean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(七版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)   吳仁和、林信惠 著</a:t>
            </a:r>
          </a:p>
        </p:txBody>
      </p:sp>
      <p:sp>
        <p:nvSpPr>
          <p:cNvPr id="8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400" kern="1200" dirty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ISBN </a:t>
            </a:r>
            <a:r>
              <a:rPr kumimoji="1" lang="en-US" altLang="zh-TW" sz="1400" kern="1200" dirty="0" smtClean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9789575113094</a:t>
            </a:r>
            <a:endParaRPr kumimoji="1" lang="en-US" altLang="zh-TW" sz="1400" kern="1200" dirty="0">
              <a:solidFill>
                <a:schemeClr val="tx1"/>
              </a:solidFill>
              <a:latin typeface="Times New Roman" pitchFamily="18" charset="0"/>
              <a:ea typeface="華康特粗明體" pitchFamily="49" charset="-120"/>
              <a:cs typeface="+mn-cs"/>
            </a:endParaRPr>
          </a:p>
        </p:txBody>
      </p:sp>
    </p:spTree>
  </p:cSld>
  <p:clrMapOvr>
    <a:masterClrMapping/>
  </p:clrMapOvr>
  <p:transition spd="med">
    <p:random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5" name="日期版面配置區 15"/>
          <p:cNvSpPr>
            <a:spLocks noGrp="1"/>
          </p:cNvSpPr>
          <p:nvPr>
            <p:ph type="dt" sz="half" idx="10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"/>
          <p:cNvSpPr>
            <a:spLocks noGrp="1"/>
          </p:cNvSpPr>
          <p:nvPr>
            <p:ph type="ftr" sz="quarter" idx="11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 smtClean="0"/>
              <a:t>吳仁和、林信惠 </a:t>
            </a:r>
            <a:r>
              <a:rPr lang="en-US" altLang="zh-TW" smtClean="0"/>
              <a:t>(2016)</a:t>
            </a:r>
            <a:endParaRPr lang="en-US" altLang="zh-TW"/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2-</a:t>
            </a:r>
            <a:fld id="{7CCA0A35-0DFF-4776-A18C-6A6897E0BF43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5334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85800" y="1066800"/>
            <a:ext cx="7772400" cy="5029200"/>
          </a:xfrm>
        </p:spPr>
        <p:txBody>
          <a:bodyPr>
            <a:normAutofit/>
          </a:bodyPr>
          <a:lstStyle/>
          <a:p>
            <a:pPr lvl="0"/>
            <a:endParaRPr lang="zh-TW" altLang="en-US" noProof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吳仁和、林信惠 </a:t>
            </a:r>
            <a:r>
              <a:rPr lang="en-US" altLang="zh-TW"/>
              <a:t>(2016)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2-</a:t>
            </a:r>
            <a:fld id="{043ECB20-DC5D-4F9A-BCBC-9C553AE0A599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32454" name="Picture 6" descr="資訊科技_bg2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rIns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系統分析與設計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理論與實務應用</a:t>
            </a:r>
            <a:r>
              <a:rPr lang="zh-TW" altLang="en-US" sz="1200" dirty="0" smtClean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(七版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)   吳仁和、林信惠 著</a:t>
            </a:r>
          </a:p>
        </p:txBody>
      </p:sp>
      <p:sp>
        <p:nvSpPr>
          <p:cNvPr id="9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400" kern="1200" dirty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ISBN </a:t>
            </a:r>
            <a:r>
              <a:rPr kumimoji="1" lang="en-US" altLang="zh-TW" sz="1400" kern="1200" dirty="0" smtClean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9789575113094</a:t>
            </a:r>
            <a:endParaRPr kumimoji="1" lang="en-US" altLang="zh-TW" sz="1400" kern="1200" dirty="0">
              <a:solidFill>
                <a:schemeClr val="tx1"/>
              </a:solidFill>
              <a:latin typeface="Times New Roman" pitchFamily="18" charset="0"/>
              <a:ea typeface="華康特粗明體" pitchFamily="49" charset="-120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</p:sldLayoutIdLst>
  <p:transition spd="med">
    <p:random/>
  </p:transition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4000">
                <a:cs typeface="+mj-cs"/>
              </a:rPr>
              <a:t>第二章 資訊系統開發模式</a:t>
            </a:r>
            <a:endParaRPr lang="zh-TW" altLang="en-US">
              <a:cs typeface="+mj-cs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>
                <a:cs typeface="+mj-cs"/>
              </a:rPr>
              <a:t>內容大綱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zh-TW" altLang="en-US" dirty="0">
                <a:cs typeface="+mn-cs"/>
              </a:rPr>
              <a:t>學習目標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>
                <a:cs typeface="+mn-cs"/>
              </a:rPr>
              <a:t>2.1   </a:t>
            </a:r>
            <a:r>
              <a:rPr lang="zh-TW" altLang="en-US" dirty="0">
                <a:cs typeface="+mn-cs"/>
              </a:rPr>
              <a:t>導論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>
                <a:cs typeface="+mn-cs"/>
              </a:rPr>
              <a:t>2.2   </a:t>
            </a:r>
            <a:r>
              <a:rPr lang="zh-TW" altLang="en-US" dirty="0">
                <a:cs typeface="+mn-cs"/>
              </a:rPr>
              <a:t>瀑布模式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>
                <a:cs typeface="+mn-cs"/>
              </a:rPr>
              <a:t>2.3   </a:t>
            </a:r>
            <a:r>
              <a:rPr lang="zh-TW" altLang="en-US" dirty="0">
                <a:cs typeface="+mn-cs"/>
              </a:rPr>
              <a:t>漸增模式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>
                <a:cs typeface="+mn-cs"/>
              </a:rPr>
              <a:t>2.4   </a:t>
            </a:r>
            <a:r>
              <a:rPr lang="zh-TW" altLang="en-US" dirty="0">
                <a:cs typeface="+mn-cs"/>
              </a:rPr>
              <a:t>雛型模式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>
                <a:cs typeface="+mn-cs"/>
              </a:rPr>
              <a:t>2.5   </a:t>
            </a:r>
            <a:r>
              <a:rPr lang="zh-TW" altLang="en-US" dirty="0">
                <a:cs typeface="+mn-cs"/>
              </a:rPr>
              <a:t>螺旋模式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>
                <a:cs typeface="+mn-cs"/>
              </a:rPr>
              <a:t>2.6   </a:t>
            </a:r>
            <a:r>
              <a:rPr lang="zh-TW" altLang="en-US" dirty="0">
                <a:cs typeface="+mn-cs"/>
              </a:rPr>
              <a:t>同步模式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>
                <a:cs typeface="+mn-cs"/>
              </a:rPr>
              <a:t>2.7   </a:t>
            </a:r>
            <a:r>
              <a:rPr lang="en-US" altLang="zh-TW" dirty="0" smtClean="0">
                <a:cs typeface="+mn-cs"/>
              </a:rPr>
              <a:t>Rational </a:t>
            </a:r>
            <a:r>
              <a:rPr lang="zh-TW" altLang="en-US" dirty="0" smtClean="0">
                <a:cs typeface="+mn-cs"/>
              </a:rPr>
              <a:t>統一</a:t>
            </a:r>
            <a:r>
              <a:rPr lang="zh-TW" altLang="en-US" dirty="0">
                <a:cs typeface="+mn-cs"/>
              </a:rPr>
              <a:t>流程</a:t>
            </a:r>
            <a:r>
              <a:rPr lang="zh-TW" altLang="en-US" dirty="0" smtClean="0">
                <a:cs typeface="+mn-cs"/>
              </a:rPr>
              <a:t>模式</a:t>
            </a:r>
            <a:endParaRPr lang="en-US" altLang="zh-TW" dirty="0" smtClean="0">
              <a:cs typeface="+mn-cs"/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 smtClean="0">
                <a:cs typeface="+mn-cs"/>
              </a:rPr>
              <a:t>2.8   </a:t>
            </a:r>
            <a:r>
              <a:rPr lang="zh-TW" altLang="en-US" dirty="0" smtClean="0">
                <a:cs typeface="+mn-cs"/>
              </a:rPr>
              <a:t>敏捷軟體開發</a:t>
            </a:r>
            <a:endParaRPr lang="en-US" altLang="zh-TW" dirty="0" smtClean="0">
              <a:cs typeface="+mn-cs"/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 smtClean="0">
                <a:cs typeface="+mn-cs"/>
              </a:rPr>
              <a:t>2.9   MDA</a:t>
            </a:r>
            <a:r>
              <a:rPr lang="zh-TW" altLang="en-US" dirty="0" smtClean="0">
                <a:cs typeface="+mn-cs"/>
              </a:rPr>
              <a:t> 發展生命週期</a:t>
            </a:r>
            <a:endParaRPr lang="zh-TW" altLang="en-US" dirty="0">
              <a:cs typeface="+mn-cs"/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 smtClean="0">
                <a:cs typeface="+mn-cs"/>
              </a:rPr>
              <a:t>2.10   </a:t>
            </a:r>
            <a:r>
              <a:rPr lang="zh-TW" altLang="en-US" dirty="0">
                <a:cs typeface="+mn-cs"/>
              </a:rPr>
              <a:t>結論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>
                <a:cs typeface="+mj-cs"/>
              </a:rPr>
              <a:t>學習目標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詳讀本章，你至少能瞭解：</a:t>
            </a:r>
          </a:p>
          <a:p>
            <a:pPr eaLnBrk="1" hangingPunct="1"/>
            <a:r>
              <a:rPr lang="zh-TW" altLang="en-US" dirty="0" smtClean="0"/>
              <a:t>資訊系統開發模式之演進與時代背景。</a:t>
            </a:r>
          </a:p>
          <a:p>
            <a:pPr eaLnBrk="1" hangingPunct="1"/>
            <a:r>
              <a:rPr lang="zh-TW" altLang="en-US" dirty="0" smtClean="0"/>
              <a:t>目前有哪些常用之資訊系統開發模式。</a:t>
            </a:r>
          </a:p>
          <a:p>
            <a:pPr eaLnBrk="1" hangingPunct="1"/>
            <a:r>
              <a:rPr lang="zh-TW" altLang="en-US" dirty="0" smtClean="0"/>
              <a:t>各種資訊系統開發模式之特色、應用程序及適用情況。</a:t>
            </a:r>
          </a:p>
          <a:p>
            <a:pPr eaLnBrk="1" hangingPunct="1"/>
            <a:r>
              <a:rPr lang="zh-TW" altLang="en-US" dirty="0" smtClean="0"/>
              <a:t>資訊系統之特性及其適用的開發模式。</a:t>
            </a:r>
          </a:p>
          <a:p>
            <a:pPr eaLnBrk="1" hangingPunct="1"/>
            <a:r>
              <a:rPr lang="zh-TW" altLang="en-US" dirty="0" smtClean="0"/>
              <a:t>如何選擇一個較適當的資訊系統開發模式 。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2-1 </a:t>
            </a:r>
            <a:r>
              <a:rPr lang="zh-TW" altLang="en-US" dirty="0" smtClean="0">
                <a:cs typeface="+mj-cs"/>
              </a:rPr>
              <a:t>資訊系統</a:t>
            </a:r>
            <a:r>
              <a:rPr lang="zh-TW" altLang="en-US" dirty="0">
                <a:cs typeface="+mj-cs"/>
              </a:rPr>
              <a:t>開發模式之演進</a:t>
            </a:r>
            <a:endParaRPr lang="zh-TW" altLang="en-US" sz="3200" dirty="0">
              <a:cs typeface="+mj-cs"/>
            </a:endParaRP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1752600" y="2019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18437" name="Rectangle 7"/>
          <p:cNvSpPr>
            <a:spLocks noChangeArrowheads="1"/>
          </p:cNvSpPr>
          <p:nvPr/>
        </p:nvSpPr>
        <p:spPr bwMode="auto">
          <a:xfrm>
            <a:off x="0" y="2176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1843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1843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142844" y="1571612"/>
          <a:ext cx="9003951" cy="47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r:id="rId3" imgW="11548683" imgH="6796932" progId="">
                  <p:embed/>
                </p:oleObj>
              </mc:Choice>
              <mc:Fallback>
                <p:oleObj r:id="rId3" imgW="11548683" imgH="6796932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4" y="1571612"/>
                        <a:ext cx="9003951" cy="475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>
                <a:cs typeface="+mj-cs"/>
              </a:rPr>
              <a:t>圖</a:t>
            </a:r>
            <a:r>
              <a:rPr lang="en-US" altLang="zh-TW">
                <a:cs typeface="+mj-cs"/>
              </a:rPr>
              <a:t>2-2 </a:t>
            </a:r>
            <a:r>
              <a:rPr lang="zh-TW" altLang="en-US">
                <a:cs typeface="+mj-cs"/>
              </a:rPr>
              <a:t>三個階段之瀑布模式</a:t>
            </a: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2233613" y="1990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20486" name="Object 5"/>
          <p:cNvGraphicFramePr>
            <a:graphicFrameLocks noChangeAspect="1"/>
          </p:cNvGraphicFramePr>
          <p:nvPr/>
        </p:nvGraphicFramePr>
        <p:xfrm>
          <a:off x="2068532" y="2000265"/>
          <a:ext cx="5218112" cy="350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Visio" r:id="rId3" imgW="2287524" imgH="1533144" progId="">
                  <p:embed/>
                </p:oleObj>
              </mc:Choice>
              <mc:Fallback>
                <p:oleObj name="Visio" r:id="rId3" imgW="2287524" imgH="1533144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32" y="2000265"/>
                        <a:ext cx="5218112" cy="3500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 smtClean="0">
                <a:cs typeface="+mj-cs"/>
              </a:rPr>
              <a:t>表</a:t>
            </a:r>
            <a:r>
              <a:rPr lang="en-US" altLang="zh-TW" dirty="0" smtClean="0">
                <a:cs typeface="+mj-cs"/>
              </a:rPr>
              <a:t>2-1</a:t>
            </a:r>
            <a:r>
              <a:rPr lang="zh-TW" altLang="en-US" dirty="0" smtClean="0">
                <a:cs typeface="+mj-cs"/>
              </a:rPr>
              <a:t> 大略與詳細之資訊系統開發階段</a:t>
            </a:r>
            <a:endParaRPr lang="en-US" altLang="zh-TW" dirty="0">
              <a:cs typeface="+mj-cs"/>
            </a:endParaRPr>
          </a:p>
        </p:txBody>
      </p:sp>
      <p:pic>
        <p:nvPicPr>
          <p:cNvPr id="9" name="圖片 8" descr="z-vb157d-t2-1.jpg"/>
          <p:cNvPicPr>
            <a:picLocks noChangeAspect="1"/>
          </p:cNvPicPr>
          <p:nvPr/>
        </p:nvPicPr>
        <p:blipFill>
          <a:blip r:embed="rId2" cstate="print"/>
          <a:srcRect l="3081" t="27143" r="4822" b="10571"/>
          <a:stretch>
            <a:fillRect/>
          </a:stretch>
        </p:blipFill>
        <p:spPr>
          <a:xfrm>
            <a:off x="428596" y="2428868"/>
            <a:ext cx="8368969" cy="192882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2-3 </a:t>
            </a:r>
            <a:r>
              <a:rPr lang="zh-TW" altLang="en-US" dirty="0" smtClean="0">
                <a:ea typeface="全真超特明" pitchFamily="49" charset="-120"/>
              </a:rPr>
              <a:t>十</a:t>
            </a:r>
            <a:r>
              <a:rPr lang="zh-TW" altLang="en-US" dirty="0" smtClean="0">
                <a:cs typeface="+mj-cs"/>
              </a:rPr>
              <a:t>階段</a:t>
            </a:r>
            <a:r>
              <a:rPr lang="zh-TW" altLang="en-US" dirty="0">
                <a:cs typeface="+mj-cs"/>
              </a:rPr>
              <a:t>之瀑布模式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2547938" y="1042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22535" name="Object 5"/>
          <p:cNvGraphicFramePr>
            <a:graphicFrameLocks noChangeAspect="1"/>
          </p:cNvGraphicFramePr>
          <p:nvPr/>
        </p:nvGraphicFramePr>
        <p:xfrm>
          <a:off x="1214438" y="1643063"/>
          <a:ext cx="6858000" cy="420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Visio" r:id="rId3" imgW="3758184" imgH="2304288" progId="">
                  <p:embed/>
                </p:oleObj>
              </mc:Choice>
              <mc:Fallback>
                <p:oleObj name="Visio" r:id="rId3" imgW="3758184" imgH="2304288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1643063"/>
                        <a:ext cx="6858000" cy="420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2-4 </a:t>
            </a:r>
            <a:r>
              <a:rPr lang="zh-TW" altLang="en-US" dirty="0">
                <a:cs typeface="+mj-cs"/>
              </a:rPr>
              <a:t>瀑布模式的系統開發</a:t>
            </a:r>
            <a:r>
              <a:rPr lang="zh-TW" altLang="en-US" dirty="0" smtClean="0">
                <a:cs typeface="+mj-cs"/>
              </a:rPr>
              <a:t>程序</a:t>
            </a:r>
            <a:r>
              <a:rPr lang="zh-TW" altLang="en-US" sz="4400" dirty="0" smtClean="0">
                <a:cs typeface="+mj-cs"/>
              </a:rPr>
              <a:t> </a:t>
            </a:r>
            <a:endParaRPr lang="zh-TW" altLang="en-US" sz="4400" dirty="0">
              <a:cs typeface="+mj-cs"/>
            </a:endParaRP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1938338" y="1504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pic>
        <p:nvPicPr>
          <p:cNvPr id="90" name="圖片 89" descr="z-vb157d-f2-4.jpg"/>
          <p:cNvPicPr>
            <a:picLocks noChangeAspect="1"/>
          </p:cNvPicPr>
          <p:nvPr/>
        </p:nvPicPr>
        <p:blipFill>
          <a:blip r:embed="rId2" cstate="print"/>
          <a:srcRect l="21887" t="17672" r="9068" b="4433"/>
          <a:stretch>
            <a:fillRect/>
          </a:stretch>
        </p:blipFill>
        <p:spPr>
          <a:xfrm>
            <a:off x="1847873" y="1502227"/>
            <a:ext cx="5867399" cy="483534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cs typeface="+mj-cs"/>
              </a:rPr>
              <a:t> </a:t>
            </a: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2-5 </a:t>
            </a:r>
            <a:r>
              <a:rPr lang="zh-TW" altLang="en-US" dirty="0">
                <a:cs typeface="+mj-cs"/>
              </a:rPr>
              <a:t>漸增模式</a:t>
            </a:r>
            <a:r>
              <a:rPr lang="zh-TW" altLang="en-US" dirty="0" smtClean="0">
                <a:cs typeface="+mj-cs"/>
              </a:rPr>
              <a:t>之系統開發程序</a:t>
            </a:r>
            <a:endParaRPr lang="zh-TW" altLang="en-US" dirty="0">
              <a:cs typeface="+mj-cs"/>
            </a:endParaRPr>
          </a:p>
        </p:txBody>
      </p:sp>
      <p:sp>
        <p:nvSpPr>
          <p:cNvPr id="27652" name="Rectangle 5"/>
          <p:cNvSpPr>
            <a:spLocks noChangeArrowheads="1"/>
          </p:cNvSpPr>
          <p:nvPr/>
        </p:nvSpPr>
        <p:spPr bwMode="auto">
          <a:xfrm>
            <a:off x="1938338" y="1924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pic>
        <p:nvPicPr>
          <p:cNvPr id="9" name="圖片 8" descr="z-vb157d-f2-5.jpg"/>
          <p:cNvPicPr>
            <a:picLocks noChangeAspect="1"/>
          </p:cNvPicPr>
          <p:nvPr/>
        </p:nvPicPr>
        <p:blipFill>
          <a:blip r:embed="rId2" cstate="print"/>
          <a:srcRect l="4187" t="13255" r="4577" b="3209"/>
          <a:stretch>
            <a:fillRect/>
          </a:stretch>
        </p:blipFill>
        <p:spPr>
          <a:xfrm>
            <a:off x="1146865" y="1524677"/>
            <a:ext cx="7068473" cy="477272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2-6 </a:t>
            </a:r>
            <a:r>
              <a:rPr lang="zh-TW" altLang="en-US" dirty="0">
                <a:cs typeface="+mj-cs"/>
              </a:rPr>
              <a:t>雛型模式</a:t>
            </a:r>
            <a:r>
              <a:rPr lang="zh-TW" altLang="en-US" dirty="0" smtClean="0">
                <a:cs typeface="+mj-cs"/>
              </a:rPr>
              <a:t>之系統開發</a:t>
            </a:r>
            <a:r>
              <a:rPr lang="zh-TW" altLang="en-US" dirty="0">
                <a:cs typeface="+mj-cs"/>
              </a:rPr>
              <a:t>程序及參與人員</a:t>
            </a:r>
            <a:endParaRPr lang="zh-TW" altLang="en-US" sz="3200" dirty="0">
              <a:cs typeface="+mj-cs"/>
            </a:endParaRP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2462213" y="495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pic>
        <p:nvPicPr>
          <p:cNvPr id="9" name="圖片 8" descr="z-vb157d-f2-6.jpg"/>
          <p:cNvPicPr>
            <a:picLocks noChangeAspect="1"/>
          </p:cNvPicPr>
          <p:nvPr/>
        </p:nvPicPr>
        <p:blipFill>
          <a:blip r:embed="rId2" cstate="print"/>
          <a:srcRect l="5454" t="31790" r="4287"/>
          <a:stretch>
            <a:fillRect/>
          </a:stretch>
        </p:blipFill>
        <p:spPr>
          <a:xfrm>
            <a:off x="298650" y="2769198"/>
            <a:ext cx="8631068" cy="21600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2-7 </a:t>
            </a:r>
            <a:r>
              <a:rPr lang="zh-TW" altLang="en-US" dirty="0">
                <a:cs typeface="+mj-cs"/>
              </a:rPr>
              <a:t>演進式雛型策略之系統開發</a:t>
            </a:r>
            <a:r>
              <a:rPr lang="zh-TW" altLang="en-US" dirty="0" smtClean="0">
                <a:cs typeface="+mj-cs"/>
              </a:rPr>
              <a:t>程序</a:t>
            </a:r>
            <a:endParaRPr lang="zh-TW" altLang="en-US" dirty="0">
              <a:cs typeface="+mj-cs"/>
            </a:endParaRP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1933575" y="561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35845" name="Object 1029"/>
          <p:cNvGraphicFramePr>
            <a:graphicFrameLocks noChangeAspect="1"/>
          </p:cNvGraphicFramePr>
          <p:nvPr/>
        </p:nvGraphicFramePr>
        <p:xfrm>
          <a:off x="1338266" y="1531745"/>
          <a:ext cx="7019948" cy="482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8" name="Photo Editor 影像" r:id="rId3" imgW="12088912" imgH="11019048" progId="">
                  <p:embed/>
                </p:oleObj>
              </mc:Choice>
              <mc:Fallback>
                <p:oleObj name="Photo Editor 影像" r:id="rId3" imgW="12088912" imgH="11019048" progId="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6" y="1531745"/>
                        <a:ext cx="7019948" cy="482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>
                <a:cs typeface="+mj-cs"/>
              </a:rPr>
              <a:t>圖 </a:t>
            </a:r>
            <a:r>
              <a:rPr lang="en-US" altLang="zh-TW">
                <a:cs typeface="+mj-cs"/>
              </a:rPr>
              <a:t>2-8 </a:t>
            </a:r>
            <a:r>
              <a:rPr lang="zh-TW" altLang="en-US">
                <a:cs typeface="+mj-cs"/>
              </a:rPr>
              <a:t>螺旋模式之開發程序</a:t>
            </a:r>
          </a:p>
        </p:txBody>
      </p:sp>
      <p:sp>
        <p:nvSpPr>
          <p:cNvPr id="39940" name="Rectangle 5"/>
          <p:cNvSpPr>
            <a:spLocks noChangeArrowheads="1"/>
          </p:cNvSpPr>
          <p:nvPr/>
        </p:nvSpPr>
        <p:spPr bwMode="auto">
          <a:xfrm>
            <a:off x="2286000" y="1600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3994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39942" name="Object 1"/>
          <p:cNvGraphicFramePr>
            <a:graphicFrameLocks noChangeAspect="1"/>
          </p:cNvGraphicFramePr>
          <p:nvPr/>
        </p:nvGraphicFramePr>
        <p:xfrm>
          <a:off x="1143000" y="1455759"/>
          <a:ext cx="6715125" cy="497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5" name="Visio" r:id="rId3" imgW="3816096" imgH="2827020" progId="">
                  <p:embed/>
                </p:oleObj>
              </mc:Choice>
              <mc:Fallback>
                <p:oleObj name="Visio" r:id="rId3" imgW="3816096" imgH="2827020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455759"/>
                        <a:ext cx="6715125" cy="4973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2-9 </a:t>
            </a:r>
            <a:r>
              <a:rPr lang="zh-TW" altLang="en-US" dirty="0">
                <a:cs typeface="+mj-cs"/>
              </a:rPr>
              <a:t>同步模式</a:t>
            </a:r>
            <a:r>
              <a:rPr lang="zh-TW" altLang="en-US" dirty="0" smtClean="0">
                <a:cs typeface="+mj-cs"/>
              </a:rPr>
              <a:t>之開發程序 </a:t>
            </a:r>
            <a:endParaRPr lang="zh-TW" altLang="en-US" dirty="0">
              <a:cs typeface="+mj-cs"/>
            </a:endParaRPr>
          </a:p>
        </p:txBody>
      </p:sp>
      <p:sp>
        <p:nvSpPr>
          <p:cNvPr id="48132" name="Rectangle 5"/>
          <p:cNvSpPr>
            <a:spLocks noChangeArrowheads="1"/>
          </p:cNvSpPr>
          <p:nvPr/>
        </p:nvSpPr>
        <p:spPr bwMode="auto">
          <a:xfrm>
            <a:off x="3033713" y="1066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48133" name="Object 7"/>
          <p:cNvGraphicFramePr>
            <a:graphicFrameLocks noChangeAspect="1"/>
          </p:cNvGraphicFramePr>
          <p:nvPr/>
        </p:nvGraphicFramePr>
        <p:xfrm>
          <a:off x="2714625" y="1423148"/>
          <a:ext cx="3769357" cy="52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6" r:id="rId3" imgW="2133600" imgH="3997960" progId="">
                  <p:embed/>
                </p:oleObj>
              </mc:Choice>
              <mc:Fallback>
                <p:oleObj r:id="rId3" imgW="2133600" imgH="399796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1423148"/>
                        <a:ext cx="3769357" cy="529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>
                <a:cs typeface="+mj-cs"/>
              </a:rPr>
              <a:t>2.6 </a:t>
            </a:r>
            <a:r>
              <a:rPr lang="zh-TW" altLang="en-US">
                <a:cs typeface="+mj-cs"/>
              </a:rPr>
              <a:t>同步模式 </a:t>
            </a:r>
            <a:r>
              <a:rPr lang="en-US" altLang="zh-TW">
                <a:cs typeface="+mj-cs"/>
              </a:rPr>
              <a:t>(c.4)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TW" altLang="en-US" dirty="0" smtClean="0"/>
              <a:t>同步模式的發展主要是為了因應商業套裝軟體的市場競爭。</a:t>
            </a:r>
            <a:endParaRPr lang="en-US" altLang="zh-TW" dirty="0" smtClean="0"/>
          </a:p>
          <a:p>
            <a:pPr eaLnBrk="1" hangingPunct="1">
              <a:spcBef>
                <a:spcPts val="600"/>
              </a:spcBef>
            </a:pPr>
            <a:r>
              <a:rPr lang="zh-TW" altLang="en-US" dirty="0" smtClean="0"/>
              <a:t>其優點是開發時間的縮短可提高產品的競爭力。</a:t>
            </a:r>
            <a:endParaRPr lang="en-US" altLang="zh-TW" dirty="0" smtClean="0"/>
          </a:p>
          <a:p>
            <a:pPr eaLnBrk="1" hangingPunct="1">
              <a:spcBef>
                <a:spcPts val="600"/>
              </a:spcBef>
            </a:pPr>
            <a:r>
              <a:rPr lang="zh-TW" altLang="en-US" dirty="0" smtClean="0"/>
              <a:t>其缺點則是緊湊的步驟及資訊溝通的頻繁，使得專案管理的複雜度大幅提高，人力成本也相對提高，若沒有輔以良好的工具及管理方法，則不易達成目標。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2-10 </a:t>
            </a:r>
            <a:r>
              <a:rPr lang="zh-TW" altLang="en-US" dirty="0">
                <a:cs typeface="+mj-cs"/>
              </a:rPr>
              <a:t>同步開發與循序開發</a:t>
            </a:r>
            <a:r>
              <a:rPr lang="zh-TW" altLang="en-US" dirty="0" smtClean="0">
                <a:cs typeface="+mj-cs"/>
              </a:rPr>
              <a:t>方法比較</a:t>
            </a:r>
            <a:endParaRPr lang="zh-TW" altLang="en-US" sz="2800" dirty="0">
              <a:cs typeface="+mj-cs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3603625" y="2609850"/>
            <a:ext cx="184150" cy="2143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zh-TW" altLang="zh-TW" sz="800"/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2290763" y="1619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0" y="15192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50183" name="Object 2"/>
          <p:cNvGraphicFramePr>
            <a:graphicFrameLocks noChangeAspect="1"/>
          </p:cNvGraphicFramePr>
          <p:nvPr/>
        </p:nvGraphicFramePr>
        <p:xfrm>
          <a:off x="857250" y="1357313"/>
          <a:ext cx="7416800" cy="511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6" name="Visio" r:id="rId3" imgW="3845052" imgH="3822192" progId="">
                  <p:embed/>
                </p:oleObj>
              </mc:Choice>
              <mc:Fallback>
                <p:oleObj name="Visio" r:id="rId3" imgW="3845052" imgH="382219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357313"/>
                        <a:ext cx="7416800" cy="5113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2-11 </a:t>
            </a:r>
            <a:r>
              <a:rPr lang="zh-TW" altLang="en-US" dirty="0">
                <a:cs typeface="+mj-cs"/>
              </a:rPr>
              <a:t>同步開發模式</a:t>
            </a:r>
            <a:endParaRPr lang="zh-TW" altLang="en-US" sz="4800" dirty="0">
              <a:cs typeface="+mj-cs"/>
            </a:endParaRPr>
          </a:p>
        </p:txBody>
      </p:sp>
      <p:sp>
        <p:nvSpPr>
          <p:cNvPr id="51204" name="Rectangle 1029"/>
          <p:cNvSpPr>
            <a:spLocks noChangeArrowheads="1"/>
          </p:cNvSpPr>
          <p:nvPr/>
        </p:nvSpPr>
        <p:spPr bwMode="auto">
          <a:xfrm>
            <a:off x="2000250" y="-95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51205" name="Rectangle 10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51206" name="Object 1045"/>
          <p:cNvGraphicFramePr>
            <a:graphicFrameLocks noChangeAspect="1"/>
          </p:cNvGraphicFramePr>
          <p:nvPr/>
        </p:nvGraphicFramePr>
        <p:xfrm>
          <a:off x="2768754" y="1389958"/>
          <a:ext cx="4160700" cy="49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9" r:id="rId3" imgW="4098036" imgH="6376416" progId="">
                  <p:embed/>
                </p:oleObj>
              </mc:Choice>
              <mc:Fallback>
                <p:oleObj r:id="rId3" imgW="4098036" imgH="6376416" progId="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754" y="1389958"/>
                        <a:ext cx="4160700" cy="49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圖</a:t>
            </a:r>
            <a:r>
              <a:rPr lang="en-US" altLang="zh-TW" dirty="0">
                <a:cs typeface="+mj-cs"/>
              </a:rPr>
              <a:t>2-12 RUP </a:t>
            </a:r>
            <a:r>
              <a:rPr lang="zh-TW" altLang="en-US" dirty="0" smtClean="0">
                <a:cs typeface="+mj-cs"/>
              </a:rPr>
              <a:t>模式之二維構</a:t>
            </a:r>
            <a:r>
              <a:rPr lang="zh-TW" altLang="en-US" dirty="0">
                <a:cs typeface="+mj-cs"/>
              </a:rPr>
              <a:t>面</a:t>
            </a:r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261" y="1497396"/>
            <a:ext cx="7905705" cy="49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17600" indent="-1117600" eaLnBrk="1" fontAlgn="auto" hangingPunct="1">
              <a:spcAft>
                <a:spcPts val="0"/>
              </a:spcAft>
              <a:defRPr/>
            </a:pPr>
            <a:r>
              <a:rPr lang="en-US" altLang="zh-TW" dirty="0" smtClean="0"/>
              <a:t>2.7 Rational </a:t>
            </a:r>
            <a:r>
              <a:rPr lang="zh-TW" altLang="en-US" dirty="0" smtClean="0"/>
              <a:t>統一流程模式 </a:t>
            </a:r>
            <a:r>
              <a:rPr lang="en-US" altLang="zh-TW" dirty="0" smtClean="0"/>
              <a:t>(c.4)</a:t>
            </a:r>
            <a:r>
              <a:rPr lang="zh-TW" altLang="en-US" dirty="0" smtClean="0"/>
              <a:t>─動態面</a:t>
            </a:r>
            <a:endParaRPr lang="zh-TW" altLang="en-US" sz="2800" b="1" dirty="0">
              <a:cs typeface="+mj-cs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4214810" y="1643050"/>
            <a:ext cx="4752000" cy="4284000"/>
            <a:chOff x="3663950" y="1901825"/>
            <a:chExt cx="5480050" cy="4416425"/>
          </a:xfrm>
        </p:grpSpPr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63950" y="1928813"/>
              <a:ext cx="5480050" cy="438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Oval 5"/>
            <p:cNvSpPr>
              <a:spLocks noChangeArrowheads="1"/>
            </p:cNvSpPr>
            <p:nvPr/>
          </p:nvSpPr>
          <p:spPr bwMode="auto">
            <a:xfrm>
              <a:off x="5602288" y="2544763"/>
              <a:ext cx="3359150" cy="642937"/>
            </a:xfrm>
            <a:prstGeom prst="ellipse">
              <a:avLst/>
            </a:prstGeom>
            <a:noFill/>
            <a:ln w="38100"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zh-TW" altLang="en-US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6477000" y="1901825"/>
              <a:ext cx="1511300" cy="428625"/>
            </a:xfrm>
            <a:prstGeom prst="rect">
              <a:avLst/>
            </a:prstGeom>
            <a:noFill/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zh-TW" altLang="en-US"/>
            </a:p>
          </p:txBody>
        </p:sp>
      </p:grpSp>
      <p:sp>
        <p:nvSpPr>
          <p:cNvPr id="52227" name="Rectangle 4"/>
          <p:cNvSpPr>
            <a:spLocks noGrp="1" noChangeArrowheads="1"/>
          </p:cNvSpPr>
          <p:nvPr>
            <p:ph idx="1"/>
          </p:nvPr>
        </p:nvSpPr>
        <p:spPr>
          <a:xfrm>
            <a:off x="214282" y="1438275"/>
            <a:ext cx="4071966" cy="4857750"/>
          </a:xfrm>
        </p:spPr>
        <p:txBody>
          <a:bodyPr/>
          <a:lstStyle/>
          <a:p>
            <a:pPr marL="190500" indent="-190500" eaLnBrk="1" hangingPunct="1">
              <a:defRPr/>
            </a:pPr>
            <a:r>
              <a:rPr lang="zh-TW" altLang="en-US" sz="2100" dirty="0" smtClean="0">
                <a:solidFill>
                  <a:srgbClr val="C00000"/>
                </a:solidFill>
              </a:rPr>
              <a:t>初始階段</a:t>
            </a:r>
            <a:r>
              <a:rPr lang="zh-TW" altLang="en-US" sz="2100" dirty="0" smtClean="0"/>
              <a:t>：建立</a:t>
            </a:r>
            <a:r>
              <a:rPr lang="zh-TW" altLang="zh-TW" sz="2100" dirty="0" smtClean="0"/>
              <a:t>系統需求與範圍</a:t>
            </a:r>
            <a:r>
              <a:rPr lang="zh-TW" altLang="en-US" sz="2100" dirty="0" smtClean="0"/>
              <a:t>、</a:t>
            </a:r>
            <a:r>
              <a:rPr lang="zh-TW" altLang="zh-TW" sz="2100" dirty="0" smtClean="0"/>
              <a:t>接受準則</a:t>
            </a:r>
            <a:r>
              <a:rPr lang="zh-TW" altLang="en-US" sz="2100" dirty="0" smtClean="0"/>
              <a:t>並</a:t>
            </a:r>
            <a:r>
              <a:rPr lang="zh-TW" altLang="zh-TW" sz="2100" dirty="0" smtClean="0"/>
              <a:t>評估整體風險</a:t>
            </a:r>
            <a:r>
              <a:rPr lang="zh-TW" altLang="en-US" sz="2100" dirty="0" smtClean="0"/>
              <a:t>、構想企業個案，取得參與人員認同。</a:t>
            </a:r>
          </a:p>
          <a:p>
            <a:pPr marL="190500" indent="-190500" eaLnBrk="1" hangingPunct="1">
              <a:defRPr/>
            </a:pPr>
            <a:r>
              <a:rPr lang="zh-TW" altLang="en-US" sz="2100" dirty="0" smtClean="0">
                <a:solidFill>
                  <a:srgbClr val="C00000"/>
                </a:solidFill>
              </a:rPr>
              <a:t>詳述階段</a:t>
            </a:r>
            <a:r>
              <a:rPr lang="zh-TW" altLang="en-US" sz="2100" dirty="0" smtClean="0"/>
              <a:t>：處理主要的技術工作與</a:t>
            </a:r>
            <a:r>
              <a:rPr lang="zh-TW" altLang="zh-TW" sz="2100" dirty="0" smtClean="0"/>
              <a:t>探討技術風險</a:t>
            </a:r>
            <a:r>
              <a:rPr lang="zh-TW" altLang="en-US" sz="2100" dirty="0" smtClean="0"/>
              <a:t>。</a:t>
            </a:r>
          </a:p>
          <a:p>
            <a:pPr marL="190500" indent="-190500" eaLnBrk="1" hangingPunct="1">
              <a:defRPr/>
            </a:pPr>
            <a:r>
              <a:rPr lang="zh-TW" altLang="en-US" sz="2100" dirty="0" smtClean="0">
                <a:solidFill>
                  <a:srgbClr val="C00000"/>
                </a:solidFill>
              </a:rPr>
              <a:t>建構階段</a:t>
            </a:r>
            <a:r>
              <a:rPr lang="zh-TW" altLang="en-US" sz="2100" dirty="0" smtClean="0"/>
              <a:t>：建構一初步可運作的系統版本，並演化為</a:t>
            </a:r>
            <a:r>
              <a:rPr lang="zh-TW" altLang="zh-TW" sz="2100" dirty="0" smtClean="0"/>
              <a:t>具有完整功能的系統版本</a:t>
            </a:r>
            <a:r>
              <a:rPr lang="zh-TW" altLang="en-US" sz="2100" dirty="0" smtClean="0"/>
              <a:t>。</a:t>
            </a:r>
          </a:p>
          <a:p>
            <a:pPr marL="190500" indent="-190500" eaLnBrk="1" hangingPunct="1">
              <a:defRPr/>
            </a:pPr>
            <a:r>
              <a:rPr lang="zh-TW" altLang="en-US" sz="2100" dirty="0" smtClean="0">
                <a:solidFill>
                  <a:srgbClr val="C00000"/>
                </a:solidFill>
              </a:rPr>
              <a:t>轉移階段</a:t>
            </a:r>
            <a:r>
              <a:rPr lang="zh-TW" altLang="en-US" sz="2100" dirty="0" smtClean="0"/>
              <a:t>：</a:t>
            </a:r>
            <a:r>
              <a:rPr lang="zh-TW" altLang="zh-TW" sz="2100" dirty="0" smtClean="0"/>
              <a:t>依使用者回饋</a:t>
            </a:r>
            <a:r>
              <a:rPr lang="zh-TW" altLang="en-US" sz="2100" dirty="0" smtClean="0"/>
              <a:t>調整後，將系統産品移交客戶使用。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17600" indent="-1117600" eaLnBrk="1" fontAlgn="auto" hangingPunct="1">
              <a:spcAft>
                <a:spcPts val="0"/>
              </a:spcAft>
              <a:defRPr/>
            </a:pPr>
            <a:r>
              <a:rPr lang="en-US" altLang="zh-TW" dirty="0" smtClean="0"/>
              <a:t>2.7 Rational </a:t>
            </a:r>
            <a:r>
              <a:rPr lang="zh-TW" altLang="en-US" dirty="0" smtClean="0"/>
              <a:t>統一流程模式 </a:t>
            </a:r>
            <a:r>
              <a:rPr lang="en-US" altLang="zh-TW" dirty="0" smtClean="0"/>
              <a:t>(c.5)</a:t>
            </a:r>
            <a:r>
              <a:rPr lang="zh-TW" altLang="en-US" dirty="0" smtClean="0"/>
              <a:t>─靜態面</a:t>
            </a:r>
            <a:endParaRPr lang="zh-TW" altLang="en-US" sz="2800" b="1" dirty="0">
              <a:cs typeface="+mj-cs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571472" y="1571612"/>
            <a:ext cx="8099425" cy="4737100"/>
            <a:chOff x="587375" y="1325563"/>
            <a:chExt cx="8099425" cy="4737100"/>
          </a:xfrm>
        </p:grpSpPr>
        <p:pic>
          <p:nvPicPr>
            <p:cNvPr id="56324" name="Picture 205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01675" y="1325563"/>
              <a:ext cx="7985125" cy="4737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388" name="Oval 2052"/>
            <p:cNvSpPr>
              <a:spLocks noChangeArrowheads="1"/>
            </p:cNvSpPr>
            <p:nvPr/>
          </p:nvSpPr>
          <p:spPr bwMode="auto">
            <a:xfrm>
              <a:off x="2173288" y="2089150"/>
              <a:ext cx="2333625" cy="3770313"/>
            </a:xfrm>
            <a:prstGeom prst="ellipse">
              <a:avLst/>
            </a:prstGeom>
            <a:noFill/>
            <a:ln w="38100"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zh-TW" altLang="en-US"/>
            </a:p>
          </p:txBody>
        </p:sp>
        <p:sp>
          <p:nvSpPr>
            <p:cNvPr id="144389" name="Rectangle 2053"/>
            <p:cNvSpPr>
              <a:spLocks noChangeArrowheads="1"/>
            </p:cNvSpPr>
            <p:nvPr/>
          </p:nvSpPr>
          <p:spPr bwMode="auto">
            <a:xfrm>
              <a:off x="587375" y="3359150"/>
              <a:ext cx="1549400" cy="708025"/>
            </a:xfrm>
            <a:prstGeom prst="rect">
              <a:avLst/>
            </a:prstGeom>
            <a:noFill/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zh-TW" altLang="en-US"/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zh-TW" dirty="0" smtClean="0"/>
              <a:t>圖</a:t>
            </a:r>
            <a:r>
              <a:rPr lang="en-US" altLang="zh-TW" dirty="0" smtClean="0"/>
              <a:t>2-14 MDA </a:t>
            </a:r>
            <a:r>
              <a:rPr lang="zh-TW" altLang="zh-TW" dirty="0" smtClean="0"/>
              <a:t>軟體發展生命週期</a:t>
            </a:r>
            <a:endParaRPr lang="zh-TW" altLang="en-US" dirty="0"/>
          </a:p>
        </p:txBody>
      </p:sp>
      <p:pic>
        <p:nvPicPr>
          <p:cNvPr id="8090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816" y="1423710"/>
            <a:ext cx="4939159" cy="52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 smtClean="0">
                <a:cs typeface="+mj-cs"/>
              </a:rPr>
              <a:t>圖</a:t>
            </a:r>
            <a:r>
              <a:rPr lang="en-US" altLang="zh-TW" dirty="0" smtClean="0">
                <a:cs typeface="+mj-cs"/>
              </a:rPr>
              <a:t>2-15 PIM</a:t>
            </a:r>
            <a:r>
              <a:rPr lang="zh-TW" altLang="en-US" dirty="0" smtClean="0">
                <a:cs typeface="+mj-cs"/>
              </a:rPr>
              <a:t> 轉</a:t>
            </a:r>
            <a:r>
              <a:rPr lang="en-US" altLang="zh-TW" dirty="0" smtClean="0">
                <a:cs typeface="+mj-cs"/>
              </a:rPr>
              <a:t>PSM </a:t>
            </a:r>
            <a:r>
              <a:rPr lang="zh-TW" altLang="en-US" dirty="0" smtClean="0">
                <a:cs typeface="+mj-cs"/>
              </a:rPr>
              <a:t>轉</a:t>
            </a:r>
            <a:r>
              <a:rPr lang="en-US" altLang="zh-TW" dirty="0" smtClean="0">
                <a:cs typeface="+mj-cs"/>
              </a:rPr>
              <a:t>code</a:t>
            </a:r>
            <a:endParaRPr lang="zh-TW" altLang="en-US" dirty="0">
              <a:cs typeface="+mj-cs"/>
            </a:endParaRPr>
          </a:p>
        </p:txBody>
      </p:sp>
      <p:pic>
        <p:nvPicPr>
          <p:cNvPr id="8499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3" y="1928812"/>
            <a:ext cx="8643998" cy="394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cs typeface="+mj-cs"/>
              </a:rPr>
              <a:t>2.9 MDA</a:t>
            </a:r>
            <a:r>
              <a:rPr lang="zh-TW" altLang="en-US" dirty="0" smtClean="0">
                <a:cs typeface="+mj-cs"/>
              </a:rPr>
              <a:t> 發展生命週期</a:t>
            </a:r>
            <a:r>
              <a:rPr lang="en-US" altLang="zh-TW" dirty="0" smtClean="0">
                <a:cs typeface="+mj-cs"/>
              </a:rPr>
              <a:t>(c.7)</a:t>
            </a:r>
            <a:endParaRPr lang="zh-TW" altLang="en-US" dirty="0">
              <a:cs typeface="+mj-cs"/>
            </a:endParaRPr>
          </a:p>
        </p:txBody>
      </p:sp>
      <p:sp>
        <p:nvSpPr>
          <p:cNvPr id="8601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 smtClean="0"/>
              <a:t>MDA </a:t>
            </a:r>
            <a:r>
              <a:rPr lang="zh-TW" altLang="en-US" b="1" dirty="0" smtClean="0"/>
              <a:t>轉換程序</a:t>
            </a:r>
            <a:endParaRPr lang="en-US" altLang="zh-TW" b="1" dirty="0" smtClean="0"/>
          </a:p>
          <a:p>
            <a:pPr lvl="1" eaLnBrk="1" hangingPunct="1"/>
            <a:r>
              <a:rPr lang="zh-TW" altLang="en-US" dirty="0" smtClean="0"/>
              <a:t>如圖</a:t>
            </a:r>
            <a:r>
              <a:rPr lang="en-US" altLang="zh-TW" dirty="0" smtClean="0"/>
              <a:t>2-15</a:t>
            </a:r>
          </a:p>
          <a:p>
            <a:pPr eaLnBrk="1" hangingPunct="1"/>
            <a:r>
              <a:rPr lang="en-US" altLang="zh-TW" dirty="0" smtClean="0"/>
              <a:t>MDA </a:t>
            </a:r>
            <a:r>
              <a:rPr lang="zh-TW" altLang="en-US" dirty="0" smtClean="0"/>
              <a:t>的每一個轉換（例如</a:t>
            </a:r>
            <a:r>
              <a:rPr lang="en-US" altLang="zh-TW" dirty="0" smtClean="0"/>
              <a:t>PIM→PSM</a:t>
            </a:r>
            <a:r>
              <a:rPr lang="zh-TW" altLang="en-US" dirty="0" smtClean="0"/>
              <a:t>，</a:t>
            </a:r>
            <a:r>
              <a:rPr lang="en-US" altLang="zh-TW" dirty="0" err="1" smtClean="0"/>
              <a:t>PSM→Code</a:t>
            </a:r>
            <a:r>
              <a:rPr lang="zh-TW" altLang="en-US" dirty="0" smtClean="0"/>
              <a:t>）須有清楚的轉換定義，且該轉換的工作是藉由</a:t>
            </a:r>
            <a:r>
              <a:rPr lang="en-US" altLang="zh-TW" dirty="0" smtClean="0"/>
              <a:t>CASE Tool </a:t>
            </a:r>
            <a:r>
              <a:rPr lang="zh-TW" altLang="en-US" dirty="0" smtClean="0"/>
              <a:t>來執行，也就是</a:t>
            </a:r>
            <a:r>
              <a:rPr lang="en-US" altLang="zh-TW" dirty="0" smtClean="0"/>
              <a:t>PIM </a:t>
            </a:r>
            <a:r>
              <a:rPr lang="zh-TW" altLang="en-US" dirty="0" smtClean="0"/>
              <a:t>可藉由</a:t>
            </a:r>
            <a:r>
              <a:rPr lang="en-US" altLang="zh-TW" dirty="0" smtClean="0"/>
              <a:t>CASE Tool </a:t>
            </a:r>
            <a:r>
              <a:rPr lang="zh-TW" altLang="en-US" dirty="0" smtClean="0"/>
              <a:t>轉換成</a:t>
            </a:r>
            <a:r>
              <a:rPr lang="en-US" altLang="zh-TW" dirty="0" smtClean="0"/>
              <a:t>PSM</a:t>
            </a:r>
            <a:r>
              <a:rPr lang="zh-TW" altLang="en-US" dirty="0" smtClean="0"/>
              <a:t>，再轉換成</a:t>
            </a:r>
            <a:r>
              <a:rPr lang="en-US" altLang="zh-TW" dirty="0" smtClean="0"/>
              <a:t>Code</a:t>
            </a:r>
            <a:r>
              <a:rPr lang="zh-TW" altLang="en-US" dirty="0" smtClean="0"/>
              <a:t>。</a:t>
            </a:r>
          </a:p>
        </p:txBody>
      </p:sp>
      <p:pic>
        <p:nvPicPr>
          <p:cNvPr id="8602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000503"/>
            <a:ext cx="7604800" cy="17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2" name="矩形 6"/>
          <p:cNvSpPr>
            <a:spLocks noChangeArrowheads="1"/>
          </p:cNvSpPr>
          <p:nvPr/>
        </p:nvSpPr>
        <p:spPr bwMode="auto">
          <a:xfrm>
            <a:off x="1714500" y="5929313"/>
            <a:ext cx="57864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TW" altLang="en-US"/>
              <a:t>圖</a:t>
            </a:r>
            <a:r>
              <a:rPr lang="en-US" altLang="zh-TW"/>
              <a:t>2-16 MDA </a:t>
            </a:r>
            <a:r>
              <a:rPr lang="zh-TW" altLang="en-US"/>
              <a:t>之三個主要模式與轉換步驟</a:t>
            </a:r>
          </a:p>
        </p:txBody>
      </p:sp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表</a:t>
            </a:r>
            <a:r>
              <a:rPr lang="en-US" altLang="zh-TW" dirty="0">
                <a:cs typeface="+mj-cs"/>
              </a:rPr>
              <a:t>2-3 </a:t>
            </a:r>
            <a:r>
              <a:rPr lang="zh-TW" altLang="en-US" dirty="0" smtClean="0">
                <a:cs typeface="+mj-cs"/>
              </a:rPr>
              <a:t>八種系統</a:t>
            </a:r>
            <a:r>
              <a:rPr lang="zh-TW" altLang="en-US" dirty="0">
                <a:cs typeface="+mj-cs"/>
              </a:rPr>
              <a:t>開發模式之</a:t>
            </a:r>
            <a:r>
              <a:rPr lang="zh-TW" altLang="en-US" dirty="0" smtClean="0">
                <a:cs typeface="+mj-cs"/>
              </a:rPr>
              <a:t>比較</a:t>
            </a:r>
            <a:r>
              <a:rPr lang="en-US" altLang="zh-TW" dirty="0" smtClean="0">
                <a:cs typeface="+mj-cs"/>
              </a:rPr>
              <a:t>(c.1)</a:t>
            </a:r>
            <a:endParaRPr lang="zh-TW" altLang="en-US" dirty="0">
              <a:cs typeface="+mj-cs"/>
            </a:endParaRPr>
          </a:p>
        </p:txBody>
      </p:sp>
      <p:pic>
        <p:nvPicPr>
          <p:cNvPr id="7" name="圖片 6" descr="z-vb157d-t2-3.jpg"/>
          <p:cNvPicPr>
            <a:picLocks noChangeAspect="1"/>
          </p:cNvPicPr>
          <p:nvPr/>
        </p:nvPicPr>
        <p:blipFill>
          <a:blip r:embed="rId2" cstate="print"/>
          <a:srcRect t="10212" b="3337"/>
          <a:stretch>
            <a:fillRect/>
          </a:stretch>
        </p:blipFill>
        <p:spPr>
          <a:xfrm>
            <a:off x="1781181" y="1447799"/>
            <a:ext cx="6085393" cy="49680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cs typeface="+mj-cs"/>
              </a:rPr>
              <a:t>表</a:t>
            </a:r>
            <a:r>
              <a:rPr lang="en-US" altLang="zh-TW" dirty="0">
                <a:cs typeface="+mj-cs"/>
              </a:rPr>
              <a:t>2-3 </a:t>
            </a:r>
            <a:r>
              <a:rPr lang="zh-TW" altLang="en-US" dirty="0" smtClean="0">
                <a:cs typeface="+mj-cs"/>
              </a:rPr>
              <a:t>八種系統</a:t>
            </a:r>
            <a:r>
              <a:rPr lang="zh-TW" altLang="en-US" dirty="0">
                <a:cs typeface="+mj-cs"/>
              </a:rPr>
              <a:t>開發模式之</a:t>
            </a:r>
            <a:r>
              <a:rPr lang="zh-TW" altLang="en-US" dirty="0" smtClean="0">
                <a:cs typeface="+mj-cs"/>
              </a:rPr>
              <a:t>比較</a:t>
            </a:r>
            <a:r>
              <a:rPr lang="en-US" altLang="zh-TW" dirty="0" smtClean="0">
                <a:cs typeface="+mj-cs"/>
              </a:rPr>
              <a:t>(c.2)</a:t>
            </a:r>
            <a:endParaRPr lang="zh-TW" altLang="en-US" dirty="0">
              <a:cs typeface="+mj-cs"/>
            </a:endParaRPr>
          </a:p>
        </p:txBody>
      </p:sp>
      <p:pic>
        <p:nvPicPr>
          <p:cNvPr id="4" name="圖片 3" descr="z-vb157d-t2-3-1.jpg"/>
          <p:cNvPicPr>
            <a:picLocks noChangeAspect="1"/>
          </p:cNvPicPr>
          <p:nvPr/>
        </p:nvPicPr>
        <p:blipFill>
          <a:blip r:embed="rId2" cstate="print"/>
          <a:srcRect t="11131" b="3602"/>
          <a:stretch>
            <a:fillRect/>
          </a:stretch>
        </p:blipFill>
        <p:spPr>
          <a:xfrm>
            <a:off x="1736486" y="1459362"/>
            <a:ext cx="5993920" cy="48960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theme/theme1.xml><?xml version="1.0" encoding="utf-8"?>
<a:theme xmlns:a="http://schemas.openxmlformats.org/drawingml/2006/main" name="2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2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3600" tIns="46800" rIns="936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3600" tIns="46800" rIns="936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</a:objectDefaults>
  <a:extraClrSchemeLst>
    <a:extraClrScheme>
      <a:clrScheme name="2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ch01</Template>
  <TotalTime>1356</TotalTime>
  <Words>413</Words>
  <Application>Microsoft Office PowerPoint</Application>
  <PresentationFormat>如螢幕大小 (4:3)</PresentationFormat>
  <Paragraphs>53</Paragraphs>
  <Slides>24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24</vt:i4>
      </vt:variant>
    </vt:vector>
  </HeadingPairs>
  <TitlesOfParts>
    <vt:vector size="27" baseType="lpstr">
      <vt:lpstr>2_ch01 網際網路基礎</vt:lpstr>
      <vt:lpstr>Visio</vt:lpstr>
      <vt:lpstr>Photo Editor 影像</vt:lpstr>
      <vt:lpstr>第二章 資訊系統開發模式</vt:lpstr>
      <vt:lpstr>內容大綱</vt:lpstr>
      <vt:lpstr>學習目標</vt:lpstr>
      <vt:lpstr>圖2-1 資訊系統開發模式之演進</vt:lpstr>
      <vt:lpstr>圖2-2 三個階段之瀑布模式</vt:lpstr>
      <vt:lpstr>表2-1 大略與詳細之資訊系統開發階段</vt:lpstr>
      <vt:lpstr>圖2-3 十階段之瀑布模式</vt:lpstr>
      <vt:lpstr>圖2-4 瀑布模式的系統開發程序 </vt:lpstr>
      <vt:lpstr> 圖2-5 漸增模式之系統開發程序</vt:lpstr>
      <vt:lpstr>圖2-6 雛型模式之系統開發程序及參與人員</vt:lpstr>
      <vt:lpstr>圖2-7 演進式雛型策略之系統開發程序</vt:lpstr>
      <vt:lpstr>圖 2-8 螺旋模式之開發程序</vt:lpstr>
      <vt:lpstr>圖2-9 同步模式之開發程序 </vt:lpstr>
      <vt:lpstr>2.6 同步模式 (c.4)</vt:lpstr>
      <vt:lpstr>圖2-10 同步開發與循序開發方法比較</vt:lpstr>
      <vt:lpstr>圖2-11 同步開發模式</vt:lpstr>
      <vt:lpstr>圖2-12 RUP 模式之二維構面</vt:lpstr>
      <vt:lpstr>2.7 Rational 統一流程模式 (c.4)─動態面</vt:lpstr>
      <vt:lpstr>2.7 Rational 統一流程模式 (c.5)─靜態面</vt:lpstr>
      <vt:lpstr>圖2-14 MDA 軟體發展生命週期</vt:lpstr>
      <vt:lpstr>圖2-15 PIM 轉PSM 轉code</vt:lpstr>
      <vt:lpstr>2.9 MDA 發展生命週期(c.7)</vt:lpstr>
      <vt:lpstr>表2-3 八種系統開發模式之比較(c.1)</vt:lpstr>
      <vt:lpstr>表2-3 八種系統開發模式之比較(c.2)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系統開發</dc:title>
  <dc:creator>handsome</dc:creator>
  <cp:lastModifiedBy>user</cp:lastModifiedBy>
  <cp:revision>230</cp:revision>
  <dcterms:created xsi:type="dcterms:W3CDTF">1999-12-17T09:48:20Z</dcterms:created>
  <dcterms:modified xsi:type="dcterms:W3CDTF">2020-04-20T02:38:39Z</dcterms:modified>
</cp:coreProperties>
</file>