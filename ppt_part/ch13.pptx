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3" r:id="rId1"/>
    <p:sldMasterId id="2147483855" r:id="rId2"/>
  </p:sldMasterIdLst>
  <p:notesMasterIdLst>
    <p:notesMasterId r:id="rId25"/>
  </p:notesMasterIdLst>
  <p:handoutMasterIdLst>
    <p:handoutMasterId r:id="rId26"/>
  </p:handoutMasterIdLst>
  <p:sldIdLst>
    <p:sldId id="256" r:id="rId3"/>
    <p:sldId id="257" r:id="rId4"/>
    <p:sldId id="258" r:id="rId5"/>
    <p:sldId id="263" r:id="rId6"/>
    <p:sldId id="358" r:id="rId7"/>
    <p:sldId id="359" r:id="rId8"/>
    <p:sldId id="361" r:id="rId9"/>
    <p:sldId id="417" r:id="rId10"/>
    <p:sldId id="365" r:id="rId11"/>
    <p:sldId id="366" r:id="rId12"/>
    <p:sldId id="367" r:id="rId13"/>
    <p:sldId id="415" r:id="rId14"/>
    <p:sldId id="418" r:id="rId15"/>
    <p:sldId id="372" r:id="rId16"/>
    <p:sldId id="375" r:id="rId17"/>
    <p:sldId id="419" r:id="rId18"/>
    <p:sldId id="332" r:id="rId19"/>
    <p:sldId id="376" r:id="rId20"/>
    <p:sldId id="385" r:id="rId21"/>
    <p:sldId id="420" r:id="rId22"/>
    <p:sldId id="422" r:id="rId23"/>
    <p:sldId id="392" r:id="rId24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honburi"/>
        <a:ea typeface="微軟正黑體" pitchFamily="34" charset="-120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honburi"/>
        <a:ea typeface="微軟正黑體" pitchFamily="34" charset="-120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honburi"/>
        <a:ea typeface="微軟正黑體" pitchFamily="34" charset="-120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honburi"/>
        <a:ea typeface="微軟正黑體" pitchFamily="34" charset="-120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honburi"/>
        <a:ea typeface="微軟正黑體" pitchFamily="34" charset="-120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honburi"/>
        <a:ea typeface="微軟正黑體" pitchFamily="34" charset="-120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honburi"/>
        <a:ea typeface="微軟正黑體" pitchFamily="34" charset="-120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honburi"/>
        <a:ea typeface="微軟正黑體" pitchFamily="34" charset="-120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honburi"/>
        <a:ea typeface="微軟正黑體" pitchFamily="34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20879" autoAdjust="0"/>
    <p:restoredTop sz="98302" autoAdjust="0"/>
  </p:normalViewPr>
  <p:slideViewPr>
    <p:cSldViewPr>
      <p:cViewPr>
        <p:scale>
          <a:sx n="100" d="100"/>
          <a:sy n="100" d="100"/>
        </p:scale>
        <p:origin x="-894" y="-2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44387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44388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44389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E2A305DA-2FBE-4DCE-9C6E-59F62E5458E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555850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14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07C46D41-C7DD-46C9-8544-D87E45D07AC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081905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/>
          </a:p>
        </p:txBody>
      </p:sp>
      <p:sp>
        <p:nvSpPr>
          <p:cNvPr id="62468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9pPr>
          </a:lstStyle>
          <a:p>
            <a:fld id="{05E799BB-AFC6-4C6E-AF83-9B33C12A009A}" type="slidenum">
              <a:rPr lang="en-US" altLang="zh-TW"/>
              <a:pPr/>
              <a:t>1</a:t>
            </a:fld>
            <a:endParaRPr lang="en-US" altLang="zh-TW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資訊科技_bg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8575" y="3875088"/>
            <a:ext cx="6651625" cy="10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250825" y="0"/>
            <a:ext cx="446881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rIns="0" anchor="ctr"/>
          <a:lstStyle>
            <a:lvl1pPr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9pPr>
          </a:lstStyle>
          <a:p>
            <a:pPr defTabSz="914400"/>
            <a:r>
              <a:rPr kumimoji="1" lang="zh-TW" altLang="en-US" sz="1600">
                <a:latin typeface="Arial" pitchFamily="34" charset="0"/>
                <a:ea typeface="新細明體" pitchFamily="18" charset="-120"/>
              </a:rPr>
              <a:t>系統分析與設計</a:t>
            </a:r>
            <a:r>
              <a:rPr kumimoji="1" lang="zh-TW" altLang="en-US" sz="1200">
                <a:latin typeface="Arial" pitchFamily="34" charset="0"/>
                <a:ea typeface="新細明體" pitchFamily="18" charset="-120"/>
              </a:rPr>
              <a:t>理論與實務應用(七版)   吳仁和、林信惠 著</a:t>
            </a:r>
          </a:p>
        </p:txBody>
      </p:sp>
      <p:sp>
        <p:nvSpPr>
          <p:cNvPr id="5" name="Text Box 4"/>
          <p:cNvSpPr txBox="1">
            <a:spLocks noChangeArrowheads="1"/>
          </p:cNvSpPr>
          <p:nvPr userDrawn="1"/>
        </p:nvSpPr>
        <p:spPr bwMode="auto">
          <a:xfrm>
            <a:off x="6011863" y="0"/>
            <a:ext cx="2879725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9pPr>
          </a:lstStyle>
          <a:p>
            <a:pPr algn="r"/>
            <a:r>
              <a:rPr kumimoji="1" lang="en-US" altLang="zh-TW" sz="1400">
                <a:latin typeface="Times New Roman" pitchFamily="18" charset="0"/>
                <a:ea typeface="華康特粗明體" pitchFamily="49" charset="-120"/>
              </a:rPr>
              <a:t>ISBN 9789575113094</a:t>
            </a:r>
          </a:p>
        </p:txBody>
      </p:sp>
      <p:sp>
        <p:nvSpPr>
          <p:cNvPr id="87042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250825" y="2974975"/>
            <a:ext cx="8637588" cy="900113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zh-TW" altLang="en-US" noProof="0" smtClean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587911592"/>
      </p:ext>
    </p:extLst>
  </p:cSld>
  <p:clrMapOvr>
    <a:masterClrMapping/>
  </p:clrMapOvr>
  <p:transition spd="med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3960680"/>
      </p:ext>
    </p:extLst>
  </p:cSld>
  <p:clrMapOvr>
    <a:masterClrMapping/>
  </p:clrMapOvr>
  <p:transition spd="med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542009511"/>
      </p:ext>
    </p:extLst>
  </p:cSld>
  <p:clrMapOvr>
    <a:masterClrMapping/>
  </p:clrMapOvr>
  <p:transition spd="med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719138" y="1438275"/>
            <a:ext cx="3971925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43463" y="1438275"/>
            <a:ext cx="3973512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6031344"/>
      </p:ext>
    </p:extLst>
  </p:cSld>
  <p:clrMapOvr>
    <a:masterClrMapping/>
  </p:clrMapOvr>
  <p:transition spd="med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5263799"/>
      </p:ext>
    </p:extLst>
  </p:cSld>
  <p:clrMapOvr>
    <a:masterClrMapping/>
  </p:clrMapOvr>
  <p:transition spd="med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280527"/>
      </p:ext>
    </p:extLst>
  </p:cSld>
  <p:clrMapOvr>
    <a:masterClrMapping/>
  </p:clrMapOvr>
  <p:transition spd="med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2180327"/>
      </p:ext>
    </p:extLst>
  </p:cSld>
  <p:clrMapOvr>
    <a:masterClrMapping/>
  </p:clrMapOvr>
  <p:transition spd="med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099550013"/>
      </p:ext>
    </p:extLst>
  </p:cSld>
  <p:clrMapOvr>
    <a:masterClrMapping/>
  </p:clrMapOvr>
  <p:transition spd="med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28673758"/>
      </p:ext>
    </p:extLst>
  </p:cSld>
  <p:clrMapOvr>
    <a:masterClrMapping/>
  </p:clrMapOvr>
  <p:transition spd="med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3019949"/>
      </p:ext>
    </p:extLst>
  </p:cSld>
  <p:clrMapOvr>
    <a:masterClrMapping/>
  </p:clrMapOvr>
  <p:transition spd="med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92913" y="449263"/>
            <a:ext cx="2024062" cy="5846762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719138" y="449263"/>
            <a:ext cx="5921375" cy="5846762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64882"/>
      </p:ext>
    </p:extLst>
  </p:cSld>
  <p:clrMapOvr>
    <a:masterClrMapping/>
  </p:clrMapOvr>
  <p:transition spd="med"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標題及文字在物件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79500" y="449263"/>
            <a:ext cx="7377113" cy="900112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719138" y="1438275"/>
            <a:ext cx="8097837" cy="2352675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719138" y="3943350"/>
            <a:ext cx="8097837" cy="2352675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0988954"/>
      </p:ext>
    </p:extLst>
  </p:cSld>
  <p:clrMapOvr>
    <a:masterClrMapping/>
  </p:clrMapOvr>
  <p:transition spd="med"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4727511"/>
      </p:ext>
    </p:extLst>
  </p:cSld>
  <p:clrMapOvr>
    <a:masterClrMapping/>
  </p:clrMapOvr>
  <p:transition spd="med">
    <p:rand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3445772"/>
      </p:ext>
    </p:extLst>
  </p:cSld>
  <p:clrMapOvr>
    <a:masterClrMapping/>
  </p:clrMapOvr>
  <p:transition spd="med">
    <p:rand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440933222"/>
      </p:ext>
    </p:extLst>
  </p:cSld>
  <p:clrMapOvr>
    <a:masterClrMapping/>
  </p:clrMapOvr>
  <p:transition spd="med">
    <p:random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719138" y="1438275"/>
            <a:ext cx="3971925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43463" y="1438275"/>
            <a:ext cx="3973512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5091711"/>
      </p:ext>
    </p:extLst>
  </p:cSld>
  <p:clrMapOvr>
    <a:masterClrMapping/>
  </p:clrMapOvr>
  <p:transition spd="med">
    <p:random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131060"/>
      </p:ext>
    </p:extLst>
  </p:cSld>
  <p:clrMapOvr>
    <a:masterClrMapping/>
  </p:clrMapOvr>
  <p:transition spd="med">
    <p:random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2654645"/>
      </p:ext>
    </p:extLst>
  </p:cSld>
  <p:clrMapOvr>
    <a:masterClrMapping/>
  </p:clrMapOvr>
  <p:transition spd="med">
    <p:random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2789554"/>
      </p:ext>
    </p:extLst>
  </p:cSld>
  <p:clrMapOvr>
    <a:masterClrMapping/>
  </p:clrMapOvr>
  <p:transition spd="med">
    <p:random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658896325"/>
      </p:ext>
    </p:extLst>
  </p:cSld>
  <p:clrMapOvr>
    <a:masterClrMapping/>
  </p:clrMapOvr>
  <p:transition spd="med">
    <p:random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235707558"/>
      </p:ext>
    </p:extLst>
  </p:cSld>
  <p:clrMapOvr>
    <a:masterClrMapping/>
  </p:clrMapOvr>
  <p:transition spd="med">
    <p:random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5669779"/>
      </p:ext>
    </p:extLst>
  </p:cSld>
  <p:clrMapOvr>
    <a:masterClrMapping/>
  </p:clrMapOvr>
  <p:transition spd="med">
    <p:random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92913" y="449263"/>
            <a:ext cx="2024062" cy="5846762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719138" y="449263"/>
            <a:ext cx="5921375" cy="5846762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4717908"/>
      </p:ext>
    </p:extLst>
  </p:cSld>
  <p:clrMapOvr>
    <a:masterClrMapping/>
  </p:clrMapOvr>
  <p:transition spd="med"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9500" y="449263"/>
            <a:ext cx="7377113" cy="900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9138" y="1438275"/>
            <a:ext cx="8097837" cy="485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按一下以編輯母片本文樣式</a:t>
            </a:r>
          </a:p>
          <a:p>
            <a:pPr lvl="1"/>
            <a:r>
              <a:rPr lang="zh-TW" altLang="en-US" smtClean="0"/>
              <a:t>第二階層</a:t>
            </a:r>
          </a:p>
          <a:p>
            <a:pPr lvl="2"/>
            <a:r>
              <a:rPr lang="zh-TW" altLang="en-US" smtClean="0"/>
              <a:t>第三階層</a:t>
            </a:r>
          </a:p>
          <a:p>
            <a:pPr lvl="3"/>
            <a:r>
              <a:rPr lang="zh-TW" altLang="en-US" smtClean="0"/>
              <a:t>第四階層</a:t>
            </a:r>
          </a:p>
          <a:p>
            <a:pPr lvl="4"/>
            <a:r>
              <a:rPr lang="zh-TW" altLang="en-US" smtClean="0"/>
              <a:t>第五階層</a:t>
            </a:r>
          </a:p>
        </p:txBody>
      </p:sp>
      <p:pic>
        <p:nvPicPr>
          <p:cNvPr id="1028" name="Picture 4" descr="資訊科技_bg2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038" y="1349375"/>
            <a:ext cx="6651625" cy="10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9" name="Text Box 5"/>
          <p:cNvSpPr txBox="1">
            <a:spLocks noChangeArrowheads="1"/>
          </p:cNvSpPr>
          <p:nvPr/>
        </p:nvSpPr>
        <p:spPr bwMode="auto">
          <a:xfrm>
            <a:off x="250825" y="0"/>
            <a:ext cx="446881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rIns="0" anchor="ctr"/>
          <a:lstStyle>
            <a:lvl1pPr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9pPr>
          </a:lstStyle>
          <a:p>
            <a:pPr defTabSz="914400"/>
            <a:r>
              <a:rPr kumimoji="1" lang="zh-TW" altLang="en-US" sz="1600">
                <a:latin typeface="Arial" pitchFamily="34" charset="0"/>
                <a:ea typeface="新細明體" pitchFamily="18" charset="-120"/>
              </a:rPr>
              <a:t>系統分析與設計</a:t>
            </a:r>
            <a:r>
              <a:rPr kumimoji="1" lang="zh-TW" altLang="en-US" sz="1200">
                <a:latin typeface="Arial" pitchFamily="34" charset="0"/>
                <a:ea typeface="新細明體" pitchFamily="18" charset="-120"/>
              </a:rPr>
              <a:t>理論與實務應用(七版)   吳仁和、林信惠 著</a:t>
            </a:r>
          </a:p>
        </p:txBody>
      </p:sp>
      <p:sp>
        <p:nvSpPr>
          <p:cNvPr id="1030" name="Text Box 4"/>
          <p:cNvSpPr txBox="1">
            <a:spLocks noChangeArrowheads="1"/>
          </p:cNvSpPr>
          <p:nvPr userDrawn="1"/>
        </p:nvSpPr>
        <p:spPr bwMode="auto">
          <a:xfrm>
            <a:off x="6011863" y="0"/>
            <a:ext cx="2879725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9pPr>
          </a:lstStyle>
          <a:p>
            <a:pPr algn="r"/>
            <a:r>
              <a:rPr kumimoji="1" lang="en-US" altLang="zh-TW" sz="1400">
                <a:latin typeface="Times New Roman" pitchFamily="18" charset="0"/>
                <a:ea typeface="華康特粗明體" pitchFamily="49" charset="-120"/>
              </a:rPr>
              <a:t>ISBN 9789575113094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901" r:id="rId1"/>
    <p:sldLayoutId id="2147483879" r:id="rId2"/>
    <p:sldLayoutId id="2147483880" r:id="rId3"/>
    <p:sldLayoutId id="2147483881" r:id="rId4"/>
    <p:sldLayoutId id="2147483882" r:id="rId5"/>
    <p:sldLayoutId id="2147483883" r:id="rId6"/>
    <p:sldLayoutId id="2147483884" r:id="rId7"/>
    <p:sldLayoutId id="2147483885" r:id="rId8"/>
    <p:sldLayoutId id="2147483886" r:id="rId9"/>
    <p:sldLayoutId id="2147483887" r:id="rId10"/>
    <p:sldLayoutId id="2147483888" r:id="rId11"/>
    <p:sldLayoutId id="2147483889" r:id="rId12"/>
  </p:sldLayoutIdLst>
  <p:transition spd="med">
    <p:random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5pPr>
      <a:lvl6pPr marL="457200" algn="ctr" rtl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6pPr>
      <a:lvl7pPr marL="914400" algn="ctr" rtl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7pPr>
      <a:lvl8pPr marL="1371600" algn="ctr" rtl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8pPr>
      <a:lvl9pPr marL="1828800" algn="ctr" rtl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9pPr>
    </p:titleStyle>
    <p:bodyStyle>
      <a:lvl1pPr marL="342900" indent="-3429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q"/>
        <a:defRPr kumimoji="1" sz="22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l"/>
        <a:defRPr kumimoji="1" sz="2200">
          <a:solidFill>
            <a:schemeClr val="bg2"/>
          </a:solidFill>
          <a:latin typeface="+mn-lt"/>
          <a:ea typeface="+mn-ea"/>
        </a:defRPr>
      </a:lvl2pPr>
      <a:lvl3pPr marL="11430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–"/>
        <a:defRPr kumimoji="1" sz="2200">
          <a:solidFill>
            <a:schemeClr val="bg2"/>
          </a:solidFill>
          <a:latin typeface="+mn-lt"/>
          <a:ea typeface="+mn-ea"/>
        </a:defRPr>
      </a:lvl3pPr>
      <a:lvl4pPr marL="16002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§"/>
        <a:defRPr kumimoji="1" sz="2200">
          <a:solidFill>
            <a:schemeClr val="bg2"/>
          </a:solidFill>
          <a:latin typeface="+mn-lt"/>
          <a:ea typeface="+mn-ea"/>
        </a:defRPr>
      </a:lvl4pPr>
      <a:lvl5pPr marL="20574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5pPr>
      <a:lvl6pPr marL="2514600" indent="-228600" algn="just" rtl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6pPr>
      <a:lvl7pPr marL="2971800" indent="-228600" algn="just" rtl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7pPr>
      <a:lvl8pPr marL="3429000" indent="-228600" algn="just" rtl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8pPr>
      <a:lvl9pPr marL="3886200" indent="-228600" algn="just" rtl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9500" y="449263"/>
            <a:ext cx="737711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9138" y="1438275"/>
            <a:ext cx="8097837" cy="485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按一下以編輯母片本文樣式</a:t>
            </a:r>
          </a:p>
          <a:p>
            <a:pPr lvl="1"/>
            <a:r>
              <a:rPr lang="zh-TW" altLang="en-US" smtClean="0"/>
              <a:t>第二階層</a:t>
            </a:r>
          </a:p>
          <a:p>
            <a:pPr lvl="2"/>
            <a:r>
              <a:rPr lang="zh-TW" altLang="en-US" smtClean="0"/>
              <a:t>第三階層</a:t>
            </a:r>
          </a:p>
          <a:p>
            <a:pPr lvl="3"/>
            <a:r>
              <a:rPr lang="zh-TW" altLang="en-US" smtClean="0"/>
              <a:t>第四階層</a:t>
            </a:r>
          </a:p>
          <a:p>
            <a:pPr lvl="4"/>
            <a:r>
              <a:rPr lang="zh-TW" altLang="en-US" smtClean="0"/>
              <a:t>第五階層</a:t>
            </a:r>
          </a:p>
        </p:txBody>
      </p:sp>
      <p:pic>
        <p:nvPicPr>
          <p:cNvPr id="2052" name="Picture 6" descr="資訊科技_bg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038" y="1349375"/>
            <a:ext cx="6651625" cy="10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3" name="Text Box 5"/>
          <p:cNvSpPr txBox="1">
            <a:spLocks noChangeArrowheads="1"/>
          </p:cNvSpPr>
          <p:nvPr/>
        </p:nvSpPr>
        <p:spPr bwMode="auto">
          <a:xfrm>
            <a:off x="250825" y="0"/>
            <a:ext cx="446881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rIns="0" anchor="ctr"/>
          <a:lstStyle>
            <a:lvl1pPr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9pPr>
          </a:lstStyle>
          <a:p>
            <a:pPr defTabSz="914400"/>
            <a:r>
              <a:rPr kumimoji="1" lang="zh-TW" altLang="en-US" sz="1600">
                <a:latin typeface="Arial" pitchFamily="34" charset="0"/>
                <a:ea typeface="新細明體" pitchFamily="18" charset="-120"/>
              </a:rPr>
              <a:t>系統分析與設計</a:t>
            </a:r>
            <a:r>
              <a:rPr kumimoji="1" lang="zh-TW" altLang="en-US" sz="1200">
                <a:latin typeface="Arial" pitchFamily="34" charset="0"/>
                <a:ea typeface="新細明體" pitchFamily="18" charset="-120"/>
              </a:rPr>
              <a:t>理論與實務應用(七版)   吳仁和、林信惠 著</a:t>
            </a:r>
          </a:p>
        </p:txBody>
      </p:sp>
      <p:sp>
        <p:nvSpPr>
          <p:cNvPr id="2054" name="Text Box 4"/>
          <p:cNvSpPr txBox="1">
            <a:spLocks noChangeArrowheads="1"/>
          </p:cNvSpPr>
          <p:nvPr userDrawn="1"/>
        </p:nvSpPr>
        <p:spPr bwMode="auto">
          <a:xfrm>
            <a:off x="6011863" y="0"/>
            <a:ext cx="2879725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9pPr>
          </a:lstStyle>
          <a:p>
            <a:pPr algn="r"/>
            <a:r>
              <a:rPr kumimoji="1" lang="en-US" altLang="zh-TW" sz="1400">
                <a:latin typeface="Times New Roman" pitchFamily="18" charset="0"/>
                <a:ea typeface="華康特粗明體" pitchFamily="49" charset="-120"/>
              </a:rPr>
              <a:t>ISBN 9789575113094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90" r:id="rId1"/>
    <p:sldLayoutId id="2147483891" r:id="rId2"/>
    <p:sldLayoutId id="2147483892" r:id="rId3"/>
    <p:sldLayoutId id="2147483893" r:id="rId4"/>
    <p:sldLayoutId id="2147483894" r:id="rId5"/>
    <p:sldLayoutId id="2147483895" r:id="rId6"/>
    <p:sldLayoutId id="2147483896" r:id="rId7"/>
    <p:sldLayoutId id="2147483897" r:id="rId8"/>
    <p:sldLayoutId id="2147483898" r:id="rId9"/>
    <p:sldLayoutId id="2147483899" r:id="rId10"/>
    <p:sldLayoutId id="2147483900" r:id="rId11"/>
  </p:sldLayoutIdLst>
  <p:transition spd="med">
    <p:random/>
  </p:transition>
  <p:timing>
    <p:tnLst>
      <p:par>
        <p:cTn id="1" dur="indefinite" restart="never" nodeType="tmRoot"/>
      </p:par>
    </p:tnLst>
  </p:timing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9pPr>
    </p:titleStyle>
    <p:bodyStyle>
      <a:lvl1pPr marL="342900" indent="-3429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q"/>
        <a:defRPr kumimoji="1" sz="22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l"/>
        <a:defRPr kumimoji="1" sz="2200">
          <a:solidFill>
            <a:schemeClr val="bg2"/>
          </a:solidFill>
          <a:latin typeface="+mn-lt"/>
          <a:ea typeface="+mn-ea"/>
        </a:defRPr>
      </a:lvl2pPr>
      <a:lvl3pPr marL="11430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–"/>
        <a:defRPr kumimoji="1" sz="2200">
          <a:solidFill>
            <a:schemeClr val="bg2"/>
          </a:solidFill>
          <a:latin typeface="+mn-lt"/>
          <a:ea typeface="+mn-ea"/>
        </a:defRPr>
      </a:lvl3pPr>
      <a:lvl4pPr marL="16002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§"/>
        <a:defRPr kumimoji="1" sz="2200">
          <a:solidFill>
            <a:schemeClr val="bg2"/>
          </a:solidFill>
          <a:latin typeface="+mn-lt"/>
          <a:ea typeface="+mn-ea"/>
        </a:defRPr>
      </a:lvl4pPr>
      <a:lvl5pPr marL="20574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5pPr>
      <a:lvl6pPr marL="25146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6pPr>
      <a:lvl7pPr marL="29718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7pPr>
      <a:lvl8pPr marL="34290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8pPr>
      <a:lvl9pPr marL="38862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subTitle" idx="4294967295"/>
          </p:nvPr>
        </p:nvSpPr>
        <p:spPr>
          <a:xfrm>
            <a:off x="1371600" y="3886200"/>
            <a:ext cx="6400800" cy="175260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indent="0" algn="ctr" eaLnBrk="1">
              <a:lnSpc>
                <a:spcPct val="100000"/>
              </a:lnSpc>
              <a:spcBef>
                <a:spcPct val="0"/>
              </a:spcBef>
              <a:buFont typeface="Wingdings" pitchFamily="2" charset="2"/>
              <a:buNone/>
            </a:pPr>
            <a:endParaRPr lang="zh-TW" altLang="en-US" smtClean="0"/>
          </a:p>
        </p:txBody>
      </p:sp>
      <p:sp>
        <p:nvSpPr>
          <p:cNvPr id="4099" name="Rectangle 7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/>
            <a:r>
              <a:rPr lang="zh-TW" altLang="en-US" smtClean="0"/>
              <a:t>第十三章 物件資料結構塑模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>
              <a:buFont typeface="Wingdings" pitchFamily="2" charset="2"/>
              <a:buNone/>
            </a:pPr>
            <a:r>
              <a:rPr lang="zh-TW" altLang="en-US" smtClean="0"/>
              <a:t>學習目標</a:t>
            </a:r>
          </a:p>
          <a:p>
            <a:pPr eaLnBrk="1">
              <a:buFont typeface="Wingdings" pitchFamily="2" charset="2"/>
              <a:buNone/>
            </a:pPr>
            <a:r>
              <a:rPr lang="en-US" altLang="zh-TW" smtClean="0"/>
              <a:t>13.1 </a:t>
            </a:r>
            <a:r>
              <a:rPr lang="zh-TW" altLang="en-US" smtClean="0"/>
              <a:t>導論</a:t>
            </a:r>
          </a:p>
          <a:p>
            <a:pPr eaLnBrk="1">
              <a:buFont typeface="Wingdings" pitchFamily="2" charset="2"/>
              <a:buNone/>
            </a:pPr>
            <a:r>
              <a:rPr lang="en-US" altLang="zh-TW" smtClean="0"/>
              <a:t>13.2 </a:t>
            </a:r>
            <a:r>
              <a:rPr lang="zh-TW" altLang="en-US" smtClean="0"/>
              <a:t>類別圖與物件圖</a:t>
            </a:r>
          </a:p>
          <a:p>
            <a:pPr eaLnBrk="1">
              <a:buFont typeface="Wingdings" pitchFamily="2" charset="2"/>
              <a:buNone/>
            </a:pPr>
            <a:r>
              <a:rPr lang="en-US" altLang="zh-TW" smtClean="0"/>
              <a:t>13.3 </a:t>
            </a:r>
            <a:r>
              <a:rPr lang="zh-TW" altLang="en-US" smtClean="0"/>
              <a:t>物件結構塑模 </a:t>
            </a:r>
          </a:p>
          <a:p>
            <a:pPr eaLnBrk="1">
              <a:buFont typeface="Wingdings" pitchFamily="2" charset="2"/>
              <a:buNone/>
            </a:pPr>
            <a:r>
              <a:rPr lang="en-US" altLang="zh-TW" smtClean="0"/>
              <a:t>13.4 </a:t>
            </a:r>
            <a:r>
              <a:rPr lang="zh-TW" altLang="en-US" smtClean="0"/>
              <a:t>建構類別圖與物件圖</a:t>
            </a:r>
          </a:p>
          <a:p>
            <a:pPr eaLnBrk="1">
              <a:buFont typeface="Wingdings" pitchFamily="2" charset="2"/>
              <a:buNone/>
            </a:pPr>
            <a:r>
              <a:rPr lang="en-US" altLang="zh-TW" smtClean="0"/>
              <a:t>13.5 </a:t>
            </a:r>
            <a:r>
              <a:rPr lang="zh-TW" altLang="en-US" smtClean="0"/>
              <a:t>結論</a:t>
            </a:r>
            <a:endParaRPr lang="en-US" altLang="zh-TW" smtClean="0"/>
          </a:p>
          <a:p>
            <a:pPr eaLnBrk="1"/>
            <a:endParaRPr lang="en-US" altLang="zh-TW" smtClean="0"/>
          </a:p>
          <a:p>
            <a:pPr eaLnBrk="1"/>
            <a:endParaRPr lang="zh-TW" altLang="en-US" smtClean="0"/>
          </a:p>
        </p:txBody>
      </p:sp>
      <p:sp>
        <p:nvSpPr>
          <p:cNvPr id="5123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zh-TW" altLang="en-US" smtClean="0"/>
              <a:t>內容大綱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>
              <a:buFont typeface="Wingdings" pitchFamily="2" charset="2"/>
              <a:buNone/>
            </a:pPr>
            <a:r>
              <a:rPr lang="zh-TW" altLang="en-US" smtClean="0"/>
              <a:t>詳讀本章，你至少能瞭解：</a:t>
            </a:r>
          </a:p>
          <a:p>
            <a:pPr eaLnBrk="1"/>
            <a:r>
              <a:rPr lang="zh-TW" altLang="zh-TW" smtClean="0"/>
              <a:t>物件導向系統分析與設計中之物件結構塑模工作。</a:t>
            </a:r>
          </a:p>
          <a:p>
            <a:pPr eaLnBrk="1"/>
            <a:r>
              <a:rPr lang="zh-TW" altLang="zh-TW" smtClean="0"/>
              <a:t>何謂類別圖與物件圖及其用途。</a:t>
            </a:r>
          </a:p>
          <a:p>
            <a:pPr eaLnBrk="1"/>
            <a:r>
              <a:rPr lang="zh-TW" altLang="zh-TW" smtClean="0"/>
              <a:t>類別圖與物件圖之建構步驟與準則。</a:t>
            </a:r>
          </a:p>
          <a:p>
            <a:pPr eaLnBrk="1"/>
            <a:r>
              <a:rPr lang="zh-TW" altLang="zh-TW" smtClean="0"/>
              <a:t>如何封裝類別。</a:t>
            </a:r>
          </a:p>
          <a:p>
            <a:pPr eaLnBrk="1"/>
            <a:r>
              <a:rPr lang="zh-TW" altLang="zh-TW" smtClean="0"/>
              <a:t>如何以類別圖與物件圖進行物件結構塑模。</a:t>
            </a:r>
            <a:endParaRPr lang="zh-TW" altLang="en-US" smtClean="0"/>
          </a:p>
        </p:txBody>
      </p:sp>
      <p:sp>
        <p:nvSpPr>
          <p:cNvPr id="6147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zh-TW" altLang="en-US" smtClean="0"/>
              <a:t>學習目標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1"/>
          <p:cNvSpPr>
            <a:spLocks noGrp="1" noChangeArrowheads="1"/>
          </p:cNvSpPr>
          <p:nvPr>
            <p:ph type="body" sz="half" idx="1"/>
          </p:nvPr>
        </p:nvSpPr>
        <p:spPr>
          <a:xfrm>
            <a:off x="719138" y="1438275"/>
            <a:ext cx="8097837" cy="1630363"/>
          </a:xfrm>
        </p:spPr>
        <p:txBody>
          <a:bodyPr/>
          <a:lstStyle/>
          <a:p>
            <a:pPr eaLnBrk="1"/>
            <a:r>
              <a:rPr lang="zh-TW" altLang="en-US" smtClean="0"/>
              <a:t>一群相關物件的定義、描述或樣版稱為一個類別。</a:t>
            </a:r>
          </a:p>
          <a:p>
            <a:pPr eaLnBrk="1"/>
            <a:r>
              <a:rPr lang="zh-TW" altLang="en-US" smtClean="0"/>
              <a:t>類別具有名稱、屬性與操作，同一類別之物件具有相同屬性與操作。</a:t>
            </a:r>
          </a:p>
          <a:p>
            <a:pPr eaLnBrk="1"/>
            <a:endParaRPr lang="zh-TW" altLang="en-US" smtClean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685800" y="1447800"/>
            <a:ext cx="8029575" cy="155257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Char char=""/>
              <a:defRPr/>
            </a:pPr>
            <a:endParaRPr lang="zh-TW" altLang="en-US" sz="2800" dirty="0">
              <a:solidFill>
                <a:schemeClr val="tx2"/>
              </a:solidFill>
              <a:latin typeface="+mn-lt"/>
              <a:ea typeface="+mn-ea"/>
            </a:endParaRPr>
          </a:p>
        </p:txBody>
      </p:sp>
      <p:pic>
        <p:nvPicPr>
          <p:cNvPr id="9220" name="Picture 15" descr="z-vb157d-f13-1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117" t="21497" r="7162" b="5492"/>
          <a:stretch>
            <a:fillRect/>
          </a:stretch>
        </p:blipFill>
        <p:spPr>
          <a:xfrm>
            <a:off x="3492500" y="3068638"/>
            <a:ext cx="2843213" cy="30241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1" name="Rectangle 1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13.2.1 </a:t>
            </a:r>
            <a:r>
              <a:rPr lang="zh-TW" altLang="en-US" smtClean="0"/>
              <a:t>類別圖－類別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0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/>
            <a:r>
              <a:rPr lang="zh-TW" altLang="en-US" sz="2000" smtClean="0"/>
              <a:t>屬性與操作</a:t>
            </a:r>
          </a:p>
          <a:p>
            <a:pPr lvl="1" eaLnBrk="1"/>
            <a:r>
              <a:rPr lang="zh-TW" altLang="en-US" sz="2000" smtClean="0"/>
              <a:t>類別的屬性（或操作）可以定義有哪些物件能存取（或使用）該屬性（或操作），這就是類別屬性（或操作）的可視性 </a:t>
            </a:r>
            <a:r>
              <a:rPr lang="en-US" altLang="zh-TW" sz="2000" smtClean="0"/>
              <a:t>(Visibility)</a:t>
            </a:r>
            <a:r>
              <a:rPr lang="zh-TW" altLang="en-US" sz="2000" smtClean="0"/>
              <a:t>。 </a:t>
            </a:r>
          </a:p>
          <a:p>
            <a:pPr eaLnBrk="1"/>
            <a:endParaRPr lang="zh-TW" altLang="en-US" sz="2000" smtClean="0"/>
          </a:p>
        </p:txBody>
      </p:sp>
      <p:sp>
        <p:nvSpPr>
          <p:cNvPr id="14339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13.2.1 </a:t>
            </a:r>
            <a:r>
              <a:rPr lang="zh-TW" altLang="en-US" smtClean="0"/>
              <a:t>類別圖－類別</a:t>
            </a:r>
            <a:r>
              <a:rPr lang="en-US" altLang="zh-TW" smtClean="0"/>
              <a:t>(c.6)</a:t>
            </a:r>
          </a:p>
        </p:txBody>
      </p:sp>
      <p:pic>
        <p:nvPicPr>
          <p:cNvPr id="14340" name="Picture 13" descr="z-vb157d-t13-1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1" t="27278" r="3331" b="4654"/>
          <a:stretch>
            <a:fillRect/>
          </a:stretch>
        </p:blipFill>
        <p:spPr>
          <a:xfrm>
            <a:off x="1331913" y="3213100"/>
            <a:ext cx="7488237" cy="26733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0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/>
            <a:r>
              <a:rPr lang="zh-TW" altLang="en-US" smtClean="0"/>
              <a:t>類別間之關係指的是類別間的連結，在物件導向塑模中，類別間最重要的關係有相依、一般化、關聯與實現化四種關係。</a:t>
            </a:r>
          </a:p>
          <a:p>
            <a:pPr eaLnBrk="1"/>
            <a:endParaRPr lang="zh-TW" altLang="en-US" smtClean="0"/>
          </a:p>
        </p:txBody>
      </p:sp>
      <p:pic>
        <p:nvPicPr>
          <p:cNvPr id="15363" name="Picture 12" descr="z-vb157d-t13-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43" t="27782" r="3630" b="6964"/>
          <a:stretch>
            <a:fillRect/>
          </a:stretch>
        </p:blipFill>
        <p:spPr>
          <a:xfrm>
            <a:off x="1692275" y="2852738"/>
            <a:ext cx="5976938" cy="27035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4" name="Rectangle 1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13.2.2 </a:t>
            </a:r>
            <a:r>
              <a:rPr lang="zh-TW" altLang="en-US" smtClean="0"/>
              <a:t>類別間之關係</a:t>
            </a:r>
          </a:p>
        </p:txBody>
      </p:sp>
    </p:spTree>
  </p:cSld>
  <p:clrMapOvr>
    <a:masterClrMapping/>
  </p:clrMapOvr>
  <p:transition spd="med"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13.2.2 </a:t>
            </a:r>
            <a:r>
              <a:rPr lang="zh-TW" altLang="en-US" smtClean="0"/>
              <a:t>類別間之關係</a:t>
            </a:r>
            <a:r>
              <a:rPr lang="en-US" altLang="zh-TW" smtClean="0"/>
              <a:t>(c.3)</a:t>
            </a:r>
            <a:endParaRPr lang="zh-TW" altLang="en-US" smtClean="0"/>
          </a:p>
        </p:txBody>
      </p:sp>
      <p:sp>
        <p:nvSpPr>
          <p:cNvPr id="17411" name="Rectangle 1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/>
            <a:r>
              <a:rPr lang="zh-TW" altLang="zh-TW" sz="2000" smtClean="0"/>
              <a:t>圖</a:t>
            </a:r>
            <a:r>
              <a:rPr lang="en-US" altLang="zh-TW" sz="2000" smtClean="0"/>
              <a:t>13-2</a:t>
            </a:r>
            <a:r>
              <a:rPr lang="zh-TW" altLang="en-US" sz="2000" smtClean="0"/>
              <a:t>表示</a:t>
            </a:r>
            <a:r>
              <a:rPr lang="en-US" altLang="zh-TW" sz="2000" smtClean="0"/>
              <a:t>Window</a:t>
            </a:r>
            <a:r>
              <a:rPr lang="zh-TW" altLang="en-US" sz="2000" smtClean="0"/>
              <a:t>（視窗）類別使用</a:t>
            </a:r>
            <a:r>
              <a:rPr lang="en-US" altLang="zh-TW" sz="2000" smtClean="0"/>
              <a:t>Event</a:t>
            </a:r>
            <a:r>
              <a:rPr lang="zh-TW" altLang="en-US" sz="2000" smtClean="0"/>
              <a:t>（事件）類別，兩類別間為相依關係，且</a:t>
            </a:r>
            <a:r>
              <a:rPr lang="en-US" altLang="zh-TW" sz="2000" smtClean="0"/>
              <a:t>Event </a:t>
            </a:r>
            <a:r>
              <a:rPr lang="zh-TW" altLang="en-US" sz="2000" smtClean="0"/>
              <a:t>類別的更改會影響</a:t>
            </a:r>
            <a:r>
              <a:rPr lang="en-US" altLang="zh-TW" sz="2000" smtClean="0"/>
              <a:t>Window </a:t>
            </a:r>
            <a:r>
              <a:rPr lang="zh-TW" altLang="en-US" sz="2000" smtClean="0"/>
              <a:t>類別的操作，所以相依關係的箭號方向是由</a:t>
            </a:r>
            <a:r>
              <a:rPr lang="en-US" altLang="zh-TW" sz="2000" smtClean="0"/>
              <a:t>Window </a:t>
            </a:r>
            <a:r>
              <a:rPr lang="zh-TW" altLang="en-US" sz="2000" smtClean="0"/>
              <a:t>類別指向</a:t>
            </a:r>
            <a:r>
              <a:rPr lang="en-US" altLang="zh-TW" sz="2000" smtClean="0"/>
              <a:t>Event </a:t>
            </a:r>
            <a:r>
              <a:rPr lang="zh-TW" altLang="en-US" sz="2000" smtClean="0"/>
              <a:t>類別，即</a:t>
            </a:r>
            <a:r>
              <a:rPr lang="en-US" altLang="zh-TW" sz="2000" smtClean="0"/>
              <a:t>Window </a:t>
            </a:r>
            <a:r>
              <a:rPr lang="zh-TW" altLang="en-US" sz="2000" smtClean="0"/>
              <a:t>類別上的操作行為會依照</a:t>
            </a:r>
            <a:r>
              <a:rPr lang="en-US" altLang="zh-TW" sz="2000" smtClean="0"/>
              <a:t>Event </a:t>
            </a:r>
            <a:r>
              <a:rPr lang="zh-TW" altLang="en-US" sz="2000" smtClean="0"/>
              <a:t>類別不同的行為而改變。</a:t>
            </a:r>
            <a:r>
              <a:rPr lang="zh-TW" altLang="zh-TW" sz="2000" smtClean="0"/>
              <a:t>例如滑鼠在</a:t>
            </a:r>
            <a:r>
              <a:rPr lang="en-US" altLang="zh-TW" sz="2000" smtClean="0"/>
              <a:t>Window </a:t>
            </a:r>
            <a:r>
              <a:rPr lang="zh-TW" altLang="zh-TW" sz="2000" smtClean="0"/>
              <a:t>類別開啟</a:t>
            </a:r>
            <a:r>
              <a:rPr lang="en-US" altLang="zh-TW" sz="2000" smtClean="0"/>
              <a:t> (Open)</a:t>
            </a:r>
            <a:r>
              <a:rPr lang="zh-TW" altLang="zh-TW" sz="2000" smtClean="0"/>
              <a:t> 或移動</a:t>
            </a:r>
            <a:r>
              <a:rPr lang="en-US" altLang="zh-TW" sz="2000" smtClean="0"/>
              <a:t> (Move) </a:t>
            </a:r>
            <a:r>
              <a:rPr lang="zh-TW" altLang="zh-TW" sz="2000" smtClean="0"/>
              <a:t>等按鈕點選事件</a:t>
            </a:r>
            <a:r>
              <a:rPr lang="en-US" altLang="zh-TW" sz="2000" smtClean="0"/>
              <a:t> (Event)</a:t>
            </a:r>
            <a:r>
              <a:rPr lang="zh-TW" altLang="zh-TW" sz="2000" smtClean="0"/>
              <a:t>，會使此</a:t>
            </a:r>
            <a:r>
              <a:rPr lang="en-US" altLang="zh-TW" sz="2000" smtClean="0"/>
              <a:t>Window </a:t>
            </a:r>
            <a:r>
              <a:rPr lang="zh-TW" altLang="zh-TW" sz="2000" smtClean="0"/>
              <a:t>類別產生不同的操作行為。</a:t>
            </a:r>
            <a:endParaRPr lang="zh-TW" altLang="en-US" sz="2000" smtClean="0"/>
          </a:p>
          <a:p>
            <a:pPr eaLnBrk="1"/>
            <a:endParaRPr lang="zh-TW" altLang="en-US" sz="2000" smtClean="0"/>
          </a:p>
        </p:txBody>
      </p:sp>
      <p:pic>
        <p:nvPicPr>
          <p:cNvPr id="17412" name="Picture 17" descr="z-vb157d-f13-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51" b="8272"/>
          <a:stretch>
            <a:fillRect/>
          </a:stretch>
        </p:blipFill>
        <p:spPr>
          <a:xfrm>
            <a:off x="2051050" y="3716338"/>
            <a:ext cx="5113338" cy="25923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文字方塊 9"/>
          <p:cNvSpPr txBox="1">
            <a:spLocks noChangeArrowheads="1"/>
          </p:cNvSpPr>
          <p:nvPr/>
        </p:nvSpPr>
        <p:spPr bwMode="auto">
          <a:xfrm>
            <a:off x="-200025" y="5989638"/>
            <a:ext cx="421481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q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l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har char="–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§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algn="just" defTabSz="4572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algn="just" defTabSz="4572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algn="just" defTabSz="4572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algn="just" defTabSz="4572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zh-TW" sz="1100">
                <a:solidFill>
                  <a:schemeClr val="tx1"/>
                </a:solidFill>
              </a:rPr>
              <a:t>圖</a:t>
            </a:r>
            <a:r>
              <a:rPr lang="en-US" altLang="zh-TW" sz="1100">
                <a:solidFill>
                  <a:schemeClr val="tx1"/>
                </a:solidFill>
              </a:rPr>
              <a:t>13-3 </a:t>
            </a:r>
            <a:r>
              <a:rPr lang="zh-TW" altLang="zh-TW" sz="1100">
                <a:solidFill>
                  <a:schemeClr val="tx1"/>
                </a:solidFill>
              </a:rPr>
              <a:t>類別之一般化關係範例</a:t>
            </a:r>
            <a:endParaRPr lang="zh-TW" altLang="en-US" sz="1100">
              <a:solidFill>
                <a:schemeClr val="tx1"/>
              </a:solidFill>
            </a:endParaRPr>
          </a:p>
        </p:txBody>
      </p:sp>
      <p:sp>
        <p:nvSpPr>
          <p:cNvPr id="20483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zh-TW" altLang="en-US" smtClean="0"/>
              <a:t>圖</a:t>
            </a:r>
            <a:r>
              <a:rPr lang="en-US" altLang="zh-TW" smtClean="0"/>
              <a:t>13-3 </a:t>
            </a:r>
            <a:r>
              <a:rPr lang="zh-TW" altLang="en-US" smtClean="0"/>
              <a:t>類別之一般化關係範例</a:t>
            </a:r>
          </a:p>
        </p:txBody>
      </p:sp>
      <p:pic>
        <p:nvPicPr>
          <p:cNvPr id="20484" name="圖片 7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95513" y="1557338"/>
            <a:ext cx="5256212" cy="4724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1"/>
          <p:cNvSpPr>
            <a:spLocks noGrp="1" noChangeArrowheads="1"/>
          </p:cNvSpPr>
          <p:nvPr>
            <p:ph type="body" sz="half" idx="1"/>
          </p:nvPr>
        </p:nvSpPr>
        <p:spPr>
          <a:xfrm>
            <a:off x="719138" y="1438275"/>
            <a:ext cx="8097837" cy="2638425"/>
          </a:xfrm>
        </p:spPr>
        <p:txBody>
          <a:bodyPr/>
          <a:lstStyle/>
          <a:p>
            <a:pPr eaLnBrk="1">
              <a:lnSpc>
                <a:spcPct val="110000"/>
              </a:lnSpc>
            </a:pPr>
            <a:r>
              <a:rPr lang="zh-TW" altLang="en-US" smtClean="0"/>
              <a:t>關聯關係之表達符號為實線。</a:t>
            </a:r>
            <a:endParaRPr lang="en-US" altLang="zh-TW" smtClean="0"/>
          </a:p>
          <a:p>
            <a:pPr eaLnBrk="1">
              <a:lnSpc>
                <a:spcPct val="110000"/>
              </a:lnSpc>
            </a:pPr>
            <a:r>
              <a:rPr lang="zh-TW" altLang="en-US" smtClean="0"/>
              <a:t>一般關聯若沒有箭號即表示雙向關係，若在類別間之關聯加上箭頭便表示具有適航性 </a:t>
            </a:r>
            <a:r>
              <a:rPr lang="en-US" altLang="zh-TW" smtClean="0"/>
              <a:t>(Navigability)</a:t>
            </a:r>
            <a:r>
              <a:rPr lang="zh-TW" altLang="en-US" smtClean="0"/>
              <a:t>，即是可依箭頭方向找到另一端之資訊。 </a:t>
            </a:r>
          </a:p>
          <a:p>
            <a:pPr eaLnBrk="1">
              <a:lnSpc>
                <a:spcPct val="110000"/>
              </a:lnSpc>
            </a:pPr>
            <a:r>
              <a:rPr lang="zh-TW" altLang="zh-TW" smtClean="0"/>
              <a:t>圖</a:t>
            </a:r>
            <a:r>
              <a:rPr lang="en-US" altLang="zh-TW" smtClean="0"/>
              <a:t>13-4</a:t>
            </a:r>
            <a:r>
              <a:rPr lang="zh-TW" altLang="en-US" smtClean="0"/>
              <a:t>表示可從某一個使用者查到其相對應之密碼，但卻無法從密碼查出使用者是誰。</a:t>
            </a:r>
          </a:p>
        </p:txBody>
      </p:sp>
      <p:sp>
        <p:nvSpPr>
          <p:cNvPr id="22531" name="文字方塊 9"/>
          <p:cNvSpPr txBox="1">
            <a:spLocks noChangeArrowheads="1"/>
          </p:cNvSpPr>
          <p:nvPr/>
        </p:nvSpPr>
        <p:spPr bwMode="auto">
          <a:xfrm>
            <a:off x="2143125" y="5429250"/>
            <a:ext cx="49291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q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l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har char="–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§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algn="just" defTabSz="4572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algn="just" defTabSz="4572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algn="just" defTabSz="4572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algn="just" defTabSz="4572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zh-TW" sz="1100">
                <a:solidFill>
                  <a:schemeClr val="tx1"/>
                </a:solidFill>
              </a:rPr>
              <a:t>圖</a:t>
            </a:r>
            <a:r>
              <a:rPr lang="en-US" altLang="zh-TW" sz="1100">
                <a:solidFill>
                  <a:schemeClr val="tx1"/>
                </a:solidFill>
              </a:rPr>
              <a:t>13-4 </a:t>
            </a:r>
            <a:r>
              <a:rPr lang="zh-TW" altLang="zh-TW" sz="1100">
                <a:solidFill>
                  <a:schemeClr val="tx1"/>
                </a:solidFill>
              </a:rPr>
              <a:t>類別之關聯關係適航性範例</a:t>
            </a:r>
            <a:endParaRPr lang="zh-TW" altLang="en-US" sz="1100">
              <a:solidFill>
                <a:schemeClr val="tx1"/>
              </a:solidFill>
            </a:endParaRPr>
          </a:p>
        </p:txBody>
      </p:sp>
      <p:pic>
        <p:nvPicPr>
          <p:cNvPr id="22532" name="Picture 13" descr="z-vb157d-f13-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82" t="38847" r="10490" b="11153"/>
          <a:stretch>
            <a:fillRect/>
          </a:stretch>
        </p:blipFill>
        <p:spPr>
          <a:xfrm>
            <a:off x="2051050" y="4365625"/>
            <a:ext cx="5472113" cy="10699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3" name="Rectangle 1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13.2.2 </a:t>
            </a:r>
            <a:r>
              <a:rPr lang="zh-TW" altLang="en-US" smtClean="0"/>
              <a:t>類別間之關係</a:t>
            </a:r>
            <a:r>
              <a:rPr lang="en-US" altLang="zh-TW" smtClean="0"/>
              <a:t>(c.7)</a:t>
            </a:r>
            <a:endParaRPr lang="zh-TW" altLang="en-US" smtClean="0"/>
          </a:p>
        </p:txBody>
      </p:sp>
    </p:spTree>
  </p:cSld>
  <p:clrMapOvr>
    <a:masterClrMapping/>
  </p:clrMapOvr>
  <p:transition spd="med"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13.2.2 </a:t>
            </a:r>
            <a:r>
              <a:rPr lang="zh-TW" altLang="en-US" smtClean="0"/>
              <a:t>類別間之關係</a:t>
            </a:r>
            <a:r>
              <a:rPr lang="en-US" altLang="zh-TW" smtClean="0"/>
              <a:t>(c.8)</a:t>
            </a:r>
            <a:endParaRPr lang="zh-TW" altLang="en-US" smtClean="0"/>
          </a:p>
        </p:txBody>
      </p:sp>
      <p:sp>
        <p:nvSpPr>
          <p:cNvPr id="23555" name="Rectangle 1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/>
            <a:r>
              <a:rPr lang="zh-TW" altLang="en-US" smtClean="0"/>
              <a:t>類別間之關聯關係不見得一定要給予名稱，但若覺得必要，則常被採用的命名方式有兩種：</a:t>
            </a:r>
            <a:endParaRPr lang="en-US" altLang="zh-TW" smtClean="0"/>
          </a:p>
          <a:p>
            <a:pPr lvl="1" eaLnBrk="1"/>
            <a:r>
              <a:rPr lang="zh-TW" altLang="en-US" smtClean="0"/>
              <a:t>描述關係的本質：可用動詞或動詞片語表達。</a:t>
            </a:r>
            <a:endParaRPr lang="en-US" altLang="zh-TW" smtClean="0"/>
          </a:p>
          <a:p>
            <a:pPr lvl="1" eaLnBrk="1"/>
            <a:r>
              <a:rPr lang="zh-TW" altLang="en-US" smtClean="0"/>
              <a:t>描述角色：可用名詞或名詞片語表達。</a:t>
            </a:r>
            <a:endParaRPr lang="en-US" altLang="zh-TW" smtClean="0"/>
          </a:p>
          <a:p>
            <a:pPr eaLnBrk="1"/>
            <a:r>
              <a:rPr lang="zh-TW" altLang="zh-TW" smtClean="0"/>
              <a:t>如圖</a:t>
            </a:r>
            <a:r>
              <a:rPr lang="en-US" altLang="zh-TW" smtClean="0"/>
              <a:t>13-5a</a:t>
            </a:r>
            <a:r>
              <a:rPr lang="zh-TW" altLang="en-US" smtClean="0"/>
              <a:t>所示，</a:t>
            </a:r>
            <a:r>
              <a:rPr lang="zh-TW" altLang="zh-TW" smtClean="0"/>
              <a:t>客戶及登入資訊兩個類別，若兩者間的關聯之命名為「客戶擁有登入資訊」，則是描述關係的本質；若為「客戶是登入資訊的擁有者」，則是描述關係的角色</a:t>
            </a:r>
            <a:r>
              <a:rPr lang="zh-TW" altLang="en-US" smtClean="0"/>
              <a:t>。 </a:t>
            </a:r>
          </a:p>
        </p:txBody>
      </p:sp>
      <p:sp>
        <p:nvSpPr>
          <p:cNvPr id="23556" name="文字方塊 9"/>
          <p:cNvSpPr txBox="1">
            <a:spLocks noChangeArrowheads="1"/>
          </p:cNvSpPr>
          <p:nvPr/>
        </p:nvSpPr>
        <p:spPr bwMode="auto">
          <a:xfrm>
            <a:off x="1868488" y="6184900"/>
            <a:ext cx="5286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q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l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har char="–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§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algn="just" defTabSz="4572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algn="just" defTabSz="4572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algn="just" defTabSz="4572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algn="just" defTabSz="4572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zh-TW" sz="1100">
                <a:solidFill>
                  <a:schemeClr val="tx1"/>
                </a:solidFill>
              </a:rPr>
              <a:t>圖</a:t>
            </a:r>
            <a:r>
              <a:rPr lang="en-US" altLang="zh-TW" sz="1100">
                <a:solidFill>
                  <a:schemeClr val="tx1"/>
                </a:solidFill>
              </a:rPr>
              <a:t>13-5a </a:t>
            </a:r>
            <a:r>
              <a:rPr lang="zh-TW" altLang="zh-TW" sz="1100">
                <a:solidFill>
                  <a:schemeClr val="tx1"/>
                </a:solidFill>
              </a:rPr>
              <a:t>類別之關聯關係描述範例一</a:t>
            </a:r>
            <a:endParaRPr lang="zh-TW" altLang="en-US" sz="1100">
              <a:solidFill>
                <a:schemeClr val="tx1"/>
              </a:solidFill>
            </a:endParaRPr>
          </a:p>
        </p:txBody>
      </p:sp>
      <p:grpSp>
        <p:nvGrpSpPr>
          <p:cNvPr id="23557" name="Group 15"/>
          <p:cNvGrpSpPr>
            <a:grpSpLocks/>
          </p:cNvGrpSpPr>
          <p:nvPr/>
        </p:nvGrpSpPr>
        <p:grpSpPr bwMode="auto">
          <a:xfrm>
            <a:off x="827088" y="4786313"/>
            <a:ext cx="7742237" cy="1450975"/>
            <a:chOff x="242" y="3015"/>
            <a:chExt cx="5156" cy="800"/>
          </a:xfrm>
        </p:grpSpPr>
        <p:pic>
          <p:nvPicPr>
            <p:cNvPr id="23560" name="圖片 9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42" y="3021"/>
              <a:ext cx="2556" cy="7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61" name="圖片 8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" y="3015"/>
              <a:ext cx="2517" cy="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9" name="Text Box 452"/>
          <p:cNvSpPr txBox="1">
            <a:spLocks noChangeArrowheads="1"/>
          </p:cNvSpPr>
          <p:nvPr/>
        </p:nvSpPr>
        <p:spPr bwMode="auto">
          <a:xfrm>
            <a:off x="2246313" y="5029200"/>
            <a:ext cx="892175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upright="1"/>
          <a:lstStyle/>
          <a:p>
            <a:pPr algn="just">
              <a:lnSpc>
                <a:spcPts val="1830"/>
              </a:lnSpc>
              <a:spcAft>
                <a:spcPts val="0"/>
              </a:spcAft>
              <a:defRPr/>
            </a:pPr>
            <a:r>
              <a:rPr lang="zh-TW" sz="1600" kern="100" spc="30" dirty="0">
                <a:latin typeface="Times New Roman" panose="02020603050405020304" pitchFamily="18" charset="0"/>
                <a:ea typeface="新細明體" panose="02020500000000000000" pitchFamily="18" charset="-120"/>
              </a:rPr>
              <a:t>擁有</a:t>
            </a:r>
          </a:p>
        </p:txBody>
      </p:sp>
      <p:sp>
        <p:nvSpPr>
          <p:cNvPr id="20" name="Text Box 453"/>
          <p:cNvSpPr txBox="1">
            <a:spLocks noChangeArrowheads="1"/>
          </p:cNvSpPr>
          <p:nvPr/>
        </p:nvSpPr>
        <p:spPr bwMode="auto">
          <a:xfrm>
            <a:off x="6389688" y="5068888"/>
            <a:ext cx="9842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upright="1"/>
          <a:lstStyle/>
          <a:p>
            <a:pPr algn="just">
              <a:lnSpc>
                <a:spcPts val="1830"/>
              </a:lnSpc>
              <a:spcAft>
                <a:spcPts val="0"/>
              </a:spcAft>
              <a:defRPr/>
            </a:pPr>
            <a:r>
              <a:rPr lang="zh-TW" sz="1600" kern="100" spc="30" dirty="0">
                <a:latin typeface="Times New Roman" panose="02020603050405020304" pitchFamily="18" charset="0"/>
                <a:ea typeface="新細明體" panose="02020500000000000000" pitchFamily="18" charset="-120"/>
              </a:rPr>
              <a:t>擁有者</a:t>
            </a:r>
          </a:p>
        </p:txBody>
      </p:sp>
    </p:spTree>
  </p:cSld>
  <p:clrMapOvr>
    <a:masterClrMapping/>
  </p:clrMapOvr>
  <p:transition spd="med"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1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>
              <a:lnSpc>
                <a:spcPct val="115000"/>
              </a:lnSpc>
            </a:pPr>
            <a:r>
              <a:rPr lang="zh-TW" altLang="zh-TW" sz="2100" smtClean="0"/>
              <a:t>以客戶及訂單之關聯關係說明，從關係的本質來看，客戶會根據自身的需求去填寫訂單的內容，名稱的方向是由客戶指向訂單；從關係的角色來看，是客戶扮演擁有者的角色及訂單扮演客戶需求的角色，換句話說，客戶是訂單的擁有者，而訂單代表著客戶的需求</a:t>
            </a:r>
            <a:r>
              <a:rPr lang="zh-TW" altLang="en-US" sz="2100" smtClean="0"/>
              <a:t>。</a:t>
            </a:r>
          </a:p>
        </p:txBody>
      </p:sp>
      <p:sp>
        <p:nvSpPr>
          <p:cNvPr id="24579" name="Rectangle 1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13.2.2 </a:t>
            </a:r>
            <a:r>
              <a:rPr lang="zh-TW" altLang="en-US" smtClean="0"/>
              <a:t>類別間之關係</a:t>
            </a:r>
            <a:r>
              <a:rPr lang="en-US" altLang="zh-TW" smtClean="0"/>
              <a:t>(c.9)</a:t>
            </a:r>
            <a:endParaRPr lang="zh-TW" altLang="en-US" smtClean="0"/>
          </a:p>
        </p:txBody>
      </p:sp>
      <p:pic>
        <p:nvPicPr>
          <p:cNvPr id="24580" name="Picture 14" descr="z-vb157d-f13-5b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95513" y="3068638"/>
            <a:ext cx="5905500" cy="3270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/>
            <a:r>
              <a:rPr lang="zh-TW" altLang="en-US" smtClean="0"/>
              <a:t>一個</a:t>
            </a:r>
            <a:r>
              <a:rPr lang="zh-TW" altLang="zh-TW" smtClean="0"/>
              <a:t>客戶只可擁有一組登入資訊，而每一組登入資訊只會隸屬於某一個客戶，則我們可以說明關聯基數為</a:t>
            </a:r>
            <a:r>
              <a:rPr lang="en-US" altLang="zh-TW" smtClean="0"/>
              <a:t>1</a:t>
            </a:r>
            <a:r>
              <a:rPr lang="zh-TW" altLang="zh-TW" smtClean="0"/>
              <a:t>：</a:t>
            </a:r>
            <a:r>
              <a:rPr lang="en-US" altLang="zh-TW" smtClean="0"/>
              <a:t>1</a:t>
            </a:r>
            <a:r>
              <a:rPr lang="zh-TW" altLang="en-US" smtClean="0"/>
              <a:t>，表達如下圖。</a:t>
            </a:r>
            <a:r>
              <a:rPr lang="en-US" altLang="zh-TW" smtClean="0"/>
              <a:t> </a:t>
            </a:r>
          </a:p>
          <a:p>
            <a:pPr eaLnBrk="1"/>
            <a:endParaRPr lang="zh-TW" altLang="en-US" smtClean="0"/>
          </a:p>
          <a:p>
            <a:pPr eaLnBrk="1"/>
            <a:endParaRPr lang="zh-TW" altLang="en-US" smtClean="0"/>
          </a:p>
          <a:p>
            <a:pPr eaLnBrk="1"/>
            <a:r>
              <a:rPr lang="zh-TW" altLang="en-US" smtClean="0"/>
              <a:t>假設</a:t>
            </a:r>
            <a:r>
              <a:rPr lang="zh-TW" altLang="zh-TW" smtClean="0"/>
              <a:t>一個客戶可能擁有多張採購訂單或無任何採購訂單，而每筆訂單只會隸屬某一個客戶，則我們可以說明此關聯基數為</a:t>
            </a:r>
            <a:r>
              <a:rPr lang="en-US" altLang="zh-TW" smtClean="0"/>
              <a:t>1</a:t>
            </a:r>
            <a:r>
              <a:rPr lang="zh-TW" altLang="zh-TW" smtClean="0"/>
              <a:t>：</a:t>
            </a:r>
            <a:r>
              <a:rPr lang="en-US" altLang="zh-TW" smtClean="0"/>
              <a:t>N</a:t>
            </a:r>
            <a:r>
              <a:rPr lang="zh-TW" altLang="en-US" smtClean="0"/>
              <a:t>，如下圖。</a:t>
            </a:r>
            <a:endParaRPr lang="en-US" altLang="zh-TW" smtClean="0"/>
          </a:p>
          <a:p>
            <a:pPr eaLnBrk="1"/>
            <a:endParaRPr lang="zh-TW" altLang="en-US" smtClean="0"/>
          </a:p>
        </p:txBody>
      </p:sp>
      <p:pic>
        <p:nvPicPr>
          <p:cNvPr id="26627" name="圖片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2349500"/>
            <a:ext cx="5400675" cy="134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8" name="圖片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6" t="-2" b="-4613"/>
          <a:stretch>
            <a:fillRect/>
          </a:stretch>
        </p:blipFill>
        <p:spPr bwMode="auto">
          <a:xfrm>
            <a:off x="2268538" y="4868863"/>
            <a:ext cx="5616575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9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13.2.2 </a:t>
            </a:r>
            <a:r>
              <a:rPr lang="zh-TW" altLang="en-US" smtClean="0"/>
              <a:t>類別間之關係</a:t>
            </a:r>
            <a:r>
              <a:rPr lang="en-US" altLang="zh-TW" smtClean="0"/>
              <a:t>(c.11)</a:t>
            </a:r>
            <a:endParaRPr lang="zh-TW" altLang="en-US" smtClean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zh-TW" altLang="en-US" smtClean="0"/>
              <a:t>圖</a:t>
            </a:r>
            <a:r>
              <a:rPr lang="en-US" altLang="zh-TW" smtClean="0"/>
              <a:t>13-6c </a:t>
            </a:r>
            <a:r>
              <a:rPr lang="zh-TW" altLang="en-US" smtClean="0"/>
              <a:t>類別關聯關係之關聯類別範例</a:t>
            </a:r>
          </a:p>
        </p:txBody>
      </p:sp>
      <p:pic>
        <p:nvPicPr>
          <p:cNvPr id="28675" name="Picture 7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08150" y="1438275"/>
            <a:ext cx="6118225" cy="4857750"/>
          </a:xfr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0"/>
          <p:cNvSpPr>
            <a:spLocks noGrp="1" noChangeArrowheads="1"/>
          </p:cNvSpPr>
          <p:nvPr>
            <p:ph type="body" sz="half" idx="1"/>
          </p:nvPr>
        </p:nvSpPr>
        <p:spPr>
          <a:xfrm>
            <a:off x="719138" y="1438275"/>
            <a:ext cx="8097837" cy="2638425"/>
          </a:xfrm>
        </p:spPr>
        <p:txBody>
          <a:bodyPr/>
          <a:lstStyle/>
          <a:p>
            <a:pPr eaLnBrk="1"/>
            <a:r>
              <a:rPr lang="zh-TW" altLang="en-US" smtClean="0"/>
              <a:t>圖上方表示一張發票擁有多個發票項目，當該張發票被刪除時，其所屬的所有發票項目也須一併刪除，因為若無該發票，則其發票項目就毫無意義（整體很強地擁有其組件），這種關係是組合的關聯關係。</a:t>
            </a:r>
            <a:endParaRPr lang="en-US" altLang="zh-TW" smtClean="0"/>
          </a:p>
          <a:p>
            <a:pPr eaLnBrk="1"/>
            <a:r>
              <a:rPr lang="zh-TW" altLang="en-US" smtClean="0"/>
              <a:t>圖下方表示一部車有多個輪胎，雖然輪胎屬於車子，但輪胎也可以單獨存在，這種關係是聚集的關聯關係。 </a:t>
            </a:r>
          </a:p>
        </p:txBody>
      </p:sp>
      <p:sp>
        <p:nvSpPr>
          <p:cNvPr id="30723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13.2.2 </a:t>
            </a:r>
            <a:r>
              <a:rPr lang="zh-TW" altLang="en-US" smtClean="0"/>
              <a:t>類別間之關係</a:t>
            </a:r>
            <a:r>
              <a:rPr lang="en-US" altLang="zh-TW" smtClean="0"/>
              <a:t>(c.14)</a:t>
            </a:r>
            <a:endParaRPr lang="zh-TW" altLang="en-US" smtClean="0"/>
          </a:p>
        </p:txBody>
      </p:sp>
      <p:pic>
        <p:nvPicPr>
          <p:cNvPr id="30724" name="Picture 14" descr="z-vb157d-f13-7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0" t="37637" r="6013" b="7285"/>
          <a:stretch>
            <a:fillRect/>
          </a:stretch>
        </p:blipFill>
        <p:spPr>
          <a:xfrm>
            <a:off x="1331913" y="4402138"/>
            <a:ext cx="7200900" cy="13668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0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/>
            <a:r>
              <a:rPr lang="zh-TW" altLang="en-US" sz="2000" smtClean="0"/>
              <a:t>有四個類別</a:t>
            </a:r>
            <a:r>
              <a:rPr lang="en-US" altLang="zh-TW" sz="2000" smtClean="0"/>
              <a:t>︰</a:t>
            </a:r>
            <a:r>
              <a:rPr lang="zh-TW" altLang="en-US" sz="2000" smtClean="0"/>
              <a:t>輸入流、資料輸入流、資料輸入與訂單讀取設備。其中，輸入流是一個抽象類別，而資料輸入是一個介面，訂單讀取設備需使用資料輸入的功能（相依關係）；資料輸入流類別繼承輸入流類別，為輸入流類別之子類別；另一方面，資料輸入流類別實現資料輸入介面，遵循資料輸入介面之定義。</a:t>
            </a:r>
            <a:endParaRPr lang="en-US" altLang="zh-TW" sz="2000" smtClean="0"/>
          </a:p>
          <a:p>
            <a:pPr eaLnBrk="1"/>
            <a:r>
              <a:rPr lang="zh-TW" altLang="en-US" sz="2000" smtClean="0"/>
              <a:t>因此，資料輸入流與資料輸入間之連結是一種實現化之關係。 </a:t>
            </a:r>
          </a:p>
        </p:txBody>
      </p:sp>
      <p:sp>
        <p:nvSpPr>
          <p:cNvPr id="32771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13.2.2 </a:t>
            </a:r>
            <a:r>
              <a:rPr lang="zh-TW" altLang="en-US" smtClean="0"/>
              <a:t>類別間之關係</a:t>
            </a:r>
            <a:r>
              <a:rPr lang="en-US" altLang="zh-TW" smtClean="0"/>
              <a:t>(c.16)</a:t>
            </a:r>
            <a:endParaRPr lang="zh-TW" altLang="en-US" smtClean="0"/>
          </a:p>
        </p:txBody>
      </p:sp>
      <p:pic>
        <p:nvPicPr>
          <p:cNvPr id="32772" name="Picture 13" descr="z-vb157d-f13-8a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21" t="20985" r="3323" b="5533"/>
          <a:stretch>
            <a:fillRect/>
          </a:stretch>
        </p:blipFill>
        <p:spPr>
          <a:xfrm>
            <a:off x="1835150" y="3933825"/>
            <a:ext cx="5616575" cy="2286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zh-TW" altLang="en-US" smtClean="0"/>
              <a:t>圖</a:t>
            </a:r>
            <a:r>
              <a:rPr lang="en-US" altLang="zh-TW" smtClean="0"/>
              <a:t>13-8b </a:t>
            </a:r>
            <a:r>
              <a:rPr lang="zh-TW" altLang="en-US" smtClean="0"/>
              <a:t>類別間之限制範例</a:t>
            </a:r>
          </a:p>
        </p:txBody>
      </p:sp>
      <p:pic>
        <p:nvPicPr>
          <p:cNvPr id="34819" name="Picture 8" descr="z-vb157d-f13-8b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2" t="12810" r="4929" b="2679"/>
          <a:stretch>
            <a:fillRect/>
          </a:stretch>
        </p:blipFill>
        <p:spPr>
          <a:xfrm>
            <a:off x="2051050" y="1484313"/>
            <a:ext cx="5832475" cy="47529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13.2.3 </a:t>
            </a:r>
            <a:r>
              <a:rPr lang="zh-TW" altLang="en-US" smtClean="0"/>
              <a:t>物件圖</a:t>
            </a:r>
            <a:endParaRPr lang="en-US" altLang="zh-TW" smtClean="0"/>
          </a:p>
        </p:txBody>
      </p:sp>
      <p:sp>
        <p:nvSpPr>
          <p:cNvPr id="35843" name="Rectangle 12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/>
            <a:r>
              <a:rPr lang="zh-TW" altLang="en-US" smtClean="0"/>
              <a:t>物件圖</a:t>
            </a:r>
            <a:r>
              <a:rPr lang="en-US" altLang="zh-TW" smtClean="0"/>
              <a:t> (Object Diagram) </a:t>
            </a:r>
            <a:r>
              <a:rPr lang="zh-TW" altLang="en-US" smtClean="0"/>
              <a:t>用以描述一系統於某一時間點的物件靜態結構，或藉由一時間序列的系統物件影像來表達系統的行為。</a:t>
            </a:r>
            <a:endParaRPr lang="en-US" altLang="zh-TW" smtClean="0"/>
          </a:p>
          <a:p>
            <a:pPr eaLnBrk="1"/>
            <a:r>
              <a:rPr lang="zh-TW" altLang="en-US" smtClean="0"/>
              <a:t>物件圖表達的資訊主要以類別圖為基礎，表現系統在某一時間點上，各類別之物件靜態結構與內部資訊之案例（即各物件之合作關係），但不表達物件間之訊息傳遞等其他資訊。</a:t>
            </a:r>
            <a:endParaRPr lang="en-US" altLang="zh-TW" smtClean="0"/>
          </a:p>
        </p:txBody>
      </p:sp>
      <p:pic>
        <p:nvPicPr>
          <p:cNvPr id="35844" name="Picture 14" descr="z-vb157d-f13-9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932" t="36559" r="14050" b="6541"/>
          <a:stretch>
            <a:fillRect/>
          </a:stretch>
        </p:blipFill>
        <p:spPr>
          <a:xfrm>
            <a:off x="3635375" y="4076700"/>
            <a:ext cx="2232025" cy="20843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13.2.3 </a:t>
            </a:r>
            <a:r>
              <a:rPr lang="zh-TW" altLang="en-US" smtClean="0"/>
              <a:t>物件圖</a:t>
            </a:r>
            <a:r>
              <a:rPr lang="en-US" altLang="zh-TW" smtClean="0"/>
              <a:t>(c.2)</a:t>
            </a:r>
          </a:p>
        </p:txBody>
      </p:sp>
      <p:pic>
        <p:nvPicPr>
          <p:cNvPr id="36867" name="Picture 12" descr="z-vb157d-f13-10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8" t="10295" r="2811" b="3929"/>
          <a:stretch>
            <a:fillRect/>
          </a:stretch>
        </p:blipFill>
        <p:spPr>
          <a:xfrm>
            <a:off x="1547813" y="1557338"/>
            <a:ext cx="6481762" cy="46799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11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/>
            <a:r>
              <a:rPr lang="zh-TW" altLang="zh-TW" smtClean="0"/>
              <a:t>為便於屬性與操作之彙整，可使用類別與使用個案對照表</a:t>
            </a:r>
            <a:r>
              <a:rPr lang="en-US" altLang="zh-TW" smtClean="0"/>
              <a:t>(</a:t>
            </a:r>
            <a:r>
              <a:rPr lang="zh-TW" altLang="zh-TW" smtClean="0"/>
              <a:t>如表</a:t>
            </a:r>
            <a:r>
              <a:rPr lang="en-US" altLang="zh-TW" smtClean="0"/>
              <a:t>13-3)</a:t>
            </a:r>
            <a:r>
              <a:rPr lang="zh-TW" altLang="zh-TW" smtClean="0"/>
              <a:t>，橫軸表示系統所有的使用個案，縱軸記錄所有的類別，逐一分析每一個類別參與哪幾個使用個案，並在其相對應的座標格填入「＊」。</a:t>
            </a:r>
            <a:endParaRPr lang="zh-TW" altLang="en-US" smtClean="0"/>
          </a:p>
        </p:txBody>
      </p:sp>
      <p:sp>
        <p:nvSpPr>
          <p:cNvPr id="48131" name="Rectangle 1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13.3.3 </a:t>
            </a:r>
            <a:r>
              <a:rPr lang="zh-TW" altLang="en-US" smtClean="0"/>
              <a:t>繪製類別圖</a:t>
            </a:r>
            <a:r>
              <a:rPr lang="en-US" altLang="zh-TW" smtClean="0"/>
              <a:t>(c.3)</a:t>
            </a:r>
          </a:p>
        </p:txBody>
      </p:sp>
      <p:pic>
        <p:nvPicPr>
          <p:cNvPr id="48132" name="Picture 14" descr="z-vb157d-t13-3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6013" y="3213100"/>
            <a:ext cx="7705725" cy="292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zh-TW" altLang="en-US" smtClean="0"/>
              <a:t>圖</a:t>
            </a:r>
            <a:r>
              <a:rPr lang="en-US" altLang="zh-TW" smtClean="0"/>
              <a:t>13-11 </a:t>
            </a:r>
            <a:r>
              <a:rPr lang="zh-TW" altLang="en-US" smtClean="0"/>
              <a:t>新增訂購項目使用個案之類別圖</a:t>
            </a:r>
          </a:p>
        </p:txBody>
      </p:sp>
      <p:pic>
        <p:nvPicPr>
          <p:cNvPr id="54275" name="圖片 6" descr="未命名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51050" y="1438275"/>
            <a:ext cx="5545138" cy="4943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zh-TW" altLang="en-US" sz="2800" smtClean="0"/>
              <a:t>圖</a:t>
            </a:r>
            <a:r>
              <a:rPr lang="en-US" altLang="zh-TW" sz="2800" smtClean="0"/>
              <a:t>13-12 </a:t>
            </a:r>
            <a:r>
              <a:rPr lang="zh-TW" altLang="en-US" sz="2800" smtClean="0"/>
              <a:t>西子灣線上訂購系統之匯總類別圖</a:t>
            </a:r>
          </a:p>
        </p:txBody>
      </p:sp>
      <p:pic>
        <p:nvPicPr>
          <p:cNvPr id="57347" name="圖片 7" descr="未命名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51050" y="1484313"/>
            <a:ext cx="5400675" cy="48577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13.4.2 </a:t>
            </a:r>
            <a:r>
              <a:rPr lang="zh-TW" altLang="en-US" smtClean="0"/>
              <a:t>繪製物件圖</a:t>
            </a:r>
            <a:r>
              <a:rPr lang="en-US" altLang="zh-TW" smtClean="0"/>
              <a:t>(c.2)</a:t>
            </a:r>
          </a:p>
        </p:txBody>
      </p:sp>
      <p:pic>
        <p:nvPicPr>
          <p:cNvPr id="59395" name="內容版面配置區 7" descr="未命名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05025" y="1438275"/>
            <a:ext cx="5324475" cy="4857750"/>
          </a:xfr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h01">
  <a:themeElements>
    <a:clrScheme name="">
      <a:dk1>
        <a:srgbClr val="000000"/>
      </a:dk1>
      <a:lt1>
        <a:srgbClr val="FFFFFF"/>
      </a:lt1>
      <a:dk2>
        <a:srgbClr val="CCFFFF"/>
      </a:dk2>
      <a:lt2>
        <a:srgbClr val="CBCBCB"/>
      </a:lt2>
      <a:accent1>
        <a:srgbClr val="009999"/>
      </a:accent1>
      <a:accent2>
        <a:srgbClr val="FF9933"/>
      </a:accent2>
      <a:accent3>
        <a:srgbClr val="E2FFFF"/>
      </a:accent3>
      <a:accent4>
        <a:srgbClr val="DADADA"/>
      </a:accent4>
      <a:accent5>
        <a:srgbClr val="AACACA"/>
      </a:accent5>
      <a:accent6>
        <a:srgbClr val="E78A2D"/>
      </a:accent6>
      <a:hlink>
        <a:srgbClr val="330099"/>
      </a:hlink>
      <a:folHlink>
        <a:srgbClr val="CBCBCB"/>
      </a:folHlink>
    </a:clrScheme>
    <a:fontScheme name="ch01">
      <a:majorFont>
        <a:latin typeface="Times New Roman"/>
        <a:ea typeface="華康特粗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TW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honburi"/>
            <a:ea typeface="微軟正黑體" pitchFamily="34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TW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honburi"/>
            <a:ea typeface="微軟正黑體" pitchFamily="34" charset="-120"/>
          </a:defRPr>
        </a:defPPr>
      </a:lstStyle>
    </a:lnDef>
  </a:objectDefaults>
  <a:extraClrSchemeLst>
    <a:extraClrScheme>
      <a:clrScheme name="ch01 1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9999"/>
        </a:accent1>
        <a:accent2>
          <a:srgbClr val="FF9933"/>
        </a:accent2>
        <a:accent3>
          <a:srgbClr val="AAB8E2"/>
        </a:accent3>
        <a:accent4>
          <a:srgbClr val="DADADA"/>
        </a:accent4>
        <a:accent5>
          <a:srgbClr val="AACACA"/>
        </a:accent5>
        <a:accent6>
          <a:srgbClr val="E78A2D"/>
        </a:accent6>
        <a:hlink>
          <a:srgbClr val="330099"/>
        </a:hlink>
        <a:folHlink>
          <a:srgbClr val="CBCBC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01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5_ch01 網際網路基礎">
  <a:themeElements>
    <a:clrScheme name="">
      <a:dk1>
        <a:srgbClr val="000000"/>
      </a:dk1>
      <a:lt1>
        <a:srgbClr val="FFFFFF"/>
      </a:lt1>
      <a:dk2>
        <a:srgbClr val="CCFFFF"/>
      </a:dk2>
      <a:lt2>
        <a:srgbClr val="CBCBCB"/>
      </a:lt2>
      <a:accent1>
        <a:srgbClr val="009999"/>
      </a:accent1>
      <a:accent2>
        <a:srgbClr val="FF9933"/>
      </a:accent2>
      <a:accent3>
        <a:srgbClr val="E2FFFF"/>
      </a:accent3>
      <a:accent4>
        <a:srgbClr val="DADADA"/>
      </a:accent4>
      <a:accent5>
        <a:srgbClr val="AACACA"/>
      </a:accent5>
      <a:accent6>
        <a:srgbClr val="E78A2D"/>
      </a:accent6>
      <a:hlink>
        <a:srgbClr val="330099"/>
      </a:hlink>
      <a:folHlink>
        <a:srgbClr val="CBCBCB"/>
      </a:folHlink>
    </a:clrScheme>
    <a:fontScheme name="5_ch01 網際網路基礎">
      <a:majorFont>
        <a:latin typeface="Times New Roman"/>
        <a:ea typeface="華康特粗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TW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honburi"/>
            <a:ea typeface="微軟正黑體" pitchFamily="34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TW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honburi"/>
            <a:ea typeface="微軟正黑體" pitchFamily="34" charset="-120"/>
          </a:defRPr>
        </a:defPPr>
      </a:lstStyle>
    </a:lnDef>
  </a:objectDefaults>
  <a:extraClrSchemeLst>
    <a:extraClrScheme>
      <a:clrScheme name="5_ch01 網際網路基礎 1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9999"/>
        </a:accent1>
        <a:accent2>
          <a:srgbClr val="FF9933"/>
        </a:accent2>
        <a:accent3>
          <a:srgbClr val="AAB8E2"/>
        </a:accent3>
        <a:accent4>
          <a:srgbClr val="DADADA"/>
        </a:accent4>
        <a:accent5>
          <a:srgbClr val="AACACA"/>
        </a:accent5>
        <a:accent6>
          <a:srgbClr val="E78A2D"/>
        </a:accent6>
        <a:hlink>
          <a:srgbClr val="330099"/>
        </a:hlink>
        <a:folHlink>
          <a:srgbClr val="CBCBC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ch01 網際網路基礎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ch01 網際網路基礎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1131</TotalTime>
  <Words>1144</Words>
  <Application>Microsoft Office PowerPoint</Application>
  <PresentationFormat>如螢幕大小 (4:3)</PresentationFormat>
  <Paragraphs>65</Paragraphs>
  <Slides>22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2</vt:i4>
      </vt:variant>
      <vt:variant>
        <vt:lpstr>投影片標題</vt:lpstr>
      </vt:variant>
      <vt:variant>
        <vt:i4>22</vt:i4>
      </vt:variant>
    </vt:vector>
  </HeadingPairs>
  <TitlesOfParts>
    <vt:vector size="24" baseType="lpstr">
      <vt:lpstr>ch01</vt:lpstr>
      <vt:lpstr>5_ch01 網際網路基礎</vt:lpstr>
      <vt:lpstr>第十三章 物件資料結構塑模</vt:lpstr>
      <vt:lpstr>內容大綱</vt:lpstr>
      <vt:lpstr>學習目標</vt:lpstr>
      <vt:lpstr>13.2.1 類別圖－類別</vt:lpstr>
      <vt:lpstr>13.2.1 類別圖－類別(c.6)</vt:lpstr>
      <vt:lpstr>13.2.2 類別間之關係</vt:lpstr>
      <vt:lpstr>13.2.2 類別間之關係(c.3)</vt:lpstr>
      <vt:lpstr>圖13-3 類別之一般化關係範例</vt:lpstr>
      <vt:lpstr>13.2.2 類別間之關係(c.7)</vt:lpstr>
      <vt:lpstr>13.2.2 類別間之關係(c.8)</vt:lpstr>
      <vt:lpstr>13.2.2 類別間之關係(c.9)</vt:lpstr>
      <vt:lpstr>13.2.2 類別間之關係(c.11)</vt:lpstr>
      <vt:lpstr>圖13-6c 類別關聯關係之關聯類別範例</vt:lpstr>
      <vt:lpstr>13.2.2 類別間之關係(c.14)</vt:lpstr>
      <vt:lpstr>13.2.2 類別間之關係(c.16)</vt:lpstr>
      <vt:lpstr>圖13-8b 類別間之限制範例</vt:lpstr>
      <vt:lpstr>13.2.3 物件圖</vt:lpstr>
      <vt:lpstr>13.2.3 物件圖(c.2)</vt:lpstr>
      <vt:lpstr>13.3.3 繪製類別圖(c.3)</vt:lpstr>
      <vt:lpstr>圖13-11 新增訂購項目使用個案之類別圖</vt:lpstr>
      <vt:lpstr>圖13-12 西子灣線上訂購系統之匯總類別圖</vt:lpstr>
      <vt:lpstr>13.4.2 繪製物件圖(c.2)</vt:lpstr>
    </vt:vector>
  </TitlesOfParts>
  <Company>nsysu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第十一章 物件導向分析</dc:title>
  <dc:creator>handsome</dc:creator>
  <cp:lastModifiedBy>user</cp:lastModifiedBy>
  <cp:revision>173</cp:revision>
  <dcterms:created xsi:type="dcterms:W3CDTF">1999-12-23T21:01:10Z</dcterms:created>
  <dcterms:modified xsi:type="dcterms:W3CDTF">2020-04-20T02:57:27Z</dcterms:modified>
</cp:coreProperties>
</file>