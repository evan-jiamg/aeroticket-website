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13"/>
  </p:notesMasterIdLst>
  <p:sldIdLst>
    <p:sldId id="256" r:id="rId2"/>
    <p:sldId id="258" r:id="rId3"/>
    <p:sldId id="257" r:id="rId4"/>
    <p:sldId id="260" r:id="rId5"/>
    <p:sldId id="264" r:id="rId6"/>
    <p:sldId id="271" r:id="rId7"/>
    <p:sldId id="272" r:id="rId8"/>
    <p:sldId id="292" r:id="rId9"/>
    <p:sldId id="300" r:id="rId10"/>
    <p:sldId id="301" r:id="rId11"/>
    <p:sldId id="296" r:id="rId12"/>
  </p:sldIdLst>
  <p:sldSz cx="9144000" cy="6858000" type="screen4x3"/>
  <p:notesSz cx="6669088" cy="9820275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0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3862" autoAdjust="0"/>
    <p:restoredTop sz="90929" autoAdjust="0"/>
  </p:normalViewPr>
  <p:slideViewPr>
    <p:cSldViewPr>
      <p:cViewPr>
        <p:scale>
          <a:sx n="100" d="100"/>
          <a:sy n="100" d="100"/>
        </p:scale>
        <p:origin x="-894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829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9475" y="736600"/>
            <a:ext cx="4910138" cy="3683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664075"/>
            <a:ext cx="4891088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73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29738"/>
            <a:ext cx="2889250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3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329738"/>
            <a:ext cx="2889250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36F9AA64-6E75-4D2B-A363-9423E7A9D42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523797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TW" altLang="en-US" smtClean="0"/>
          </a:p>
        </p:txBody>
      </p:sp>
      <p:sp>
        <p:nvSpPr>
          <p:cNvPr id="1229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357500-1DEA-4A99-A267-5098BAA5CD7D}" type="slidenum">
              <a:rPr lang="en-US" altLang="zh-TW"/>
              <a:pPr/>
              <a:t>1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0825" y="2974975"/>
            <a:ext cx="8637588" cy="900113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pic>
        <p:nvPicPr>
          <p:cNvPr id="233477" name="Picture 5" descr="資訊科技_bg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8575" y="3875088"/>
            <a:ext cx="6651625" cy="103187"/>
          </a:xfrm>
          <a:prstGeom prst="rect">
            <a:avLst/>
          </a:prstGeom>
          <a:noFill/>
        </p:spPr>
      </p:pic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400" kern="1200" dirty="0">
                <a:solidFill>
                  <a:schemeClr val="tx1"/>
                </a:solidFill>
                <a:latin typeface="Times New Roman" pitchFamily="18" charset="0"/>
                <a:ea typeface="華康特粗明體" pitchFamily="49" charset="-120"/>
                <a:cs typeface="+mn-cs"/>
              </a:rPr>
              <a:t>ISBN </a:t>
            </a:r>
            <a:r>
              <a:rPr kumimoji="1" lang="en-US" altLang="zh-TW" sz="1400" kern="1200" dirty="0" smtClean="0">
                <a:solidFill>
                  <a:schemeClr val="tx1"/>
                </a:solidFill>
                <a:latin typeface="Times New Roman" pitchFamily="18" charset="0"/>
                <a:ea typeface="華康特粗明體" pitchFamily="49" charset="-120"/>
                <a:cs typeface="+mn-cs"/>
              </a:rPr>
              <a:t>9789575113094</a:t>
            </a:r>
            <a:endParaRPr kumimoji="1" lang="en-US" altLang="zh-TW" sz="1400" kern="1200" dirty="0">
              <a:solidFill>
                <a:schemeClr val="tx1"/>
              </a:solidFill>
              <a:latin typeface="Times New Roman" pitchFamily="18" charset="0"/>
              <a:ea typeface="華康特粗明體" pitchFamily="49" charset="-120"/>
              <a:cs typeface="+mn-cs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rIns="0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系統分析與設計</a:t>
            </a:r>
            <a:r>
              <a:rPr lang="zh-TW" altLang="en-US" sz="12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理論與實務應用</a:t>
            </a:r>
            <a:r>
              <a:rPr lang="zh-TW" altLang="en-US" sz="1200" dirty="0" smtClean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(七版</a:t>
            </a:r>
            <a:r>
              <a:rPr lang="zh-TW" altLang="en-US" sz="12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)   吳仁和、林信惠 著</a:t>
            </a:r>
          </a:p>
        </p:txBody>
      </p:sp>
    </p:spTree>
  </p:cSld>
  <p:clrMapOvr>
    <a:masterClrMapping/>
  </p:clrMapOvr>
  <p:transition spd="med">
    <p:random/>
  </p:transition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5" name="日期版面配置區 15"/>
          <p:cNvSpPr>
            <a:spLocks noGrp="1"/>
          </p:cNvSpPr>
          <p:nvPr>
            <p:ph type="dt" sz="half" idx="10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zh-TW" altLang="en-US"/>
              <a:t>吳仁和、林信惠 </a:t>
            </a:r>
            <a:r>
              <a:rPr lang="en-US" altLang="zh-TW"/>
              <a:t>(2016)</a:t>
            </a:r>
          </a:p>
        </p:txBody>
      </p:sp>
      <p:sp>
        <p:nvSpPr>
          <p:cNvPr id="6" name="頁尾版面配置區 1"/>
          <p:cNvSpPr>
            <a:spLocks noGrp="1"/>
          </p:cNvSpPr>
          <p:nvPr>
            <p:ph type="ftr" sz="quarter" idx="11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14"/>
          <p:cNvSpPr>
            <a:spLocks noGrp="1"/>
          </p:cNvSpPr>
          <p:nvPr>
            <p:ph type="sldNum" sz="quarter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1-</a:t>
            </a:r>
            <a:fld id="{B590D175-B780-4C40-AE48-1763329C83C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232454" name="Picture 6" descr="資訊科技_bg2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</p:spPr>
      </p:pic>
      <p:sp>
        <p:nvSpPr>
          <p:cNvPr id="8" name="Text Box 5"/>
          <p:cNvSpPr txBox="1">
            <a:spLocks noChangeArrowheads="1"/>
          </p:cNvSpPr>
          <p:nvPr userDrawn="1"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rIns="0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系統分析與設計</a:t>
            </a:r>
            <a:r>
              <a:rPr lang="zh-TW" altLang="en-US" sz="12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理論與實務應用</a:t>
            </a:r>
            <a:r>
              <a:rPr lang="zh-TW" altLang="en-US" sz="1200" dirty="0" smtClean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(七版</a:t>
            </a:r>
            <a:r>
              <a:rPr lang="zh-TW" altLang="en-US" sz="12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)   吳仁和、林信惠 著</a:t>
            </a:r>
          </a:p>
        </p:txBody>
      </p:sp>
      <p:sp>
        <p:nvSpPr>
          <p:cNvPr id="9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400" kern="1200" dirty="0">
                <a:solidFill>
                  <a:schemeClr val="tx1"/>
                </a:solidFill>
                <a:latin typeface="Times New Roman" pitchFamily="18" charset="0"/>
                <a:ea typeface="華康特粗明體" pitchFamily="49" charset="-120"/>
                <a:cs typeface="+mn-cs"/>
              </a:rPr>
              <a:t>ISBN </a:t>
            </a:r>
            <a:r>
              <a:rPr kumimoji="1" lang="en-US" altLang="zh-TW" sz="1400" kern="1200" dirty="0" smtClean="0">
                <a:solidFill>
                  <a:schemeClr val="tx1"/>
                </a:solidFill>
                <a:latin typeface="Times New Roman" pitchFamily="18" charset="0"/>
                <a:ea typeface="華康特粗明體" pitchFamily="49" charset="-120"/>
                <a:cs typeface="+mn-cs"/>
              </a:rPr>
              <a:t>9789575113094</a:t>
            </a:r>
            <a:endParaRPr kumimoji="1" lang="en-US" altLang="zh-TW" sz="1400" kern="1200" dirty="0">
              <a:solidFill>
                <a:schemeClr val="tx1"/>
              </a:solidFill>
              <a:latin typeface="Times New Roman" pitchFamily="18" charset="0"/>
              <a:ea typeface="華康特粗明體" pitchFamily="49" charset="-120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</p:sldLayoutIdLst>
  <p:transition spd="med">
    <p:random/>
  </p:transition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sz="4400" dirty="0"/>
              <a:t>第一章  資訊系統開發概論</a:t>
            </a:r>
            <a:endParaRPr lang="zh-TW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sz="3200" dirty="0"/>
              <a:t>內容大綱</a:t>
            </a:r>
          </a:p>
        </p:txBody>
      </p:sp>
      <p:sp>
        <p:nvSpPr>
          <p:cNvPr id="13315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TW" altLang="en-US" smtClean="0"/>
              <a:t>學習目標</a:t>
            </a:r>
          </a:p>
          <a:p>
            <a:pPr eaLnBrk="1" hangingPunct="1">
              <a:buFontTx/>
              <a:buNone/>
            </a:pPr>
            <a:r>
              <a:rPr lang="en-US" altLang="zh-TW" smtClean="0"/>
              <a:t>1.1 </a:t>
            </a:r>
            <a:r>
              <a:rPr lang="zh-TW" altLang="en-US" smtClean="0"/>
              <a:t>導論</a:t>
            </a:r>
          </a:p>
          <a:p>
            <a:pPr eaLnBrk="1" hangingPunct="1">
              <a:buFontTx/>
              <a:buNone/>
            </a:pPr>
            <a:r>
              <a:rPr lang="en-US" altLang="zh-TW" smtClean="0"/>
              <a:t>1.2 </a:t>
            </a:r>
            <a:r>
              <a:rPr lang="zh-TW" altLang="zh-TW" smtClean="0"/>
              <a:t>資訊</a:t>
            </a:r>
            <a:r>
              <a:rPr lang="zh-TW" altLang="en-US" smtClean="0"/>
              <a:t>系統開發的原則</a:t>
            </a:r>
          </a:p>
          <a:p>
            <a:pPr eaLnBrk="1" hangingPunct="1">
              <a:buFontTx/>
              <a:buNone/>
            </a:pPr>
            <a:r>
              <a:rPr lang="en-US" altLang="zh-TW" smtClean="0"/>
              <a:t>1.3 </a:t>
            </a:r>
            <a:r>
              <a:rPr lang="zh-TW" altLang="en-US" smtClean="0"/>
              <a:t>資訊系統開發的構面</a:t>
            </a:r>
          </a:p>
          <a:p>
            <a:pPr eaLnBrk="1" hangingPunct="1">
              <a:buFontTx/>
              <a:buNone/>
            </a:pPr>
            <a:r>
              <a:rPr lang="en-US" altLang="zh-TW" smtClean="0"/>
              <a:t>1.4 </a:t>
            </a:r>
            <a:r>
              <a:rPr lang="zh-TW" altLang="en-US" smtClean="0"/>
              <a:t>資訊系統開發的特性與挑戰</a:t>
            </a:r>
          </a:p>
          <a:p>
            <a:pPr eaLnBrk="1" hangingPunct="1">
              <a:buFontTx/>
              <a:buNone/>
            </a:pPr>
            <a:r>
              <a:rPr lang="en-US" altLang="zh-TW" smtClean="0"/>
              <a:t>1.5 </a:t>
            </a:r>
            <a:r>
              <a:rPr lang="zh-TW" altLang="en-US" smtClean="0"/>
              <a:t>資訊系統開發環境</a:t>
            </a:r>
          </a:p>
          <a:p>
            <a:pPr eaLnBrk="1" hangingPunct="1">
              <a:buFontTx/>
              <a:buNone/>
            </a:pPr>
            <a:r>
              <a:rPr lang="en-US" altLang="zh-TW" smtClean="0"/>
              <a:t>1.6 </a:t>
            </a:r>
            <a:r>
              <a:rPr lang="zh-TW" altLang="en-US" smtClean="0"/>
              <a:t>結論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sz="3200" dirty="0"/>
              <a:t>學習目標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TW" dirty="0" smtClean="0"/>
              <a:t>	</a:t>
            </a:r>
            <a:r>
              <a:rPr lang="zh-TW" altLang="en-US" dirty="0" smtClean="0"/>
              <a:t>詳讀本章，你至少能瞭解：</a:t>
            </a:r>
          </a:p>
          <a:p>
            <a:pPr eaLnBrk="1" hangingPunct="1"/>
            <a:r>
              <a:rPr lang="zh-TW" altLang="en-US" dirty="0" smtClean="0"/>
              <a:t>系統開發、資訊系統開發和系統分析與設計的關係。</a:t>
            </a:r>
          </a:p>
          <a:p>
            <a:pPr eaLnBrk="1" hangingPunct="1"/>
            <a:r>
              <a:rPr lang="zh-TW" altLang="en-US" dirty="0" smtClean="0"/>
              <a:t>影響資訊系統開發的重要構面。</a:t>
            </a:r>
          </a:p>
          <a:p>
            <a:pPr eaLnBrk="1" hangingPunct="1"/>
            <a:r>
              <a:rPr lang="zh-TW" altLang="en-US" dirty="0" smtClean="0"/>
              <a:t>資訊系統開發環境。</a:t>
            </a:r>
          </a:p>
          <a:p>
            <a:pPr eaLnBrk="1" hangingPunct="1"/>
            <a:r>
              <a:rPr lang="zh-TW" altLang="zh-TW" dirty="0" smtClean="0"/>
              <a:t>資訊系統開發有哪些重要人員參與，各扮演何種角色</a:t>
            </a:r>
            <a:r>
              <a:rPr lang="zh-TW" altLang="en-US" dirty="0" smtClean="0"/>
              <a:t>。</a:t>
            </a:r>
          </a:p>
          <a:p>
            <a:pPr eaLnBrk="1" hangingPunct="1"/>
            <a:r>
              <a:rPr lang="zh-TW" altLang="zh-TW" dirty="0" smtClean="0"/>
              <a:t>資訊系統之建置有哪些策略可思考</a:t>
            </a:r>
            <a:r>
              <a:rPr lang="zh-TW" altLang="en-US" dirty="0" smtClean="0"/>
              <a:t>。</a:t>
            </a:r>
          </a:p>
          <a:p>
            <a:pPr eaLnBrk="1" hangingPunct="1"/>
            <a:r>
              <a:rPr lang="zh-TW" altLang="en-US" dirty="0" smtClean="0"/>
              <a:t>有哪些資訊系統開發模式。</a:t>
            </a:r>
          </a:p>
          <a:p>
            <a:pPr eaLnBrk="1" hangingPunct="1"/>
            <a:r>
              <a:rPr lang="zh-TW" altLang="en-US" dirty="0" smtClean="0"/>
              <a:t>系統分析與設計階段有哪些技術可用。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3200" dirty="0"/>
              <a:t>1.1 </a:t>
            </a:r>
            <a:r>
              <a:rPr lang="zh-TW" altLang="en-US" sz="3200" dirty="0"/>
              <a:t>導論  </a:t>
            </a:r>
            <a:r>
              <a:rPr lang="en-US" altLang="zh-TW" sz="3200" dirty="0"/>
              <a:t>(c.2)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zh-TW" sz="2100" dirty="0" smtClean="0"/>
              <a:t>雖然資訊系統各有其不同特性，系統開發的策略與技術也不盡相同，但系統開發過程仍可大略歸納出一些基本而共同步驟或階段</a:t>
            </a:r>
            <a:endParaRPr lang="en-US" altLang="zh-TW" sz="2100" dirty="0" smtClean="0"/>
          </a:p>
          <a:p>
            <a:pPr lvl="1" eaLnBrk="1" hangingPunct="1"/>
            <a:r>
              <a:rPr lang="zh-TW" altLang="zh-TW" sz="2100" dirty="0" smtClean="0"/>
              <a:t>較單純之系統</a:t>
            </a:r>
            <a:r>
              <a:rPr lang="zh-TW" altLang="en-US" sz="2100" dirty="0" smtClean="0"/>
              <a:t>：</a:t>
            </a:r>
            <a:r>
              <a:rPr lang="zh-TW" altLang="zh-TW" sz="2100" dirty="0" smtClean="0"/>
              <a:t>分為</a:t>
            </a:r>
            <a:r>
              <a:rPr lang="zh-TW" altLang="zh-TW" sz="2100" b="1" dirty="0" smtClean="0"/>
              <a:t>需求分析</a:t>
            </a:r>
            <a:r>
              <a:rPr lang="zh-TW" altLang="zh-TW" sz="2100" dirty="0" smtClean="0"/>
              <a:t>、</a:t>
            </a:r>
            <a:r>
              <a:rPr lang="zh-TW" altLang="zh-TW" sz="2100" b="1" dirty="0" smtClean="0"/>
              <a:t>系統分析與設計</a:t>
            </a:r>
            <a:r>
              <a:rPr lang="zh-TW" altLang="zh-TW" sz="2100" dirty="0" smtClean="0"/>
              <a:t>、</a:t>
            </a:r>
            <a:r>
              <a:rPr lang="zh-TW" altLang="zh-TW" sz="2100" b="1" dirty="0" smtClean="0"/>
              <a:t>系統實施</a:t>
            </a:r>
            <a:r>
              <a:rPr lang="zh-TW" altLang="zh-TW" sz="2100" dirty="0" smtClean="0"/>
              <a:t>三階段</a:t>
            </a:r>
            <a:endParaRPr lang="en-US" altLang="zh-TW" sz="2100" dirty="0" smtClean="0"/>
          </a:p>
          <a:p>
            <a:pPr lvl="1" eaLnBrk="1" hangingPunct="1">
              <a:buFont typeface="Wingdings 2" pitchFamily="18" charset="2"/>
              <a:buNone/>
            </a:pPr>
            <a:endParaRPr lang="en-US" altLang="zh-TW" sz="2100" dirty="0" smtClean="0"/>
          </a:p>
          <a:p>
            <a:pPr lvl="1" eaLnBrk="1" hangingPunct="1"/>
            <a:r>
              <a:rPr lang="zh-TW" altLang="zh-TW" sz="2100" dirty="0" smtClean="0"/>
              <a:t>較複雜之系統</a:t>
            </a:r>
            <a:r>
              <a:rPr lang="zh-TW" altLang="en-US" sz="2100" dirty="0" smtClean="0"/>
              <a:t>：</a:t>
            </a:r>
            <a:r>
              <a:rPr lang="zh-TW" altLang="zh-TW" sz="2100" dirty="0" smtClean="0"/>
              <a:t>可劃分</a:t>
            </a:r>
            <a:r>
              <a:rPr lang="zh-TW" altLang="en-US" sz="2100" dirty="0" smtClean="0"/>
              <a:t>為</a:t>
            </a:r>
            <a:r>
              <a:rPr lang="zh-TW" altLang="zh-TW" sz="2100" dirty="0" smtClean="0"/>
              <a:t>七個階段或更多階段</a:t>
            </a:r>
            <a:endParaRPr lang="en-US" altLang="zh-TW" sz="2100" dirty="0" smtClean="0"/>
          </a:p>
          <a:p>
            <a:pPr lvl="1" eaLnBrk="1" hangingPunct="1"/>
            <a:endParaRPr lang="en-US" altLang="zh-TW" sz="2100" dirty="0" smtClean="0"/>
          </a:p>
          <a:p>
            <a:pPr lvl="1" eaLnBrk="1" hangingPunct="1"/>
            <a:endParaRPr lang="en-US" altLang="zh-TW" sz="2100" dirty="0" smtClean="0"/>
          </a:p>
          <a:p>
            <a:pPr lvl="1" eaLnBrk="1" hangingPunct="1"/>
            <a:endParaRPr lang="en-US" altLang="zh-TW" sz="2100" dirty="0" smtClean="0"/>
          </a:p>
          <a:p>
            <a:pPr lvl="1" eaLnBrk="1" hangingPunct="1"/>
            <a:r>
              <a:rPr lang="zh-TW" altLang="zh-TW" sz="2100" dirty="0" smtClean="0"/>
              <a:t>無論如何劃分，「系統分析與設計」都是重要的開發階段之一</a:t>
            </a:r>
            <a:endParaRPr lang="zh-TW" altLang="en-US" sz="2100" dirty="0" smtClean="0"/>
          </a:p>
        </p:txBody>
      </p:sp>
      <p:sp>
        <p:nvSpPr>
          <p:cNvPr id="1639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TW" altLang="en-US"/>
          </a:p>
        </p:txBody>
      </p:sp>
      <p:graphicFrame>
        <p:nvGraphicFramePr>
          <p:cNvPr id="16391" name="Object 4"/>
          <p:cNvGraphicFramePr>
            <a:graphicFrameLocks noChangeAspect="1"/>
          </p:cNvGraphicFramePr>
          <p:nvPr/>
        </p:nvGraphicFramePr>
        <p:xfrm>
          <a:off x="3143240" y="3014663"/>
          <a:ext cx="37814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Visio" r:id="rId3" imgW="3781044" imgH="490728" progId="Visio.Drawing.11">
                  <p:embed/>
                </p:oleObj>
              </mc:Choice>
              <mc:Fallback>
                <p:oleObj name="Visio" r:id="rId3" imgW="3781044" imgH="490728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40" y="3014663"/>
                        <a:ext cx="3781425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TW" altLang="en-US"/>
          </a:p>
        </p:txBody>
      </p:sp>
      <p:graphicFrame>
        <p:nvGraphicFramePr>
          <p:cNvPr id="16393" name="Object 6"/>
          <p:cNvGraphicFramePr>
            <a:graphicFrameLocks noChangeAspect="1"/>
          </p:cNvGraphicFramePr>
          <p:nvPr/>
        </p:nvGraphicFramePr>
        <p:xfrm>
          <a:off x="3214678" y="4071942"/>
          <a:ext cx="3743325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" name="Visio" r:id="rId5" imgW="3747516" imgH="1310640" progId="Visio.Drawing.11">
                  <p:embed/>
                </p:oleObj>
              </mc:Choice>
              <mc:Fallback>
                <p:oleObj name="Visio" r:id="rId5" imgW="3747516" imgH="1310640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8" y="4071942"/>
                        <a:ext cx="3743325" cy="1314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3200" dirty="0"/>
              <a:t>1.3 </a:t>
            </a:r>
            <a:r>
              <a:rPr lang="zh-TW" altLang="en-US" sz="3200" dirty="0"/>
              <a:t>資訊系統開發的構面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smtClean="0"/>
              <a:t>資訊系統開發要考慮人、方法、科技和企業經營等四個重要的構面，其關係有如鑽石結構，各構面須均衡發展：</a:t>
            </a:r>
          </a:p>
        </p:txBody>
      </p:sp>
      <p:pic>
        <p:nvPicPr>
          <p:cNvPr id="1843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3042" y="2500306"/>
            <a:ext cx="6096000" cy="279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3200" dirty="0"/>
              <a:t>1.5</a:t>
            </a:r>
            <a:r>
              <a:rPr lang="zh-TW" altLang="en-US" sz="3200" dirty="0"/>
              <a:t>資訊系統開發環境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zh-TW" dirty="0" smtClean="0"/>
              <a:t>資訊系統開發環境所涉及的層面很廣，包括資訊系統的開發模式、種類、建置策略、開發人員、系統分析與設計技術等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eaLnBrk="1" hangingPunct="1"/>
            <a:r>
              <a:rPr lang="zh-TW" altLang="zh-TW" dirty="0" smtClean="0"/>
              <a:t>外在大環境的科技、社會、教育、文化、人口、經濟、政府政策與法規等因素，也直接或間接影響系統分析與設計</a:t>
            </a:r>
            <a:r>
              <a:rPr lang="zh-TW" altLang="en-US" sz="2400" dirty="0" smtClean="0"/>
              <a:t>。</a:t>
            </a:r>
          </a:p>
        </p:txBody>
      </p:sp>
      <p:sp>
        <p:nvSpPr>
          <p:cNvPr id="21510" name="Rectangle 5"/>
          <p:cNvSpPr>
            <a:spLocks noChangeArrowheads="1"/>
          </p:cNvSpPr>
          <p:nvPr/>
        </p:nvSpPr>
        <p:spPr bwMode="auto">
          <a:xfrm>
            <a:off x="2643188" y="2390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TW" altLang="en-US"/>
          </a:p>
        </p:txBody>
      </p:sp>
      <p:sp>
        <p:nvSpPr>
          <p:cNvPr id="21511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TW" altLang="en-US"/>
          </a:p>
        </p:txBody>
      </p:sp>
      <p:sp>
        <p:nvSpPr>
          <p:cNvPr id="21512" name="Rectangle 3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TW" altLang="en-US"/>
          </a:p>
        </p:txBody>
      </p:sp>
      <p:pic>
        <p:nvPicPr>
          <p:cNvPr id="21513" name="圖片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7422" y="3214686"/>
            <a:ext cx="4775200" cy="321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3200" dirty="0"/>
              <a:t>1.5.1 </a:t>
            </a:r>
            <a:r>
              <a:rPr lang="zh-TW" altLang="en-US" sz="3200" dirty="0"/>
              <a:t>資訊系統的種類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zh-TW" dirty="0" smtClean="0"/>
              <a:t>資訊系統是由使用者介面、問題處理與知識等元件，利用資訊科技有組織的結合，以管理（如擷取、傳輸、儲存、處理與展示等）知識，並為某些活動（如企業流程或問題解決等）提供知識或服務的系統</a:t>
            </a:r>
            <a:r>
              <a:rPr lang="zh-TW" altLang="en-US" dirty="0" smtClean="0"/>
              <a:t>。</a:t>
            </a:r>
          </a:p>
        </p:txBody>
      </p:sp>
      <p:sp>
        <p:nvSpPr>
          <p:cNvPr id="22534" name="Rectangle 5"/>
          <p:cNvSpPr>
            <a:spLocks noChangeArrowheads="1"/>
          </p:cNvSpPr>
          <p:nvPr/>
        </p:nvSpPr>
        <p:spPr bwMode="auto">
          <a:xfrm>
            <a:off x="2462213" y="19954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TW" altLang="en-US"/>
          </a:p>
        </p:txBody>
      </p:sp>
      <p:sp>
        <p:nvSpPr>
          <p:cNvPr id="2253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TW" altLang="en-US"/>
          </a:p>
        </p:txBody>
      </p:sp>
      <p:graphicFrame>
        <p:nvGraphicFramePr>
          <p:cNvPr id="22536" name="Object 1"/>
          <p:cNvGraphicFramePr>
            <a:graphicFrameLocks noChangeAspect="1"/>
          </p:cNvGraphicFramePr>
          <p:nvPr/>
        </p:nvGraphicFramePr>
        <p:xfrm>
          <a:off x="2071670" y="3214686"/>
          <a:ext cx="5429288" cy="3090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0" name="Visio" r:id="rId3" imgW="3781044" imgH="2153412" progId="Visio.Drawing.11">
                  <p:embed/>
                </p:oleObj>
              </mc:Choice>
              <mc:Fallback>
                <p:oleObj name="Visio" r:id="rId3" imgW="3781044" imgH="215341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70" y="3214686"/>
                        <a:ext cx="5429288" cy="30906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sz="3200" dirty="0"/>
              <a:t>資訊系統之種類及其特性</a:t>
            </a:r>
          </a:p>
        </p:txBody>
      </p:sp>
      <p:graphicFrame>
        <p:nvGraphicFramePr>
          <p:cNvPr id="7" name="內容版面配置區 10"/>
          <p:cNvGraphicFramePr>
            <a:graphicFrameLocks noGrp="1"/>
          </p:cNvGraphicFramePr>
          <p:nvPr>
            <p:ph idx="1"/>
          </p:nvPr>
        </p:nvGraphicFramePr>
        <p:xfrm>
          <a:off x="373856" y="1572268"/>
          <a:ext cx="8424000" cy="4714252"/>
        </p:xfrm>
        <a:graphic>
          <a:graphicData uri="http://schemas.openxmlformats.org/drawingml/2006/table">
            <a:tbl>
              <a:tblPr/>
              <a:tblGrid>
                <a:gridCol w="2237018"/>
                <a:gridCol w="6186982"/>
              </a:tblGrid>
              <a:tr h="3933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資訊系統種類</a:t>
                      </a: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9561" marR="89561" marT="45726" marB="4572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資訊系統特性</a:t>
                      </a: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9561" marR="89561" marT="45726" marB="4572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04309">
                <a:tc>
                  <a:txBody>
                    <a:bodyPr/>
                    <a:lstStyle/>
                    <a:p>
                      <a:pPr marL="42863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03B14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交易處理系統</a:t>
                      </a:r>
                    </a:p>
                  </a:txBody>
                  <a:tcPr marL="17415" marR="17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0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將大量的交易處理自動化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處理程序與資訊需求非常結構化</a:t>
                      </a:r>
                    </a:p>
                  </a:txBody>
                  <a:tcPr marL="17415" marR="17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0CD"/>
                    </a:solidFill>
                  </a:tcPr>
                </a:tc>
              </a:tr>
              <a:tr h="504309">
                <a:tc>
                  <a:txBody>
                    <a:bodyPr/>
                    <a:lstStyle/>
                    <a:p>
                      <a:pPr marL="42863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03B14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管理資訊系統</a:t>
                      </a:r>
                    </a:p>
                  </a:txBody>
                  <a:tcPr marL="17415" marR="17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0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提供不同層級</a:t>
                      </a:r>
                      <a:r>
                        <a:rPr kumimoji="0" lang="zh-TW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之</a:t>
                      </a:r>
                      <a:r>
                        <a:rPr kumimoji="0" 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管理者摘述程度不同之報表</a:t>
                      </a:r>
                      <a:endParaRPr kumimoji="0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zh-TW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資</a:t>
                      </a:r>
                      <a:r>
                        <a:rPr kumimoji="0" 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料的處理與報表的產生亦多為結構化</a:t>
                      </a:r>
                    </a:p>
                  </a:txBody>
                  <a:tcPr marL="17415" marR="17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0E8"/>
                    </a:solidFill>
                  </a:tcPr>
                </a:tc>
              </a:tr>
              <a:tr h="504309">
                <a:tc>
                  <a:txBody>
                    <a:bodyPr/>
                    <a:lstStyle/>
                    <a:p>
                      <a:pPr marL="42863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03B14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決策支援系統</a:t>
                      </a:r>
                    </a:p>
                  </a:txBody>
                  <a:tcPr marL="17415" marR="17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0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支援決策者半結構化或非結構化之決策</a:t>
                      </a:r>
                      <a:endParaRPr kumimoji="0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提升決策</a:t>
                      </a:r>
                      <a:r>
                        <a:rPr kumimoji="0" lang="zh-TW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之</a:t>
                      </a:r>
                      <a:r>
                        <a:rPr kumimoji="0" 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效率與效能</a:t>
                      </a:r>
                    </a:p>
                  </a:txBody>
                  <a:tcPr marL="17415" marR="17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0CD"/>
                    </a:solidFill>
                  </a:tcPr>
                </a:tc>
              </a:tr>
              <a:tr h="756464">
                <a:tc>
                  <a:txBody>
                    <a:bodyPr/>
                    <a:lstStyle/>
                    <a:p>
                      <a:pPr marL="42863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03B14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高階主管資訊系統</a:t>
                      </a:r>
                    </a:p>
                  </a:txBody>
                  <a:tcPr marL="17415" marR="17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0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支援高階主管即時瞭解所需之關鍵資訊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可過濾、摘述關鍵資訊</a:t>
                      </a:r>
                      <a:endParaRPr kumimoji="0" lang="en-US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可將資訊以多種方式作圖形化的展示</a:t>
                      </a:r>
                    </a:p>
                  </a:txBody>
                  <a:tcPr marL="17415" marR="17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0E8"/>
                    </a:solidFill>
                  </a:tcPr>
                </a:tc>
              </a:tr>
              <a:tr h="504309">
                <a:tc>
                  <a:txBody>
                    <a:bodyPr/>
                    <a:lstStyle/>
                    <a:p>
                      <a:pPr marL="42863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03B14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專家系統</a:t>
                      </a:r>
                    </a:p>
                  </a:txBody>
                  <a:tcPr marL="17415" marR="17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0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針對特定應用範圍或領域，集合不同專家知識而成的系統</a:t>
                      </a:r>
                      <a:endParaRPr kumimoji="0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希望專家系統提供之答案或建議可達人類專家</a:t>
                      </a:r>
                      <a:r>
                        <a:rPr kumimoji="0" lang="zh-TW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之</a:t>
                      </a:r>
                      <a:r>
                        <a:rPr kumimoji="0" 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水準</a:t>
                      </a:r>
                    </a:p>
                  </a:txBody>
                  <a:tcPr marL="17415" marR="17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0CD"/>
                    </a:solidFill>
                  </a:tcPr>
                </a:tc>
              </a:tr>
              <a:tr h="756464">
                <a:tc>
                  <a:txBody>
                    <a:bodyPr/>
                    <a:lstStyle/>
                    <a:p>
                      <a:pPr marL="42863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03B14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企業資源規劃系統</a:t>
                      </a:r>
                    </a:p>
                  </a:txBody>
                  <a:tcPr marL="17415" marR="17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0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將多項企業功能整合在一起</a:t>
                      </a:r>
                      <a:endParaRPr kumimoji="0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可即時整合與規劃企業分散於各地</a:t>
                      </a:r>
                      <a:r>
                        <a:rPr kumimoji="0" lang="zh-TW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之</a:t>
                      </a:r>
                      <a:r>
                        <a:rPr kumimoji="0" 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資源</a:t>
                      </a:r>
                      <a:endParaRPr kumimoji="0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提供最佳的流程典範</a:t>
                      </a:r>
                    </a:p>
                  </a:txBody>
                  <a:tcPr marL="17415" marR="17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0E8"/>
                    </a:solidFill>
                  </a:tcPr>
                </a:tc>
              </a:tr>
              <a:tr h="756464">
                <a:tc>
                  <a:txBody>
                    <a:bodyPr/>
                    <a:lstStyle/>
                    <a:p>
                      <a:pPr marL="42863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603B14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APP</a:t>
                      </a:r>
                      <a:endParaRPr kumimoji="0" lang="zh-TW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603B14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marL="17415" marR="17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0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zh-TW" altLang="zh-TW" sz="1800" kern="1200" dirty="0" smtClean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針對行動裝置所開發的各種微型應用程式</a:t>
                      </a:r>
                      <a:endParaRPr kumimoji="0" lang="en-US" altLang="zh-TW" sz="1800" kern="1200" dirty="0" smtClean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zh-TW" altLang="zh-TW" sz="1800" kern="1200" dirty="0" smtClean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擁有獨立的操作系統</a:t>
                      </a:r>
                      <a:endParaRPr kumimoji="0" lang="en-US" altLang="zh-TW" sz="1800" kern="1200" dirty="0" smtClean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Ø"/>
                        <a:tabLst/>
                      </a:pPr>
                      <a:r>
                        <a:rPr kumimoji="0" lang="zh-TW" altLang="zh-TW" sz="1800" kern="1200" dirty="0" smtClean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使用者透過軟體應用程式商店直接下載並安裝於行動裝置</a:t>
                      </a:r>
                      <a:endParaRPr kumimoji="0" 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marL="17415" marR="17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E0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1.5.5 </a:t>
            </a:r>
            <a:r>
              <a:rPr lang="zh-TW" altLang="en-US" dirty="0" smtClean="0"/>
              <a:t>程式語言</a:t>
            </a:r>
            <a:endParaRPr lang="zh-TW" altLang="en-US" dirty="0"/>
          </a:p>
        </p:txBody>
      </p:sp>
      <p:sp>
        <p:nvSpPr>
          <p:cNvPr id="3993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smtClean="0"/>
              <a:t>程式語言從</a:t>
            </a:r>
            <a:r>
              <a:rPr lang="en-US" altLang="zh-TW" smtClean="0"/>
              <a:t>1950</a:t>
            </a:r>
            <a:r>
              <a:rPr lang="zh-TW" altLang="zh-TW" smtClean="0"/>
              <a:t>年代的</a:t>
            </a:r>
            <a:r>
              <a:rPr lang="zh-TW" altLang="zh-TW" b="1" smtClean="0"/>
              <a:t>機器碼</a:t>
            </a:r>
            <a:r>
              <a:rPr lang="en-US" altLang="zh-TW" b="1" smtClean="0"/>
              <a:t> (Raw Machine Code)</a:t>
            </a:r>
            <a:r>
              <a:rPr lang="en-US" altLang="zh-TW" smtClean="0"/>
              <a:t> </a:t>
            </a:r>
            <a:r>
              <a:rPr lang="zh-TW" altLang="zh-TW" smtClean="0"/>
              <a:t>逐漸演進為</a:t>
            </a:r>
            <a:r>
              <a:rPr lang="zh-TW" altLang="zh-TW" b="1" smtClean="0"/>
              <a:t>組合語言</a:t>
            </a:r>
            <a:r>
              <a:rPr lang="en-US" altLang="zh-TW" b="1" smtClean="0"/>
              <a:t>(Assembly Languages)</a:t>
            </a:r>
            <a:r>
              <a:rPr lang="zh-TW" altLang="zh-TW" smtClean="0"/>
              <a:t>、</a:t>
            </a:r>
            <a:r>
              <a:rPr lang="zh-TW" altLang="zh-TW" b="1" smtClean="0"/>
              <a:t>程序性程式語言</a:t>
            </a:r>
            <a:r>
              <a:rPr lang="en-US" altLang="zh-TW" b="1" smtClean="0"/>
              <a:t> (Procedural Programming Languages) </a:t>
            </a:r>
            <a:r>
              <a:rPr lang="zh-TW" altLang="zh-TW" smtClean="0"/>
              <a:t>到現在的</a:t>
            </a:r>
            <a:r>
              <a:rPr lang="zh-TW" altLang="zh-TW" b="1" smtClean="0"/>
              <a:t>物件導向程式語言</a:t>
            </a:r>
            <a:r>
              <a:rPr lang="en-US" altLang="zh-TW" b="1" smtClean="0"/>
              <a:t> (Object-Oriented Programming Languages) </a:t>
            </a:r>
            <a:endParaRPr lang="zh-TW" altLang="en-US" smtClean="0"/>
          </a:p>
        </p:txBody>
      </p:sp>
      <p:pic>
        <p:nvPicPr>
          <p:cNvPr id="39942" name="圖片 6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3286124"/>
            <a:ext cx="782955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1.5.5 </a:t>
            </a:r>
            <a:r>
              <a:rPr lang="zh-TW" altLang="en-US" dirty="0" smtClean="0"/>
              <a:t>程式語言</a:t>
            </a:r>
            <a:r>
              <a:rPr lang="en-US" altLang="zh-TW" dirty="0" smtClean="0"/>
              <a:t>(C.2)</a:t>
            </a:r>
            <a:endParaRPr lang="zh-TW" altLang="en-US" dirty="0"/>
          </a:p>
        </p:txBody>
      </p:sp>
      <p:sp>
        <p:nvSpPr>
          <p:cNvPr id="4096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smtClean="0"/>
              <a:t>程式語言從</a:t>
            </a:r>
            <a:r>
              <a:rPr lang="en-US" altLang="zh-TW" smtClean="0"/>
              <a:t>1950</a:t>
            </a:r>
            <a:r>
              <a:rPr lang="zh-TW" altLang="zh-TW" smtClean="0"/>
              <a:t>年代的</a:t>
            </a:r>
            <a:r>
              <a:rPr lang="zh-TW" altLang="zh-TW" b="1" smtClean="0"/>
              <a:t>機器碼</a:t>
            </a:r>
            <a:r>
              <a:rPr lang="en-US" altLang="zh-TW" b="1" smtClean="0"/>
              <a:t> (Raw Machine Code)</a:t>
            </a:r>
            <a:r>
              <a:rPr lang="en-US" altLang="zh-TW" smtClean="0"/>
              <a:t> </a:t>
            </a:r>
            <a:r>
              <a:rPr lang="zh-TW" altLang="zh-TW" smtClean="0"/>
              <a:t>逐漸演進為</a:t>
            </a:r>
            <a:r>
              <a:rPr lang="zh-TW" altLang="zh-TW" b="1" smtClean="0"/>
              <a:t>組合語言</a:t>
            </a:r>
            <a:r>
              <a:rPr lang="en-US" altLang="zh-TW" b="1" smtClean="0"/>
              <a:t>(Assembly Languages)</a:t>
            </a:r>
            <a:r>
              <a:rPr lang="zh-TW" altLang="zh-TW" smtClean="0"/>
              <a:t>、</a:t>
            </a:r>
            <a:r>
              <a:rPr lang="zh-TW" altLang="zh-TW" b="1" smtClean="0"/>
              <a:t>程序性程式語言</a:t>
            </a:r>
            <a:r>
              <a:rPr lang="en-US" altLang="zh-TW" b="1" smtClean="0"/>
              <a:t> (Procedural Programming Languages) </a:t>
            </a:r>
            <a:r>
              <a:rPr lang="zh-TW" altLang="zh-TW" smtClean="0"/>
              <a:t>到現在的</a:t>
            </a:r>
            <a:r>
              <a:rPr lang="zh-TW" altLang="zh-TW" b="1" smtClean="0"/>
              <a:t>物件導向程式語言</a:t>
            </a:r>
            <a:r>
              <a:rPr lang="en-US" altLang="zh-TW" b="1" smtClean="0"/>
              <a:t> (Object-Oriented Programming Languages) </a:t>
            </a:r>
            <a:endParaRPr lang="zh-TW" altLang="en-US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4294967295"/>
          </p:nvPr>
        </p:nvSpPr>
        <p:spPr>
          <a:xfrm>
            <a:off x="6629400" y="76200"/>
            <a:ext cx="2514600" cy="2889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TW" altLang="en-US"/>
              <a:t>吳仁和、林信惠 </a:t>
            </a:r>
            <a:r>
              <a:rPr lang="en-US" altLang="zh-TW"/>
              <a:t>(2016)</a:t>
            </a:r>
          </a:p>
        </p:txBody>
      </p:sp>
      <p:sp>
        <p:nvSpPr>
          <p:cNvPr id="40965" name="投影片編號版面配置區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385175" y="6473825"/>
            <a:ext cx="758825" cy="2476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zh-TW"/>
              <a:t>1-</a:t>
            </a:r>
            <a:fld id="{1550BB81-BC36-43A5-B219-63BFE44D8138}" type="slidenum">
              <a:rPr lang="en-US" altLang="zh-TW"/>
              <a:pPr/>
              <a:t>10</a:t>
            </a:fld>
            <a:endParaRPr lang="en-US" altLang="zh-TW"/>
          </a:p>
        </p:txBody>
      </p:sp>
      <p:pic>
        <p:nvPicPr>
          <p:cNvPr id="40966" name="圖片 6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9463" y="3817938"/>
            <a:ext cx="782955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3200" dirty="0"/>
              <a:t>1.5.6 </a:t>
            </a:r>
            <a:r>
              <a:rPr lang="zh-TW" altLang="en-US" sz="3200" dirty="0"/>
              <a:t>系統分析與設計理論、技術和</a:t>
            </a:r>
            <a:r>
              <a:rPr lang="zh-TW" altLang="en-US" sz="3200" dirty="0" smtClean="0"/>
              <a:t>工具</a:t>
            </a:r>
            <a:r>
              <a:rPr lang="en-US" altLang="zh-TW" sz="3200" dirty="0" smtClean="0"/>
              <a:t>(C.4)</a:t>
            </a:r>
            <a:endParaRPr lang="en-US" altLang="zh-TW" sz="3200" dirty="0"/>
          </a:p>
        </p:txBody>
      </p:sp>
      <p:sp>
        <p:nvSpPr>
          <p:cNvPr id="4506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TW" altLang="en-US" dirty="0" smtClean="0"/>
              <a:t>統一塑模語言 </a:t>
            </a:r>
            <a:r>
              <a:rPr lang="en-US" altLang="zh-TW" dirty="0" smtClean="0"/>
              <a:t>(Unified Modeling Language,</a:t>
            </a:r>
            <a:r>
              <a:rPr lang="zh-TW" altLang="en-US" dirty="0" smtClean="0"/>
              <a:t> </a:t>
            </a:r>
            <a:r>
              <a:rPr lang="en-US" altLang="zh-TW" dirty="0" smtClean="0"/>
              <a:t>UML) </a:t>
            </a:r>
            <a:r>
              <a:rPr lang="zh-TW" altLang="en-US" dirty="0" smtClean="0"/>
              <a:t> 共使用二十二種模式圖進行塑模：</a:t>
            </a:r>
          </a:p>
          <a:p>
            <a:pPr marL="971550" lvl="1" indent="-514350" eaLnBrk="1" hangingPunct="1">
              <a:lnSpc>
                <a:spcPct val="90000"/>
              </a:lnSpc>
              <a:buFont typeface="Franklin Gothic Medium" pitchFamily="34" charset="0"/>
              <a:buAutoNum type="arabicPeriod"/>
            </a:pPr>
            <a:r>
              <a:rPr lang="zh-TW" altLang="en-US" dirty="0" smtClean="0"/>
              <a:t>使用個案圖</a:t>
            </a:r>
            <a:endParaRPr lang="en-US" altLang="zh-TW" dirty="0" smtClean="0"/>
          </a:p>
          <a:p>
            <a:pPr marL="971550" lvl="1" indent="-514350" eaLnBrk="1" hangingPunct="1">
              <a:lnSpc>
                <a:spcPct val="90000"/>
              </a:lnSpc>
              <a:buFont typeface="Franklin Gothic Medium" pitchFamily="34" charset="0"/>
              <a:buAutoNum type="arabicPeriod"/>
            </a:pPr>
            <a:r>
              <a:rPr lang="zh-TW" altLang="en-US" dirty="0" smtClean="0"/>
              <a:t>資訊流圖</a:t>
            </a:r>
            <a:endParaRPr lang="en-US" altLang="zh-TW" dirty="0" smtClean="0"/>
          </a:p>
          <a:p>
            <a:pPr marL="971550" lvl="1" indent="-514350" eaLnBrk="1" hangingPunct="1">
              <a:lnSpc>
                <a:spcPct val="90000"/>
              </a:lnSpc>
              <a:buFont typeface="Franklin Gothic Medium" pitchFamily="34" charset="0"/>
              <a:buAutoNum type="arabicPeriod"/>
            </a:pPr>
            <a:r>
              <a:rPr lang="zh-TW" altLang="en-US" dirty="0" smtClean="0"/>
              <a:t>活動圖</a:t>
            </a:r>
            <a:endParaRPr lang="en-US" altLang="zh-TW" dirty="0" smtClean="0"/>
          </a:p>
          <a:p>
            <a:pPr marL="971550" lvl="1" indent="-514350" eaLnBrk="1" hangingPunct="1">
              <a:lnSpc>
                <a:spcPct val="90000"/>
              </a:lnSpc>
              <a:buFont typeface="Franklin Gothic Medium" pitchFamily="34" charset="0"/>
              <a:buAutoNum type="arabicPeriod"/>
            </a:pPr>
            <a:r>
              <a:rPr lang="zh-TW" altLang="en-US" dirty="0" smtClean="0"/>
              <a:t>狀態機圖</a:t>
            </a:r>
            <a:endParaRPr lang="en-US" altLang="zh-TW" dirty="0" smtClean="0"/>
          </a:p>
          <a:p>
            <a:pPr marL="971550" lvl="1" indent="-514350" eaLnBrk="1" hangingPunct="1">
              <a:lnSpc>
                <a:spcPct val="90000"/>
              </a:lnSpc>
              <a:buFont typeface="Franklin Gothic Medium" pitchFamily="34" charset="0"/>
              <a:buAutoNum type="arabicPeriod"/>
            </a:pPr>
            <a:r>
              <a:rPr lang="zh-TW" altLang="en-US" dirty="0" smtClean="0"/>
              <a:t>行為狀態機圖</a:t>
            </a:r>
            <a:endParaRPr lang="en-US" altLang="zh-TW" dirty="0" smtClean="0"/>
          </a:p>
          <a:p>
            <a:pPr marL="971550" lvl="1" indent="-514350" eaLnBrk="1" hangingPunct="1">
              <a:lnSpc>
                <a:spcPct val="90000"/>
              </a:lnSpc>
              <a:buFont typeface="Franklin Gothic Medium" pitchFamily="34" charset="0"/>
              <a:buAutoNum type="arabicPeriod"/>
            </a:pPr>
            <a:r>
              <a:rPr lang="zh-TW" altLang="en-US" dirty="0" smtClean="0"/>
              <a:t>協定狀態機圖</a:t>
            </a:r>
            <a:endParaRPr lang="en-US" altLang="zh-TW" dirty="0" smtClean="0"/>
          </a:p>
          <a:p>
            <a:pPr marL="971550" lvl="1" indent="-514350" eaLnBrk="1" hangingPunct="1">
              <a:lnSpc>
                <a:spcPct val="90000"/>
              </a:lnSpc>
              <a:buFont typeface="Franklin Gothic Medium" pitchFamily="34" charset="0"/>
              <a:buAutoNum type="arabicPeriod"/>
            </a:pPr>
            <a:r>
              <a:rPr lang="zh-TW" altLang="en-US" dirty="0" smtClean="0"/>
              <a:t>循序圖</a:t>
            </a:r>
            <a:endParaRPr lang="en-US" altLang="zh-TW" dirty="0" smtClean="0"/>
          </a:p>
        </p:txBody>
      </p:sp>
      <p:sp>
        <p:nvSpPr>
          <p:cNvPr id="11" name="內容版面配置區 9"/>
          <p:cNvSpPr txBox="1">
            <a:spLocks/>
          </p:cNvSpPr>
          <p:nvPr/>
        </p:nvSpPr>
        <p:spPr>
          <a:xfrm>
            <a:off x="3303588" y="2441575"/>
            <a:ext cx="3500437" cy="3071813"/>
          </a:xfrm>
          <a:prstGeom prst="rect">
            <a:avLst/>
          </a:prstGeom>
        </p:spPr>
        <p:txBody>
          <a:bodyPr/>
          <a:lstStyle/>
          <a:p>
            <a:pPr marL="971550" lvl="1" indent="-514350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Franklin Gothic Medium" pitchFamily="34" charset="0"/>
              <a:buAutoNum type="arabicPeriod" startAt="8"/>
              <a:defRPr/>
            </a:pPr>
            <a:r>
              <a:rPr kumimoji="0" lang="zh-TW" altLang="en-US" dirty="0">
                <a:solidFill>
                  <a:schemeClr val="tx2"/>
                </a:solidFill>
                <a:latin typeface="+mn-lt"/>
                <a:ea typeface="+mn-ea"/>
              </a:rPr>
              <a:t>溝通圖</a:t>
            </a:r>
            <a:endParaRPr kumimoji="0" lang="en-US" altLang="zh-TW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971550" lvl="1" indent="-514350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Franklin Gothic Medium" pitchFamily="34" charset="0"/>
              <a:buAutoNum type="arabicPeriod" startAt="8"/>
              <a:defRPr/>
            </a:pPr>
            <a:r>
              <a:rPr kumimoji="0" lang="zh-TW" altLang="en-US" dirty="0">
                <a:solidFill>
                  <a:schemeClr val="tx2"/>
                </a:solidFill>
                <a:latin typeface="+mn-lt"/>
                <a:ea typeface="+mn-ea"/>
              </a:rPr>
              <a:t>時序圖</a:t>
            </a:r>
            <a:endParaRPr kumimoji="0" lang="en-US" altLang="zh-TW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971550" lvl="1" indent="-514350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Franklin Gothic Medium" pitchFamily="34" charset="0"/>
              <a:buAutoNum type="arabicPeriod" startAt="8"/>
              <a:defRPr/>
            </a:pPr>
            <a:r>
              <a:rPr kumimoji="0" lang="zh-TW" altLang="en-US" dirty="0">
                <a:solidFill>
                  <a:schemeClr val="tx2"/>
                </a:solidFill>
                <a:latin typeface="+mn-lt"/>
                <a:ea typeface="+mn-ea"/>
              </a:rPr>
              <a:t>互動概觀圖</a:t>
            </a:r>
            <a:endParaRPr kumimoji="0" lang="en-US" altLang="zh-TW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971550" lvl="1" indent="-514350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Franklin Gothic Medium" pitchFamily="34" charset="0"/>
              <a:buAutoNum type="arabicPeriod" startAt="8"/>
              <a:defRPr/>
            </a:pPr>
            <a:r>
              <a:rPr kumimoji="0" lang="zh-TW" altLang="en-US" dirty="0">
                <a:solidFill>
                  <a:schemeClr val="tx2"/>
                </a:solidFill>
                <a:latin typeface="+mn-lt"/>
                <a:ea typeface="+mn-ea"/>
              </a:rPr>
              <a:t>類別圖</a:t>
            </a:r>
            <a:endParaRPr kumimoji="0" lang="en-US" altLang="zh-TW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971550" lvl="1" indent="-514350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Franklin Gothic Medium" pitchFamily="34" charset="0"/>
              <a:buAutoNum type="arabicPeriod" startAt="8"/>
              <a:defRPr/>
            </a:pPr>
            <a:r>
              <a:rPr kumimoji="0" lang="zh-TW" altLang="en-US" dirty="0">
                <a:solidFill>
                  <a:schemeClr val="tx2"/>
                </a:solidFill>
                <a:latin typeface="+mn-lt"/>
                <a:ea typeface="+mn-ea"/>
              </a:rPr>
              <a:t>物件圖</a:t>
            </a:r>
            <a:endParaRPr kumimoji="0" lang="en-US" altLang="zh-TW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971550" lvl="1" indent="-514350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Franklin Gothic Medium" pitchFamily="34" charset="0"/>
              <a:buAutoNum type="arabicPeriod" startAt="8"/>
              <a:defRPr/>
            </a:pPr>
            <a:r>
              <a:rPr kumimoji="0" lang="zh-TW" altLang="en-US" dirty="0">
                <a:solidFill>
                  <a:schemeClr val="tx2"/>
                </a:solidFill>
                <a:latin typeface="+mn-lt"/>
                <a:ea typeface="+mn-ea"/>
              </a:rPr>
              <a:t>套件圖</a:t>
            </a:r>
            <a:endParaRPr kumimoji="0" lang="en-US" altLang="zh-TW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971550" lvl="1" indent="-514350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Franklin Gothic Medium" pitchFamily="34" charset="0"/>
              <a:buAutoNum type="arabicPeriod" startAt="8"/>
              <a:defRPr/>
            </a:pPr>
            <a:r>
              <a:rPr kumimoji="0" lang="zh-TW" altLang="en-US" dirty="0">
                <a:solidFill>
                  <a:schemeClr val="tx2"/>
                </a:solidFill>
                <a:latin typeface="+mn-lt"/>
                <a:ea typeface="+mn-ea"/>
              </a:rPr>
              <a:t>模型圖</a:t>
            </a:r>
            <a:endParaRPr kumimoji="0" lang="en-US" altLang="zh-TW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7" name="內容版面配置區 9"/>
          <p:cNvSpPr txBox="1">
            <a:spLocks/>
          </p:cNvSpPr>
          <p:nvPr/>
        </p:nvSpPr>
        <p:spPr>
          <a:xfrm>
            <a:off x="5888039" y="2443163"/>
            <a:ext cx="2970242" cy="3071812"/>
          </a:xfrm>
          <a:prstGeom prst="rect">
            <a:avLst/>
          </a:prstGeom>
        </p:spPr>
        <p:txBody>
          <a:bodyPr/>
          <a:lstStyle/>
          <a:p>
            <a:pPr marL="971550" lvl="1" indent="-514350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+mj-lt"/>
              <a:buAutoNum type="arabicPeriod" startAt="15"/>
              <a:defRPr/>
            </a:pPr>
            <a:r>
              <a:rPr kumimoji="0" lang="zh-TW" altLang="en-US" dirty="0">
                <a:solidFill>
                  <a:schemeClr val="tx2"/>
                </a:solidFill>
                <a:latin typeface="+mn-lt"/>
                <a:ea typeface="+mn-ea"/>
              </a:rPr>
              <a:t>複合結構圖</a:t>
            </a:r>
            <a:endParaRPr kumimoji="0" lang="en-US" altLang="zh-TW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971550" lvl="1" indent="-514350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Franklin Gothic Medium" pitchFamily="34" charset="0"/>
              <a:buAutoNum type="arabicPeriod" startAt="15"/>
              <a:defRPr/>
            </a:pPr>
            <a:r>
              <a:rPr kumimoji="0" lang="zh-TW" altLang="en-US" dirty="0">
                <a:solidFill>
                  <a:schemeClr val="tx2"/>
                </a:solidFill>
                <a:latin typeface="+mn-lt"/>
                <a:ea typeface="+mn-ea"/>
              </a:rPr>
              <a:t>內部結構圖</a:t>
            </a:r>
            <a:endParaRPr kumimoji="0" lang="en-US" altLang="zh-TW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971550" lvl="1" indent="-514350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Franklin Gothic Medium" pitchFamily="34" charset="0"/>
              <a:buAutoNum type="arabicPeriod" startAt="15"/>
              <a:defRPr/>
            </a:pPr>
            <a:r>
              <a:rPr kumimoji="0" lang="zh-TW" altLang="en-US" dirty="0">
                <a:solidFill>
                  <a:schemeClr val="tx2"/>
                </a:solidFill>
                <a:latin typeface="+mn-lt"/>
                <a:ea typeface="+mn-ea"/>
              </a:rPr>
              <a:t>合作使用圖</a:t>
            </a:r>
            <a:endParaRPr kumimoji="0" lang="en-US" altLang="zh-TW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971550" lvl="1" indent="-514350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Franklin Gothic Medium" pitchFamily="34" charset="0"/>
              <a:buAutoNum type="arabicPeriod" startAt="15"/>
              <a:defRPr/>
            </a:pPr>
            <a:r>
              <a:rPr kumimoji="0" lang="zh-TW" altLang="en-US" dirty="0">
                <a:solidFill>
                  <a:schemeClr val="tx2"/>
                </a:solidFill>
                <a:latin typeface="+mn-lt"/>
                <a:ea typeface="+mn-ea"/>
              </a:rPr>
              <a:t>元件圖</a:t>
            </a:r>
            <a:endParaRPr kumimoji="0" lang="en-US" altLang="zh-TW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971550" lvl="1" indent="-514350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Franklin Gothic Medium" pitchFamily="34" charset="0"/>
              <a:buAutoNum type="arabicPeriod" startAt="15"/>
              <a:defRPr/>
            </a:pPr>
            <a:r>
              <a:rPr kumimoji="0" lang="zh-TW" altLang="en-US" dirty="0">
                <a:solidFill>
                  <a:schemeClr val="tx2"/>
                </a:solidFill>
                <a:latin typeface="+mn-lt"/>
                <a:ea typeface="+mn-ea"/>
              </a:rPr>
              <a:t>部署圖</a:t>
            </a:r>
            <a:endParaRPr kumimoji="0" lang="en-US" altLang="zh-TW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971550" lvl="1" indent="-514350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Franklin Gothic Medium" pitchFamily="34" charset="0"/>
              <a:buAutoNum type="arabicPeriod" startAt="15"/>
              <a:defRPr/>
            </a:pPr>
            <a:r>
              <a:rPr kumimoji="0" lang="zh-TW" altLang="en-US" dirty="0">
                <a:solidFill>
                  <a:schemeClr val="tx2"/>
                </a:solidFill>
                <a:latin typeface="+mn-lt"/>
                <a:ea typeface="+mn-ea"/>
              </a:rPr>
              <a:t>表現圖</a:t>
            </a:r>
            <a:endParaRPr kumimoji="0" lang="en-US" altLang="zh-TW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971550" lvl="1" indent="-514350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Franklin Gothic Medium" pitchFamily="34" charset="0"/>
              <a:buAutoNum type="arabicPeriod" startAt="15"/>
              <a:defRPr/>
            </a:pPr>
            <a:r>
              <a:rPr kumimoji="0" lang="zh-TW" altLang="en-US" dirty="0">
                <a:solidFill>
                  <a:schemeClr val="tx2"/>
                </a:solidFill>
                <a:latin typeface="+mn-lt"/>
                <a:ea typeface="+mn-ea"/>
              </a:rPr>
              <a:t>網路架構圖</a:t>
            </a:r>
            <a:endParaRPr kumimoji="0" lang="en-US" altLang="zh-TW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971550" lvl="1" indent="-514350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Franklin Gothic Medium" pitchFamily="34" charset="0"/>
              <a:buAutoNum type="arabicPeriod" startAt="15"/>
              <a:defRPr/>
            </a:pPr>
            <a:r>
              <a:rPr kumimoji="0" lang="zh-TW" altLang="en-US" dirty="0">
                <a:solidFill>
                  <a:schemeClr val="tx2"/>
                </a:solidFill>
                <a:latin typeface="+mn-lt"/>
                <a:ea typeface="+mn-ea"/>
              </a:rPr>
              <a:t>輪廓圖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ch01 網際網路基礎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2_ch01 網際網路基礎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3600" tIns="46800" rIns="936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3600" tIns="46800" rIns="936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lnDef>
  </a:objectDefaults>
  <a:extraClrSchemeLst>
    <a:extraClrScheme>
      <a:clrScheme name="2_ch01 網際網路基礎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h01 網際網路基礎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h01 網際網路基礎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資訊PPT範本(990210)</Template>
  <TotalTime>797</TotalTime>
  <Words>687</Words>
  <Application>Microsoft Office PowerPoint</Application>
  <PresentationFormat>如螢幕大小 (4:3)</PresentationFormat>
  <Paragraphs>92</Paragraphs>
  <Slides>11</Slides>
  <Notes>1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3" baseType="lpstr">
      <vt:lpstr>2_ch01 網際網路基礎</vt:lpstr>
      <vt:lpstr>Visio</vt:lpstr>
      <vt:lpstr>第一章  資訊系統開發概論</vt:lpstr>
      <vt:lpstr>內容大綱</vt:lpstr>
      <vt:lpstr>學習目標</vt:lpstr>
      <vt:lpstr>1.1 導論  (c.2)</vt:lpstr>
      <vt:lpstr>1.3 資訊系統開發的構面</vt:lpstr>
      <vt:lpstr>1.5資訊系統開發環境</vt:lpstr>
      <vt:lpstr>1.5.1 資訊系統的種類</vt:lpstr>
      <vt:lpstr>資訊系統之種類及其特性</vt:lpstr>
      <vt:lpstr>1.5.5 程式語言</vt:lpstr>
      <vt:lpstr>1.5.5 程式語言(C.2)</vt:lpstr>
      <vt:lpstr>1.5.6 系統分析與設計理論、技術和工具(C.4)</vt:lpstr>
    </vt:vector>
  </TitlesOfParts>
  <Company>nsysu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資訊系統開發概論</dc:title>
  <dc:creator>handsome</dc:creator>
  <cp:lastModifiedBy>user</cp:lastModifiedBy>
  <cp:revision>152</cp:revision>
  <cp:lastPrinted>2000-09-22T04:59:39Z</cp:lastPrinted>
  <dcterms:created xsi:type="dcterms:W3CDTF">1999-12-16T07:28:21Z</dcterms:created>
  <dcterms:modified xsi:type="dcterms:W3CDTF">2020-04-20T02:37:37Z</dcterms:modified>
</cp:coreProperties>
</file>