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  <p:sldMasterId id="2147483764" r:id="rId2"/>
  </p:sldMasterIdLst>
  <p:notesMasterIdLst>
    <p:notesMasterId r:id="rId18"/>
  </p:notesMasterIdLst>
  <p:sldIdLst>
    <p:sldId id="256" r:id="rId3"/>
    <p:sldId id="257" r:id="rId4"/>
    <p:sldId id="258" r:id="rId5"/>
    <p:sldId id="314" r:id="rId6"/>
    <p:sldId id="315" r:id="rId7"/>
    <p:sldId id="316" r:id="rId8"/>
    <p:sldId id="302" r:id="rId9"/>
    <p:sldId id="303" r:id="rId10"/>
    <p:sldId id="304" r:id="rId11"/>
    <p:sldId id="306" r:id="rId12"/>
    <p:sldId id="308" r:id="rId13"/>
    <p:sldId id="312" r:id="rId14"/>
    <p:sldId id="318" r:id="rId15"/>
    <p:sldId id="319" r:id="rId16"/>
    <p:sldId id="320" r:id="rId17"/>
  </p:sldIdLst>
  <p:sldSz cx="9144000" cy="6858000" type="screen4x3"/>
  <p:notesSz cx="6858000" cy="9144000"/>
  <p:defaultTextStyle>
    <a:defPPr>
      <a:defRPr lang="zh-TW"/>
    </a:defPPr>
    <a:lvl1pPr algn="ctr" rtl="0" fontAlgn="base" hangingPunct="0">
      <a:spcBef>
        <a:spcPct val="0"/>
      </a:spcBef>
      <a:spcAft>
        <a:spcPct val="0"/>
      </a:spcAft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1pPr>
    <a:lvl2pPr marL="457200" algn="ctr" rtl="0" fontAlgn="base" hangingPunct="0">
      <a:spcBef>
        <a:spcPct val="0"/>
      </a:spcBef>
      <a:spcAft>
        <a:spcPct val="0"/>
      </a:spcAft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2pPr>
    <a:lvl3pPr marL="914400" algn="ctr" rtl="0" fontAlgn="base" hangingPunct="0">
      <a:spcBef>
        <a:spcPct val="0"/>
      </a:spcBef>
      <a:spcAft>
        <a:spcPct val="0"/>
      </a:spcAft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3pPr>
    <a:lvl4pPr marL="1371600" algn="ctr" rtl="0" fontAlgn="base" hangingPunct="0">
      <a:spcBef>
        <a:spcPct val="0"/>
      </a:spcBef>
      <a:spcAft>
        <a:spcPct val="0"/>
      </a:spcAft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4pPr>
    <a:lvl5pPr marL="1828800" algn="ctr" rtl="0" fontAlgn="base" hangingPunct="0">
      <a:spcBef>
        <a:spcPct val="0"/>
      </a:spcBef>
      <a:spcAft>
        <a:spcPct val="0"/>
      </a:spcAft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rgbClr val="0E3384"/>
        </a:solidFill>
        <a:latin typeface="Times New Roman" pitchFamily="18" charset="0"/>
        <a:ea typeface="華康特粗明體" pitchFamily="49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11" autoAdjust="0"/>
    <p:restoredTop sz="90929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hangingPunct="1">
              <a:defRPr sz="1200">
                <a:solidFill>
                  <a:schemeClr val="tx1"/>
                </a:solidFill>
                <a:ea typeface="新細明體" pitchFamily="18" charset="-120"/>
              </a:defRPr>
            </a:lvl1pPr>
          </a:lstStyle>
          <a:p>
            <a:fld id="{B14F67D4-90D9-4697-AA9E-76ED9D22B54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43907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pic>
        <p:nvPicPr>
          <p:cNvPr id="81923" name="Picture 3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 eaLnBrk="0">
              <a:defRPr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eaLnBrk="0">
              <a:defRPr/>
            </a:pPr>
            <a:r>
              <a:rPr lang="en-US" altLang="zh-TW" sz="1400" dirty="0">
                <a:solidFill>
                  <a:schemeClr val="tx1"/>
                </a:solidFill>
              </a:rPr>
              <a:t>ISBN 978-986-457-029-4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8490808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9012171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941393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371379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4104171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633662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32812260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7813260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889433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274908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3918266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911013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7199612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524018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293643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737507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79301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74403369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75119768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281754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328659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80900" name="Picture 4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 eaLnBrk="0">
              <a:defRPr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eaLnBrk="0">
              <a:defRPr/>
            </a:pPr>
            <a:r>
              <a:rPr lang="en-US" altLang="zh-TW" sz="1400" dirty="0">
                <a:solidFill>
                  <a:schemeClr val="tx1"/>
                </a:solidFill>
              </a:rPr>
              <a:t>ISBN 978-986-457-029-4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ransition spd="med">
    <p:random/>
  </p:transition>
  <p:txStyles>
    <p:titleStyle>
      <a:lvl1pPr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72708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eaLnBrk="0">
              <a:defRPr/>
            </a:pPr>
            <a:r>
              <a:rPr lang="en-US" altLang="zh-TW" sz="1400" dirty="0">
                <a:solidFill>
                  <a:schemeClr val="tx1"/>
                </a:solidFill>
              </a:rPr>
              <a:t>ISBN 978-986-457-029-4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 eaLnBrk="0">
              <a:defRPr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理論與實務應用(七版)   吳仁和、林信惠 著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7772400" cy="1470025"/>
          </a:xfrm>
        </p:spPr>
        <p:txBody>
          <a:bodyPr/>
          <a:lstStyle/>
          <a:p>
            <a:r>
              <a:rPr lang="zh-TW" altLang="en-US"/>
              <a:t>第六章 結構化企業流程塑模個案</a:t>
            </a: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TW" altLang="en-US"/>
              <a:t>學習目標</a:t>
            </a:r>
          </a:p>
          <a:p>
            <a:pPr>
              <a:buFont typeface="Wingdings" pitchFamily="2" charset="2"/>
              <a:buNone/>
            </a:pPr>
            <a:r>
              <a:rPr lang="en-US" altLang="zh-TW"/>
              <a:t>6.1 </a:t>
            </a:r>
            <a:r>
              <a:rPr lang="zh-TW" altLang="en-US"/>
              <a:t>導論</a:t>
            </a:r>
          </a:p>
          <a:p>
            <a:pPr>
              <a:buFont typeface="Wingdings" pitchFamily="2" charset="2"/>
              <a:buNone/>
            </a:pPr>
            <a:r>
              <a:rPr lang="en-US" altLang="zh-TW"/>
              <a:t>6.2 </a:t>
            </a:r>
            <a:r>
              <a:rPr lang="zh-TW" altLang="en-US"/>
              <a:t>系統分析與設計─企業流程塑模</a:t>
            </a:r>
          </a:p>
          <a:p>
            <a:pPr>
              <a:buFont typeface="Wingdings" pitchFamily="2" charset="2"/>
              <a:buNone/>
            </a:pPr>
            <a:r>
              <a:rPr lang="en-US" altLang="zh-TW"/>
              <a:t>6.3 </a:t>
            </a:r>
            <a:r>
              <a:rPr lang="zh-TW" altLang="en-US"/>
              <a:t>處理規格描述與程式範例</a:t>
            </a:r>
          </a:p>
          <a:p>
            <a:pPr>
              <a:buFont typeface="Wingdings" pitchFamily="2" charset="2"/>
              <a:buNone/>
            </a:pPr>
            <a:r>
              <a:rPr lang="en-US" altLang="zh-TW"/>
              <a:t>6.4 </a:t>
            </a:r>
            <a:r>
              <a:rPr lang="zh-TW" altLang="en-US"/>
              <a:t>資料流程圖轉結構圖或</a:t>
            </a:r>
            <a:r>
              <a:rPr lang="en-US" altLang="zh-TW"/>
              <a:t>HIPO</a:t>
            </a:r>
            <a:r>
              <a:rPr lang="zh-TW" altLang="en-US"/>
              <a:t>圖</a:t>
            </a:r>
          </a:p>
          <a:p>
            <a:pPr>
              <a:buFont typeface="Wingdings" pitchFamily="2" charset="2"/>
              <a:buNone/>
            </a:pPr>
            <a:r>
              <a:rPr lang="en-US" altLang="zh-TW"/>
              <a:t>6.5 </a:t>
            </a:r>
            <a:r>
              <a:rPr lang="zh-TW" altLang="en-US"/>
              <a:t>結論</a:t>
            </a:r>
          </a:p>
          <a:p>
            <a:endParaRPr lang="zh-TW" altLang="en-US"/>
          </a:p>
        </p:txBody>
      </p:sp>
      <p:sp>
        <p:nvSpPr>
          <p:cNvPr id="1229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內容大網</a:t>
            </a: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學習目標</a:t>
            </a:r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TW" altLang="en-US"/>
              <a:t>詳讀本章，你至少能瞭解：</a:t>
            </a:r>
          </a:p>
          <a:p>
            <a:r>
              <a:rPr lang="zh-TW" altLang="zh-TW"/>
              <a:t>如何以資料流程圖實作企業之流程塑模，並進行資料流程圖之分解。</a:t>
            </a:r>
          </a:p>
          <a:p>
            <a:r>
              <a:rPr lang="zh-TW" altLang="zh-TW"/>
              <a:t>如何進行處理規格描述。</a:t>
            </a:r>
          </a:p>
          <a:p>
            <a:r>
              <a:rPr lang="zh-TW" altLang="zh-TW"/>
              <a:t>如何將資料流程圖轉成結構圖或</a:t>
            </a:r>
            <a:r>
              <a:rPr lang="en-US" altLang="zh-TW"/>
              <a:t>HIPO</a:t>
            </a:r>
            <a:r>
              <a:rPr lang="zh-TW" altLang="zh-TW"/>
              <a:t>圖。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表</a:t>
            </a:r>
            <a:r>
              <a:rPr lang="en-US" altLang="zh-TW"/>
              <a:t>6-1 </a:t>
            </a:r>
            <a:r>
              <a:rPr lang="zh-TW" altLang="en-US"/>
              <a:t>處理分群</a:t>
            </a:r>
          </a:p>
        </p:txBody>
      </p:sp>
      <p:pic>
        <p:nvPicPr>
          <p:cNvPr id="18442" name="Picture 10" descr="z-vb157d-t6-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0" t="11340" r="3941"/>
          <a:stretch>
            <a:fillRect/>
          </a:stretch>
        </p:blipFill>
        <p:spPr>
          <a:xfrm>
            <a:off x="2051050" y="1484313"/>
            <a:ext cx="5472113" cy="4897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第一階資料流程圖</a:t>
            </a:r>
          </a:p>
        </p:txBody>
      </p:sp>
      <p:pic>
        <p:nvPicPr>
          <p:cNvPr id="19468" name="Picture 12" descr="z-vb157d-t6-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988" y="1557338"/>
            <a:ext cx="7632700" cy="4492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6"/>
          <p:cNvSpPr>
            <a:spLocks noChangeArrowheads="1"/>
          </p:cNvSpPr>
          <p:nvPr/>
        </p:nvSpPr>
        <p:spPr bwMode="auto">
          <a:xfrm>
            <a:off x="0" y="-366713"/>
            <a:ext cx="1841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hangingPunct="1">
              <a:spcBef>
                <a:spcPct val="0"/>
              </a:spcBef>
              <a:buFontTx/>
              <a:buNone/>
            </a:pPr>
            <a:endParaRPr lang="zh-TW" altLang="en-US" sz="3500">
              <a:solidFill>
                <a:schemeClr val="tx1"/>
              </a:solidFill>
            </a:endParaRPr>
          </a:p>
        </p:txBody>
      </p:sp>
      <p:sp>
        <p:nvSpPr>
          <p:cNvPr id="2048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圖</a:t>
            </a:r>
            <a:r>
              <a:rPr lang="en-US" altLang="zh-TW"/>
              <a:t>6-1 </a:t>
            </a:r>
            <a:r>
              <a:rPr lang="zh-TW" altLang="en-US"/>
              <a:t>銷售管理子系統第一階</a:t>
            </a:r>
            <a:r>
              <a:rPr lang="en-US" altLang="zh-TW"/>
              <a:t>DFD</a:t>
            </a:r>
          </a:p>
        </p:txBody>
      </p:sp>
      <p:pic>
        <p:nvPicPr>
          <p:cNvPr id="20491" name="Picture 11" descr="z-vb157d-f6-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" t="11340" r="5353"/>
          <a:stretch>
            <a:fillRect/>
          </a:stretch>
        </p:blipFill>
        <p:spPr>
          <a:xfrm>
            <a:off x="2051050" y="1412875"/>
            <a:ext cx="5400675" cy="4892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第零階</a:t>
            </a:r>
            <a:r>
              <a:rPr lang="en-US" altLang="zh-TW"/>
              <a:t>DFD</a:t>
            </a:r>
          </a:p>
        </p:txBody>
      </p:sp>
      <p:pic>
        <p:nvPicPr>
          <p:cNvPr id="21514" name="Picture 10" descr="z-vb157d-t6-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9" r="3853" b="3574"/>
          <a:stretch>
            <a:fillRect/>
          </a:stretch>
        </p:blipFill>
        <p:spPr>
          <a:xfrm>
            <a:off x="1547813" y="1412875"/>
            <a:ext cx="6480175" cy="4589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圖</a:t>
            </a:r>
            <a:r>
              <a:rPr lang="en-US" altLang="zh-TW"/>
              <a:t>6-2a </a:t>
            </a:r>
            <a:r>
              <a:rPr lang="zh-TW" altLang="en-US"/>
              <a:t>銷售管理之第零階</a:t>
            </a:r>
            <a:r>
              <a:rPr lang="en-US" altLang="zh-TW"/>
              <a:t>DFD</a:t>
            </a:r>
          </a:p>
        </p:txBody>
      </p:sp>
      <p:pic>
        <p:nvPicPr>
          <p:cNvPr id="22538" name="Picture 10" descr="z-vb157d-f6-2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1" t="19110"/>
          <a:stretch>
            <a:fillRect/>
          </a:stretch>
        </p:blipFill>
        <p:spPr>
          <a:xfrm>
            <a:off x="827088" y="1628775"/>
            <a:ext cx="7777162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6"/>
          <p:cNvSpPr>
            <a:spLocks noChangeArrowheads="1"/>
          </p:cNvSpPr>
          <p:nvPr/>
        </p:nvSpPr>
        <p:spPr bwMode="auto">
          <a:xfrm>
            <a:off x="0" y="-365125"/>
            <a:ext cx="1841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hangingPunct="1">
              <a:spcBef>
                <a:spcPct val="0"/>
              </a:spcBef>
              <a:buFontTx/>
              <a:buNone/>
            </a:pPr>
            <a:endParaRPr lang="zh-TW" altLang="en-US" sz="3500">
              <a:solidFill>
                <a:schemeClr val="tx1"/>
              </a:solidFill>
            </a:endParaRPr>
          </a:p>
        </p:txBody>
      </p:sp>
      <p:sp>
        <p:nvSpPr>
          <p:cNvPr id="2356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圖</a:t>
            </a:r>
            <a:r>
              <a:rPr lang="en-US" altLang="zh-TW"/>
              <a:t>6-3 </a:t>
            </a:r>
            <a:r>
              <a:rPr lang="zh-TW" altLang="en-US"/>
              <a:t>夢幻系統第零階</a:t>
            </a:r>
            <a:r>
              <a:rPr lang="en-US" altLang="zh-TW"/>
              <a:t>DFD</a:t>
            </a:r>
          </a:p>
        </p:txBody>
      </p:sp>
      <p:pic>
        <p:nvPicPr>
          <p:cNvPr id="23563" name="Picture 11" descr="z-vb157d-f6-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37" b="2440"/>
          <a:stretch>
            <a:fillRect/>
          </a:stretch>
        </p:blipFill>
        <p:spPr>
          <a:xfrm>
            <a:off x="1403350" y="1484313"/>
            <a:ext cx="6840538" cy="4897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6"/>
          <p:cNvSpPr>
            <a:spLocks noChangeArrowheads="1"/>
          </p:cNvSpPr>
          <p:nvPr/>
        </p:nvSpPr>
        <p:spPr bwMode="auto">
          <a:xfrm>
            <a:off x="0" y="-365125"/>
            <a:ext cx="1841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hangingPunct="1">
              <a:spcBef>
                <a:spcPct val="0"/>
              </a:spcBef>
              <a:buFontTx/>
              <a:buNone/>
            </a:pPr>
            <a:endParaRPr lang="zh-TW" altLang="en-US" sz="3500">
              <a:solidFill>
                <a:schemeClr val="tx1"/>
              </a:solidFill>
            </a:endParaRP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/>
              <a:t>圖</a:t>
            </a:r>
            <a:r>
              <a:rPr lang="en-US" altLang="zh-TW" sz="2800"/>
              <a:t>6-4 </a:t>
            </a:r>
            <a:r>
              <a:rPr lang="zh-TW" altLang="en-US" sz="2800"/>
              <a:t>銷售管理子系統第二階</a:t>
            </a:r>
            <a:r>
              <a:rPr lang="en-US" altLang="zh-TW" sz="2800"/>
              <a:t>DFD</a:t>
            </a:r>
            <a:br>
              <a:rPr lang="en-US" altLang="zh-TW" sz="2800"/>
            </a:br>
            <a:r>
              <a:rPr lang="en-US" altLang="zh-TW" sz="2800"/>
              <a:t>(1.2</a:t>
            </a:r>
            <a:r>
              <a:rPr lang="zh-TW" altLang="en-US" sz="2800"/>
              <a:t>送貨處理</a:t>
            </a:r>
            <a:r>
              <a:rPr lang="en-US" altLang="zh-TW" sz="2800"/>
              <a:t>)</a:t>
            </a:r>
          </a:p>
        </p:txBody>
      </p:sp>
      <p:pic>
        <p:nvPicPr>
          <p:cNvPr id="25611" name="Picture 11" descr="z-vb157d-f6-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7" t="11340" r="5707"/>
          <a:stretch>
            <a:fillRect/>
          </a:stretch>
        </p:blipFill>
        <p:spPr>
          <a:xfrm>
            <a:off x="1835150" y="1484313"/>
            <a:ext cx="6121400" cy="48244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6"/>
          <p:cNvSpPr>
            <a:spLocks noChangeArrowheads="1"/>
          </p:cNvSpPr>
          <p:nvPr/>
        </p:nvSpPr>
        <p:spPr bwMode="auto">
          <a:xfrm>
            <a:off x="0" y="-365125"/>
            <a:ext cx="1841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hangingPunct="1">
              <a:spcBef>
                <a:spcPct val="0"/>
              </a:spcBef>
              <a:buFontTx/>
              <a:buNone/>
            </a:pPr>
            <a:endParaRPr lang="zh-TW" altLang="en-US" sz="3500">
              <a:solidFill>
                <a:schemeClr val="tx1"/>
              </a:solidFill>
            </a:endParaRPr>
          </a:p>
        </p:txBody>
      </p:sp>
      <p:sp>
        <p:nvSpPr>
          <p:cNvPr id="2663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/>
              <a:t>圖</a:t>
            </a:r>
            <a:r>
              <a:rPr lang="en-US" altLang="zh-TW" sz="2800"/>
              <a:t>6-5 </a:t>
            </a:r>
            <a:r>
              <a:rPr lang="zh-TW" altLang="en-US" sz="2800"/>
              <a:t>銷售管理子系統第三階</a:t>
            </a:r>
            <a:r>
              <a:rPr lang="en-US" altLang="zh-TW" sz="2800"/>
              <a:t>DFD</a:t>
            </a:r>
            <a:br>
              <a:rPr lang="en-US" altLang="zh-TW" sz="2800"/>
            </a:br>
            <a:r>
              <a:rPr lang="en-US" altLang="zh-TW" sz="2800"/>
              <a:t>(1.2.1</a:t>
            </a:r>
            <a:r>
              <a:rPr lang="zh-TW" altLang="en-US" sz="2800"/>
              <a:t>新增送貨單</a:t>
            </a:r>
            <a:r>
              <a:rPr lang="en-US" altLang="zh-TW" sz="2800"/>
              <a:t>)</a:t>
            </a:r>
          </a:p>
        </p:txBody>
      </p:sp>
      <p:pic>
        <p:nvPicPr>
          <p:cNvPr id="26635" name="Picture 11" descr="z-vb157d-f6-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9"/>
          <a:stretch>
            <a:fillRect/>
          </a:stretch>
        </p:blipFill>
        <p:spPr>
          <a:xfrm>
            <a:off x="1476375" y="1501775"/>
            <a:ext cx="6696075" cy="4794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7"/>
          <p:cNvSpPr>
            <a:spLocks noChangeArrowheads="1"/>
          </p:cNvSpPr>
          <p:nvPr/>
        </p:nvSpPr>
        <p:spPr bwMode="auto">
          <a:xfrm>
            <a:off x="0" y="-365125"/>
            <a:ext cx="1841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hangingPunct="1">
              <a:spcBef>
                <a:spcPct val="0"/>
              </a:spcBef>
              <a:buFontTx/>
              <a:buNone/>
            </a:pPr>
            <a:endParaRPr lang="zh-TW" altLang="en-US" sz="3500">
              <a:solidFill>
                <a:schemeClr val="tx1"/>
              </a:solidFill>
            </a:endParaRPr>
          </a:p>
        </p:txBody>
      </p:sp>
      <p:sp>
        <p:nvSpPr>
          <p:cNvPr id="3175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6.4 </a:t>
            </a:r>
            <a:r>
              <a:rPr lang="zh-TW" altLang="en-US"/>
              <a:t>資料流程圖轉結構圖或</a:t>
            </a:r>
            <a:r>
              <a:rPr lang="en-US" altLang="zh-TW"/>
              <a:t>HIPO</a:t>
            </a:r>
            <a:r>
              <a:rPr lang="zh-TW" altLang="en-US"/>
              <a:t>圖</a:t>
            </a:r>
          </a:p>
        </p:txBody>
      </p:sp>
      <p:pic>
        <p:nvPicPr>
          <p:cNvPr id="31757" name="Picture 13" descr="z-vb157d-f6-6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1484313"/>
            <a:ext cx="6553200" cy="4897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6.4 </a:t>
            </a:r>
            <a:r>
              <a:rPr lang="zh-TW" altLang="en-US"/>
              <a:t>資料流程圖轉結構圖或</a:t>
            </a:r>
            <a:r>
              <a:rPr lang="en-US" altLang="zh-TW"/>
              <a:t>HIPO</a:t>
            </a:r>
            <a:r>
              <a:rPr lang="zh-TW" altLang="en-US"/>
              <a:t>圖</a:t>
            </a:r>
            <a:r>
              <a:rPr lang="en-US" altLang="zh-TW"/>
              <a:t>(c.2)</a:t>
            </a:r>
          </a:p>
        </p:txBody>
      </p:sp>
      <p:sp>
        <p:nvSpPr>
          <p:cNvPr id="32772" name="Rectangle 8"/>
          <p:cNvSpPr>
            <a:spLocks noChangeArrowheads="1"/>
          </p:cNvSpPr>
          <p:nvPr/>
        </p:nvSpPr>
        <p:spPr bwMode="auto">
          <a:xfrm>
            <a:off x="0" y="-365125"/>
            <a:ext cx="1841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hangingPunct="1">
              <a:spcBef>
                <a:spcPct val="0"/>
              </a:spcBef>
              <a:buFontTx/>
              <a:buNone/>
            </a:pPr>
            <a:endParaRPr lang="zh-TW" altLang="en-US" sz="3500">
              <a:solidFill>
                <a:schemeClr val="tx1"/>
              </a:solidFill>
            </a:endParaRPr>
          </a:p>
        </p:txBody>
      </p:sp>
      <p:pic>
        <p:nvPicPr>
          <p:cNvPr id="32779" name="Picture 11" descr="z-vb157d-f6-6b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913" y="1412875"/>
            <a:ext cx="6769100" cy="4978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4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6.4 </a:t>
            </a:r>
            <a:r>
              <a:rPr lang="zh-TW" altLang="en-US"/>
              <a:t>資料流程圖轉結構圖或</a:t>
            </a:r>
            <a:r>
              <a:rPr lang="en-US" altLang="zh-TW"/>
              <a:t>HIPO</a:t>
            </a:r>
            <a:r>
              <a:rPr lang="zh-TW" altLang="en-US"/>
              <a:t>圖</a:t>
            </a:r>
            <a:r>
              <a:rPr lang="en-US" altLang="zh-TW"/>
              <a:t>(c.3)</a:t>
            </a:r>
          </a:p>
        </p:txBody>
      </p:sp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0" y="-365125"/>
            <a:ext cx="1841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hangingPunct="1">
              <a:spcBef>
                <a:spcPct val="0"/>
              </a:spcBef>
              <a:buFontTx/>
              <a:buNone/>
            </a:pPr>
            <a:endParaRPr lang="zh-TW" altLang="en-US" sz="3500">
              <a:solidFill>
                <a:schemeClr val="tx1"/>
              </a:solidFill>
            </a:endParaRPr>
          </a:p>
        </p:txBody>
      </p:sp>
      <p:pic>
        <p:nvPicPr>
          <p:cNvPr id="33807" name="Picture 15" descr="z-vb157d-f6-6c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5" r="3670" b="12009"/>
          <a:stretch>
            <a:fillRect/>
          </a:stretch>
        </p:blipFill>
        <p:spPr>
          <a:xfrm>
            <a:off x="1979613" y="1484313"/>
            <a:ext cx="5327650" cy="48244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-365125"/>
            <a:ext cx="1841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hangingPunct="1">
              <a:spcBef>
                <a:spcPct val="0"/>
              </a:spcBef>
              <a:buFontTx/>
              <a:buNone/>
            </a:pPr>
            <a:endParaRPr lang="zh-TW" altLang="en-US" sz="3500">
              <a:solidFill>
                <a:schemeClr val="tx1"/>
              </a:solidFill>
            </a:endParaRPr>
          </a:p>
        </p:txBody>
      </p:sp>
      <p:sp>
        <p:nvSpPr>
          <p:cNvPr id="3482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6.4 </a:t>
            </a:r>
            <a:r>
              <a:rPr lang="zh-TW" altLang="en-US"/>
              <a:t>資料流程圖轉結構圖或</a:t>
            </a:r>
            <a:r>
              <a:rPr lang="en-US" altLang="zh-TW"/>
              <a:t>HIPO</a:t>
            </a:r>
            <a:r>
              <a:rPr lang="zh-TW" altLang="en-US"/>
              <a:t>圖</a:t>
            </a:r>
            <a:r>
              <a:rPr lang="en-US" altLang="zh-TW"/>
              <a:t>(c.4)</a:t>
            </a:r>
            <a:endParaRPr lang="zh-TW" altLang="en-US"/>
          </a:p>
        </p:txBody>
      </p:sp>
      <p:pic>
        <p:nvPicPr>
          <p:cNvPr id="34827" name="Picture 11" descr="z-vb157d-f6-6d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9" r="5228" b="4182"/>
          <a:stretch>
            <a:fillRect/>
          </a:stretch>
        </p:blipFill>
        <p:spPr>
          <a:xfrm>
            <a:off x="1908175" y="1484313"/>
            <a:ext cx="5661025" cy="48244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theme/theme1.xml><?xml version="1.0" encoding="utf-8"?>
<a:theme xmlns:a="http://schemas.openxmlformats.org/drawingml/2006/main" name="ch01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ch01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3200" b="0" i="0" u="none" strike="noStrike" cap="none" normalizeH="0" baseline="0" smtClean="0">
            <a:ln>
              <a:noFill/>
            </a:ln>
            <a:solidFill>
              <a:srgbClr val="0E3384"/>
            </a:solidFill>
            <a:effectLst/>
            <a:latin typeface="Times New Roman" pitchFamily="18" charset="0"/>
            <a:ea typeface="華康特粗明體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3200" b="0" i="0" u="none" strike="noStrike" cap="none" normalizeH="0" baseline="0" smtClean="0">
            <a:ln>
              <a:noFill/>
            </a:ln>
            <a:solidFill>
              <a:srgbClr val="0E3384"/>
            </a:solidFill>
            <a:effectLst/>
            <a:latin typeface="Times New Roman" pitchFamily="18" charset="0"/>
            <a:ea typeface="華康特粗明體" pitchFamily="49" charset="-120"/>
          </a:defRPr>
        </a:defPPr>
      </a:lstStyle>
    </a:lnDef>
  </a:objectDefaults>
  <a:extraClrSchemeLst>
    <a:extraClrScheme>
      <a:clrScheme name="ch01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5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3200" b="0" i="0" u="none" strike="noStrike" cap="none" normalizeH="0" baseline="0" smtClean="0">
            <a:ln>
              <a:noFill/>
            </a:ln>
            <a:solidFill>
              <a:srgbClr val="0E3384"/>
            </a:solidFill>
            <a:effectLst/>
            <a:latin typeface="Times New Roman" pitchFamily="18" charset="0"/>
            <a:ea typeface="華康特粗明體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3200" b="0" i="0" u="none" strike="noStrike" cap="none" normalizeH="0" baseline="0" smtClean="0">
            <a:ln>
              <a:noFill/>
            </a:ln>
            <a:solidFill>
              <a:srgbClr val="0E3384"/>
            </a:solidFill>
            <a:effectLst/>
            <a:latin typeface="Times New Roman" pitchFamily="18" charset="0"/>
            <a:ea typeface="華康特粗明體" pitchFamily="49" charset="-120"/>
          </a:defRPr>
        </a:defPPr>
      </a:lstStyle>
    </a:lnDef>
  </a:objectDefaults>
  <a:extraClrSchemeLst>
    <a:extraClrScheme>
      <a:clrScheme name="5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501</TotalTime>
  <Words>187</Words>
  <Application>Microsoft Office PowerPoint</Application>
  <PresentationFormat>如螢幕大小 (4:3)</PresentationFormat>
  <Paragraphs>25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17" baseType="lpstr">
      <vt:lpstr>ch01</vt:lpstr>
      <vt:lpstr>5_ch01 網際網路基礎</vt:lpstr>
      <vt:lpstr>第六章 結構化企業流程塑模個案</vt:lpstr>
      <vt:lpstr>內容大網</vt:lpstr>
      <vt:lpstr>學習目標</vt:lpstr>
      <vt:lpstr>表6-1 處理分群</vt:lpstr>
      <vt:lpstr>第一階資料流程圖</vt:lpstr>
      <vt:lpstr>圖6-1 銷售管理子系統第一階DFD</vt:lpstr>
      <vt:lpstr>第零階DFD</vt:lpstr>
      <vt:lpstr>圖6-2a 銷售管理之第零階DFD</vt:lpstr>
      <vt:lpstr>圖6-3 夢幻系統第零階DFD</vt:lpstr>
      <vt:lpstr>圖6-4 銷售管理子系統第二階DFD (1.2送貨處理)</vt:lpstr>
      <vt:lpstr>圖6-5 銷售管理子系統第三階DFD (1.2.1新增送貨單)</vt:lpstr>
      <vt:lpstr>6.4 資料流程圖轉結構圖或HIPO圖</vt:lpstr>
      <vt:lpstr>6.4 資料流程圖轉結構圖或HIPO圖(c.2)</vt:lpstr>
      <vt:lpstr>6.4 資料流程圖轉結構圖或HIPO圖(c.3)</vt:lpstr>
      <vt:lpstr>6.4 資料流程圖轉結構圖或HIPO圖(c.4)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企業流程塑模個案</dc:title>
  <dc:creator>handsome</dc:creator>
  <cp:lastModifiedBy>user</cp:lastModifiedBy>
  <cp:revision>91</cp:revision>
  <dcterms:created xsi:type="dcterms:W3CDTF">1999-12-24T01:55:28Z</dcterms:created>
  <dcterms:modified xsi:type="dcterms:W3CDTF">2020-04-20T02:44:13Z</dcterms:modified>
</cp:coreProperties>
</file>