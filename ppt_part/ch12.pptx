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1"/>
    <p:sldMasterId id="2147483825" r:id="rId2"/>
  </p:sldMasterIdLst>
  <p:notesMasterIdLst>
    <p:notesMasterId r:id="rId39"/>
  </p:notesMasterIdLst>
  <p:sldIdLst>
    <p:sldId id="256" r:id="rId3"/>
    <p:sldId id="388" r:id="rId4"/>
    <p:sldId id="389" r:id="rId5"/>
    <p:sldId id="391" r:id="rId6"/>
    <p:sldId id="395" r:id="rId7"/>
    <p:sldId id="396" r:id="rId8"/>
    <p:sldId id="397" r:id="rId9"/>
    <p:sldId id="399" r:id="rId10"/>
    <p:sldId id="401" r:id="rId11"/>
    <p:sldId id="403" r:id="rId12"/>
    <p:sldId id="404" r:id="rId13"/>
    <p:sldId id="374" r:id="rId14"/>
    <p:sldId id="409" r:id="rId15"/>
    <p:sldId id="410" r:id="rId16"/>
    <p:sldId id="412" r:id="rId17"/>
    <p:sldId id="413" r:id="rId18"/>
    <p:sldId id="420" r:id="rId19"/>
    <p:sldId id="421" r:id="rId20"/>
    <p:sldId id="422" r:id="rId21"/>
    <p:sldId id="423" r:id="rId22"/>
    <p:sldId id="425" r:id="rId23"/>
    <p:sldId id="426" r:id="rId24"/>
    <p:sldId id="416" r:id="rId25"/>
    <p:sldId id="429" r:id="rId26"/>
    <p:sldId id="438" r:id="rId27"/>
    <p:sldId id="439" r:id="rId28"/>
    <p:sldId id="441" r:id="rId29"/>
    <p:sldId id="437" r:id="rId30"/>
    <p:sldId id="444" r:id="rId31"/>
    <p:sldId id="445" r:id="rId32"/>
    <p:sldId id="447" r:id="rId33"/>
    <p:sldId id="448" r:id="rId34"/>
    <p:sldId id="451" r:id="rId35"/>
    <p:sldId id="452" r:id="rId36"/>
    <p:sldId id="455" r:id="rId37"/>
    <p:sldId id="456" r:id="rId38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3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025" autoAdjust="0"/>
    <p:restoredTop sz="97684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BA31CB2-A4B5-4AC2-A6FD-6D0BC0006DF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06566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A47D3F7-4E4F-47A8-87EC-C625BB17E186}" type="slidenum">
              <a:rPr lang="en-US" altLang="zh-TW"/>
              <a:pPr eaLnBrk="1" hangingPunct="1"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709407771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822055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526224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66003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562846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542317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622218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895466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40308914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283534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360381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727259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16837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4302709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5595211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743296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56461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194370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002740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959955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40204424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881031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819585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1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第十二章 使用者介面塑模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12.2 </a:t>
            </a:r>
            <a:r>
              <a:rPr lang="zh-TW" altLang="zh-TW" smtClean="0"/>
              <a:t>使用者介面靜態結構塑模工作與工具</a:t>
            </a:r>
            <a:endParaRPr lang="zh-TW" altLang="en-US" smtClean="0"/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12.3 </a:t>
            </a:r>
            <a:r>
              <a:rPr lang="zh-TW" altLang="zh-TW" smtClean="0"/>
              <a:t>使用者介面靜態結構塑模與案例</a:t>
            </a:r>
            <a:endParaRPr lang="zh-TW" altLang="en-US" smtClean="0"/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12.4 </a:t>
            </a:r>
            <a:r>
              <a:rPr lang="zh-TW" altLang="en-US" smtClean="0"/>
              <a:t>狀態機圖</a:t>
            </a:r>
            <a:endParaRPr lang="en-US" altLang="zh-TW" smtClean="0"/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12.5 </a:t>
            </a:r>
            <a:r>
              <a:rPr lang="zh-TW" altLang="zh-TW" smtClean="0"/>
              <a:t>使用者介面狀態塑模與案例</a:t>
            </a:r>
            <a:endParaRPr lang="zh-TW" altLang="en-US" smtClean="0"/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12.6 </a:t>
            </a:r>
            <a:r>
              <a:rPr lang="zh-TW" altLang="zh-TW" smtClean="0"/>
              <a:t>結構化使用者介面塑模案例</a:t>
            </a:r>
            <a:endParaRPr lang="en-US" altLang="zh-TW" smtClean="0"/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12.7 </a:t>
            </a:r>
            <a:r>
              <a:rPr lang="zh-TW" altLang="en-US" smtClean="0"/>
              <a:t>結論</a:t>
            </a:r>
            <a:endParaRPr lang="en-US" altLang="zh-TW" smtClean="0"/>
          </a:p>
          <a:p>
            <a:pPr eaLnBrk="1">
              <a:buFont typeface="Wingdings" pitchFamily="2" charset="2"/>
              <a:buNone/>
            </a:pPr>
            <a:endParaRPr lang="zh-TW" altLang="en-US" smtClean="0"/>
          </a:p>
          <a:p>
            <a:pPr eaLnBrk="1"/>
            <a:endParaRPr lang="zh-TW" altLang="en-US" smtClean="0"/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zh-TW" smtClean="0"/>
              <a:t>使用者介面靜態結構塑模之重要工作與工具。</a:t>
            </a:r>
          </a:p>
          <a:p>
            <a:pPr eaLnBrk="1"/>
            <a:r>
              <a:rPr lang="zh-TW" altLang="zh-TW" smtClean="0"/>
              <a:t>使用者介面靜態結構塑模之建構步驟與準則。</a:t>
            </a:r>
          </a:p>
          <a:p>
            <a:pPr eaLnBrk="1"/>
            <a:r>
              <a:rPr lang="zh-TW" altLang="zh-TW" smtClean="0"/>
              <a:t>以</a:t>
            </a:r>
            <a:r>
              <a:rPr lang="en-US" altLang="zh-TW" smtClean="0"/>
              <a:t>Net-PAC </a:t>
            </a:r>
            <a:r>
              <a:rPr lang="zh-TW" altLang="zh-TW" smtClean="0"/>
              <a:t>模式、介面藍圖和介面詞彙進行使用者介面靜態結構塑模實例。</a:t>
            </a:r>
          </a:p>
          <a:p>
            <a:pPr eaLnBrk="1"/>
            <a:r>
              <a:rPr lang="zh-TW" altLang="zh-TW" smtClean="0"/>
              <a:t>何謂</a:t>
            </a:r>
            <a:r>
              <a:rPr lang="zh-TW" altLang="en-US" smtClean="0"/>
              <a:t>狀態機圖</a:t>
            </a:r>
            <a:r>
              <a:rPr lang="zh-TW" altLang="zh-TW" smtClean="0"/>
              <a:t>及其用途。</a:t>
            </a:r>
          </a:p>
          <a:p>
            <a:pPr eaLnBrk="1"/>
            <a:r>
              <a:rPr lang="zh-TW" altLang="zh-TW" smtClean="0"/>
              <a:t>使用者介面狀態塑模之步驟與準則。</a:t>
            </a:r>
            <a:endParaRPr lang="zh-TW" altLang="en-US" smtClean="0"/>
          </a:p>
          <a:p>
            <a:pPr eaLnBrk="1"/>
            <a:endParaRPr lang="zh-TW" altLang="en-US" smtClean="0"/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  <a:endParaRPr lang="en-US" altLang="zh-TW" smtClean="0"/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12.1 </a:t>
            </a:r>
            <a:r>
              <a:rPr lang="zh-TW" altLang="en-US" smtClean="0"/>
              <a:t>導論</a:t>
            </a:r>
            <a:r>
              <a:rPr lang="en-US" altLang="zh-TW" smtClean="0"/>
              <a:t>(c.2)</a:t>
            </a:r>
          </a:p>
        </p:txBody>
      </p:sp>
      <p:pic>
        <p:nvPicPr>
          <p:cNvPr id="8195" name="圖片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1050" y="1595438"/>
            <a:ext cx="7972425" cy="4543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12.2.1 </a:t>
            </a:r>
            <a:r>
              <a:rPr lang="zh-TW" altLang="en-US" smtClean="0"/>
              <a:t>介面架構圖</a:t>
            </a:r>
            <a:r>
              <a:rPr lang="en-US" altLang="zh-TW" smtClean="0"/>
              <a:t>(c.2)</a:t>
            </a:r>
          </a:p>
        </p:txBody>
      </p:sp>
      <p:pic>
        <p:nvPicPr>
          <p:cNvPr id="12291" name="Picture 12" descr="z-vb157d-f12-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916113"/>
            <a:ext cx="6381750" cy="3170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傳統的</a:t>
            </a:r>
            <a:r>
              <a:rPr lang="en-US" altLang="zh-TW" smtClean="0"/>
              <a:t>PAC </a:t>
            </a:r>
            <a:r>
              <a:rPr lang="zh-TW" altLang="zh-TW" smtClean="0"/>
              <a:t>模式無法表達</a:t>
            </a:r>
            <a:r>
              <a:rPr lang="en-US" altLang="zh-TW" smtClean="0"/>
              <a:t>Web-based </a:t>
            </a:r>
            <a:r>
              <a:rPr lang="zh-TW" altLang="zh-TW" smtClean="0"/>
              <a:t>系統中網狀的使用者介面架構，例如超連結 </a:t>
            </a:r>
            <a:r>
              <a:rPr lang="en-US" altLang="zh-TW" smtClean="0"/>
              <a:t>(Hyperlink) </a:t>
            </a:r>
            <a:r>
              <a:rPr lang="zh-TW" altLang="zh-TW" smtClean="0"/>
              <a:t>型態等。</a:t>
            </a:r>
            <a:endParaRPr lang="en-US" altLang="zh-TW" smtClean="0"/>
          </a:p>
          <a:p>
            <a:pPr eaLnBrk="1"/>
            <a:r>
              <a:rPr lang="zh-TW" altLang="zh-TW" smtClean="0"/>
              <a:t>因此，需將</a:t>
            </a:r>
            <a:r>
              <a:rPr lang="en-US" altLang="zh-TW" smtClean="0"/>
              <a:t>PAC </a:t>
            </a:r>
            <a:r>
              <a:rPr lang="zh-TW" altLang="zh-TW" smtClean="0"/>
              <a:t>模式擴充成網狀式的</a:t>
            </a:r>
            <a:r>
              <a:rPr lang="en-US" altLang="zh-TW" smtClean="0"/>
              <a:t>Net-PAC </a:t>
            </a:r>
            <a:r>
              <a:rPr lang="zh-TW" altLang="zh-TW" smtClean="0"/>
              <a:t>模式，表達</a:t>
            </a:r>
            <a:r>
              <a:rPr lang="en-US" altLang="zh-TW" smtClean="0"/>
              <a:t>Web-based </a:t>
            </a:r>
            <a:r>
              <a:rPr lang="zh-TW" altLang="zh-TW" smtClean="0"/>
              <a:t>系統與傳統系統介面。</a:t>
            </a:r>
            <a:r>
              <a:rPr lang="en-US" altLang="zh-TW" smtClean="0"/>
              <a:t> Net-PAC </a:t>
            </a:r>
            <a:r>
              <a:rPr lang="zh-TW" altLang="zh-TW" smtClean="0"/>
              <a:t>模式中之表達、摘述、控制可分別藉由介面藍圖、介面詞彙、循序圖與</a:t>
            </a:r>
            <a:r>
              <a:rPr lang="zh-TW" altLang="en-US" smtClean="0"/>
              <a:t>狀態機圖</a:t>
            </a:r>
            <a:r>
              <a:rPr lang="zh-TW" altLang="zh-TW" smtClean="0"/>
              <a:t>來描述。</a:t>
            </a:r>
            <a:endParaRPr lang="zh-TW" altLang="en-US" smtClean="0"/>
          </a:p>
          <a:p>
            <a:pPr eaLnBrk="1"/>
            <a:endParaRPr lang="zh-TW" altLang="en-US" smtClean="0"/>
          </a:p>
        </p:txBody>
      </p:sp>
      <p:sp>
        <p:nvSpPr>
          <p:cNvPr id="1331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12.2.1 </a:t>
            </a:r>
            <a:r>
              <a:rPr lang="zh-TW" altLang="en-US" smtClean="0"/>
              <a:t>介面架構圖</a:t>
            </a:r>
            <a:r>
              <a:rPr lang="en-US" altLang="zh-TW" smtClean="0"/>
              <a:t>(c.3)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12.2.1 </a:t>
            </a:r>
            <a:r>
              <a:rPr lang="zh-TW" altLang="en-US" smtClean="0"/>
              <a:t>介面架構圖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  <p:pic>
        <p:nvPicPr>
          <p:cNvPr id="14339" name="Picture 12" descr="z-vb157d-f12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75" y="1628775"/>
            <a:ext cx="6276975" cy="4524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12.2.2 </a:t>
            </a:r>
            <a:r>
              <a:rPr lang="zh-TW" altLang="en-US" smtClean="0"/>
              <a:t>介面元件</a:t>
            </a:r>
            <a:r>
              <a:rPr lang="en-US" altLang="zh-TW" smtClean="0"/>
              <a:t>(c.2)</a:t>
            </a:r>
          </a:p>
        </p:txBody>
      </p:sp>
      <p:pic>
        <p:nvPicPr>
          <p:cNvPr id="16387" name="Picture 12" descr="z-vb157d-t12-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557338"/>
            <a:ext cx="6624638" cy="429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12.2.3 </a:t>
            </a:r>
            <a:r>
              <a:rPr lang="zh-TW" altLang="en-US" smtClean="0"/>
              <a:t>介面藍圖及介面詞彙</a:t>
            </a:r>
            <a:r>
              <a:rPr lang="en-US" altLang="zh-TW" smtClean="0"/>
              <a:t>(c.2)</a:t>
            </a:r>
          </a:p>
        </p:txBody>
      </p:sp>
      <p:sp>
        <p:nvSpPr>
          <p:cNvPr id="18435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046163" y="1438275"/>
            <a:ext cx="8097837" cy="477838"/>
          </a:xfrm>
        </p:spPr>
        <p:txBody>
          <a:bodyPr lIns="91440" tIns="45720" rIns="91440" bIns="45720"/>
          <a:lstStyle/>
          <a:p>
            <a:pPr eaLnBrk="1"/>
            <a:r>
              <a:rPr lang="zh-TW" altLang="zh-TW" sz="2000" smtClean="0">
                <a:ea typeface="微軟正黑體" pitchFamily="34" charset="-120"/>
              </a:rPr>
              <a:t>圖</a:t>
            </a:r>
            <a:r>
              <a:rPr lang="en-US" altLang="zh-TW" sz="2000" smtClean="0">
                <a:ea typeface="微軟正黑體" pitchFamily="34" charset="-120"/>
              </a:rPr>
              <a:t>12-4 </a:t>
            </a:r>
            <a:r>
              <a:rPr lang="zh-TW" altLang="zh-TW" sz="2000" smtClean="0">
                <a:ea typeface="微軟正黑體" pitchFamily="34" charset="-120"/>
              </a:rPr>
              <a:t>介面藍圖範例</a:t>
            </a:r>
            <a:endParaRPr lang="zh-TW" altLang="en-US" sz="2000" smtClean="0">
              <a:ea typeface="微軟正黑體" pitchFamily="34" charset="-120"/>
            </a:endParaRPr>
          </a:p>
          <a:p>
            <a:pPr eaLnBrk="1"/>
            <a:endParaRPr lang="zh-TW" altLang="en-US" sz="2000" smtClean="0">
              <a:ea typeface="微軟正黑體" pitchFamily="34" charset="-120"/>
            </a:endParaRPr>
          </a:p>
        </p:txBody>
      </p:sp>
      <p:pic>
        <p:nvPicPr>
          <p:cNvPr id="1843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2060575"/>
            <a:ext cx="6408737" cy="40370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12.2.3 </a:t>
            </a:r>
            <a:r>
              <a:rPr lang="zh-TW" altLang="en-US" smtClean="0"/>
              <a:t>介面藍圖及介面詞彙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  <p:pic>
        <p:nvPicPr>
          <p:cNvPr id="20483" name="Picture 52" descr="z-vb157d-t12-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1557338"/>
            <a:ext cx="6119812" cy="4611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12.2.3 </a:t>
            </a:r>
            <a:r>
              <a:rPr lang="zh-TW" altLang="en-US" smtClean="0"/>
              <a:t>介面藍圖及介面詞彙</a:t>
            </a:r>
            <a:r>
              <a:rPr lang="en-US" altLang="zh-TW" smtClean="0"/>
              <a:t>(c.5)</a:t>
            </a:r>
            <a:endParaRPr lang="zh-TW" altLang="en-US" smtClean="0"/>
          </a:p>
        </p:txBody>
      </p:sp>
      <p:pic>
        <p:nvPicPr>
          <p:cNvPr id="21507" name="Picture 10" descr="z-vb157d-t12-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773238"/>
            <a:ext cx="7561262" cy="3498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12.2.4 </a:t>
            </a:r>
            <a:r>
              <a:rPr lang="zh-TW" altLang="en-US" smtClean="0"/>
              <a:t>介面設計</a:t>
            </a:r>
            <a:r>
              <a:rPr lang="en-US" altLang="zh-TW" smtClean="0"/>
              <a:t>(c.3)</a:t>
            </a:r>
          </a:p>
        </p:txBody>
      </p:sp>
      <p:sp>
        <p:nvSpPr>
          <p:cNvPr id="10" name="矩形 9"/>
          <p:cNvSpPr/>
          <p:nvPr/>
        </p:nvSpPr>
        <p:spPr>
          <a:xfrm>
            <a:off x="2165350" y="6364288"/>
            <a:ext cx="3024188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zh-TW" kern="100" spc="3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表</a:t>
            </a:r>
            <a:r>
              <a:rPr lang="en-US" altLang="zh-TW" kern="100" spc="3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12-4</a:t>
            </a:r>
            <a:r>
              <a:rPr lang="en-US" altLang="zh-TW" sz="1600" kern="100" spc="3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zh-TW" kern="100" spc="3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介面設計之三種情況</a:t>
            </a:r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24580" name="Group 43"/>
          <p:cNvGrpSpPr>
            <a:grpSpLocks/>
          </p:cNvGrpSpPr>
          <p:nvPr/>
        </p:nvGrpSpPr>
        <p:grpSpPr bwMode="auto">
          <a:xfrm>
            <a:off x="755650" y="1484313"/>
            <a:ext cx="7920038" cy="4248150"/>
            <a:chOff x="1927" y="587"/>
            <a:chExt cx="5672" cy="2712"/>
          </a:xfrm>
        </p:grpSpPr>
        <p:grpSp>
          <p:nvGrpSpPr>
            <p:cNvPr id="24581" name="Group 39"/>
            <p:cNvGrpSpPr>
              <a:grpSpLocks/>
            </p:cNvGrpSpPr>
            <p:nvPr/>
          </p:nvGrpSpPr>
          <p:grpSpPr bwMode="auto">
            <a:xfrm>
              <a:off x="1927" y="587"/>
              <a:ext cx="5672" cy="2712"/>
              <a:chOff x="1927" y="587"/>
              <a:chExt cx="5672" cy="2712"/>
            </a:xfrm>
          </p:grpSpPr>
          <p:pic>
            <p:nvPicPr>
              <p:cNvPr id="24584" name="Picture 38" descr="z-vb157d-t12-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7" y="587"/>
                <a:ext cx="5672" cy="2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585" name="Picture 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69" t="-10721" r="7484" b="53235"/>
              <a:stretch>
                <a:fillRect/>
              </a:stretch>
            </p:blipFill>
            <p:spPr bwMode="auto">
              <a:xfrm>
                <a:off x="3787" y="2840"/>
                <a:ext cx="1063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4582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127" r="59769"/>
            <a:stretch>
              <a:fillRect/>
            </a:stretch>
          </p:blipFill>
          <p:spPr bwMode="auto">
            <a:xfrm>
              <a:off x="3969" y="2069"/>
              <a:ext cx="769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3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69" t="-2127"/>
            <a:stretch>
              <a:fillRect/>
            </a:stretch>
          </p:blipFill>
          <p:spPr bwMode="auto">
            <a:xfrm>
              <a:off x="3969" y="2432"/>
              <a:ext cx="769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z="2800" smtClean="0"/>
              <a:t>12.3 </a:t>
            </a:r>
            <a:r>
              <a:rPr lang="zh-TW" altLang="en-US" sz="2800" smtClean="0"/>
              <a:t>使用者介面靜態結構塑模與案例</a:t>
            </a:r>
            <a:r>
              <a:rPr lang="en-US" altLang="zh-TW" sz="2800" smtClean="0"/>
              <a:t>(c.4)</a:t>
            </a:r>
          </a:p>
        </p:txBody>
      </p:sp>
      <p:pic>
        <p:nvPicPr>
          <p:cNvPr id="29699" name="Picture 12" descr="z-vb157d-f12-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1557338"/>
            <a:ext cx="5400675" cy="4824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z="2800" smtClean="0"/>
              <a:t>12.3 </a:t>
            </a:r>
            <a:r>
              <a:rPr lang="zh-TW" altLang="en-US" sz="2800" smtClean="0"/>
              <a:t>使用者介面靜態結構塑模與案例</a:t>
            </a:r>
            <a:r>
              <a:rPr lang="en-US" altLang="zh-TW" sz="2800" smtClean="0"/>
              <a:t>(c.5)</a:t>
            </a:r>
          </a:p>
        </p:txBody>
      </p:sp>
      <p:pic>
        <p:nvPicPr>
          <p:cNvPr id="30723" name="Picture 13" descr="z-vb157d-t12-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916113"/>
            <a:ext cx="8064500" cy="2671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16"/>
          <p:cNvGrpSpPr>
            <a:grpSpLocks/>
          </p:cNvGrpSpPr>
          <p:nvPr/>
        </p:nvGrpSpPr>
        <p:grpSpPr bwMode="auto">
          <a:xfrm>
            <a:off x="1331913" y="1484313"/>
            <a:ext cx="6840537" cy="4179887"/>
            <a:chOff x="839" y="935"/>
            <a:chExt cx="4309" cy="2633"/>
          </a:xfrm>
        </p:grpSpPr>
        <p:pic>
          <p:nvPicPr>
            <p:cNvPr id="32772" name="Picture 15" descr="z-vb157d-f12-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9" r="59807" b="79631"/>
            <a:stretch>
              <a:fillRect/>
            </a:stretch>
          </p:blipFill>
          <p:spPr bwMode="auto">
            <a:xfrm>
              <a:off x="839" y="935"/>
              <a:ext cx="1769" cy="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3" name="內容版面配置區 7" descr="未命名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480"/>
              <a:ext cx="4128" cy="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7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z="2800" smtClean="0"/>
              <a:t>12.3 </a:t>
            </a:r>
            <a:r>
              <a:rPr lang="zh-TW" altLang="en-US" sz="2800" smtClean="0"/>
              <a:t>使用者介面靜態結構塑模與案例</a:t>
            </a:r>
            <a:r>
              <a:rPr lang="en-US" altLang="zh-TW" sz="2800" smtClean="0"/>
              <a:t>(c.7)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z="2800" smtClean="0"/>
              <a:t>12.3 </a:t>
            </a:r>
            <a:r>
              <a:rPr lang="zh-TW" altLang="en-US" sz="2800" smtClean="0"/>
              <a:t>使用者介面靜態結構塑模與案例</a:t>
            </a:r>
            <a:r>
              <a:rPr lang="en-US" altLang="zh-TW" sz="2800" smtClean="0"/>
              <a:t>(c.8)</a:t>
            </a:r>
          </a:p>
        </p:txBody>
      </p:sp>
      <p:pic>
        <p:nvPicPr>
          <p:cNvPr id="33795" name="Picture 12" descr="z-vb157d-t12-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" r="2391" b="4533"/>
          <a:stretch>
            <a:fillRect/>
          </a:stretch>
        </p:blipFill>
        <p:spPr>
          <a:xfrm>
            <a:off x="1979613" y="1484313"/>
            <a:ext cx="5688012" cy="4875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18" name="Group 38"/>
          <p:cNvGraphicFramePr>
            <a:graphicFrameLocks noGrp="1"/>
          </p:cNvGraphicFramePr>
          <p:nvPr>
            <p:ph idx="1"/>
          </p:nvPr>
        </p:nvGraphicFramePr>
        <p:xfrm>
          <a:off x="1331913" y="1438275"/>
          <a:ext cx="6985000" cy="4857751"/>
        </p:xfrm>
        <a:graphic>
          <a:graphicData uri="http://schemas.openxmlformats.org/drawingml/2006/table">
            <a:tbl>
              <a:tblPr/>
              <a:tblGrid>
                <a:gridCol w="3556000"/>
                <a:gridCol w="1776412"/>
                <a:gridCol w="1652588"/>
              </a:tblGrid>
              <a:tr h="7064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行為</a:t>
                      </a: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狀態機圖元件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符　號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7628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開始狀態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1636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簡單狀態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</a:tr>
              <a:tr h="752475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歷史狀態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458912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組合狀態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7912" name="圖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068638"/>
            <a:ext cx="16573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3" name="圖片 13" descr="Simple state Waiting for Customer Input with name and internal activities compartmen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997200"/>
            <a:ext cx="150495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4" name="圖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213" y="4344988"/>
            <a:ext cx="4095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15" name="圖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5013325"/>
            <a:ext cx="3052763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16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(c.2)</a:t>
            </a:r>
          </a:p>
        </p:txBody>
      </p: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(c.3)</a:t>
            </a:r>
            <a:endParaRPr lang="zh-TW" altLang="en-US" smtClean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1187450" y="1438275"/>
          <a:ext cx="7056438" cy="4857750"/>
        </p:xfrm>
        <a:graphic>
          <a:graphicData uri="http://schemas.openxmlformats.org/drawingml/2006/table">
            <a:tbl>
              <a:tblPr/>
              <a:tblGrid>
                <a:gridCol w="3529013"/>
                <a:gridCol w="1763712"/>
                <a:gridCol w="1763713"/>
              </a:tblGrid>
              <a:tr h="690563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行為</a:t>
                      </a: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狀態機圖元件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符　號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268412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分解分隔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1382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轉換</a:t>
                      </a:r>
                    </a:p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（事件</a:t>
                      </a: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[</a:t>
                      </a: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成立條件</a:t>
                      </a: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]</a:t>
                      </a: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／動作）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</a:tr>
              <a:tr h="1760537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選擇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8934" name="圖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276475"/>
            <a:ext cx="1743075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35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3797300"/>
            <a:ext cx="1870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36" name="圖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4652963"/>
            <a:ext cx="22161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60" name="Group 32"/>
          <p:cNvGraphicFramePr>
            <a:graphicFrameLocks noGrp="1"/>
          </p:cNvGraphicFramePr>
          <p:nvPr>
            <p:ph idx="1"/>
          </p:nvPr>
        </p:nvGraphicFramePr>
        <p:xfrm>
          <a:off x="900113" y="1557338"/>
          <a:ext cx="7488237" cy="4511676"/>
        </p:xfrm>
        <a:graphic>
          <a:graphicData uri="http://schemas.openxmlformats.org/drawingml/2006/table">
            <a:tbl>
              <a:tblPr/>
              <a:tblGrid>
                <a:gridCol w="3744912"/>
                <a:gridCol w="1871663"/>
                <a:gridCol w="1871662"/>
              </a:tblGrid>
              <a:tr h="4778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行為</a:t>
                      </a: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狀態機圖元件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符　號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543050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分岔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546225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合併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</a:tr>
              <a:tr h="944563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結束狀態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995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5" y="3749675"/>
            <a:ext cx="2463800" cy="116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5" y="2268538"/>
            <a:ext cx="2397125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88" y="5437188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6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(c.5)</a:t>
            </a:r>
            <a:endParaRPr lang="zh-TW" altLang="en-US" smtClean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1042988" y="1438275"/>
          <a:ext cx="7200900" cy="4857751"/>
        </p:xfrm>
        <a:graphic>
          <a:graphicData uri="http://schemas.openxmlformats.org/drawingml/2006/table">
            <a:tbl>
              <a:tblPr/>
              <a:tblGrid>
                <a:gridCol w="3600450"/>
                <a:gridCol w="1800225"/>
                <a:gridCol w="1800225"/>
              </a:tblGrid>
              <a:tr h="419100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行為</a:t>
                      </a: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狀態機圖元件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符　號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6843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進入點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684338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離開點</a:t>
                      </a: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9ED"/>
                    </a:solidFill>
                  </a:tcPr>
                </a:tc>
              </a:tr>
              <a:tr h="1069975">
                <a:tc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終止節點</a:t>
                      </a:r>
                      <a:endParaRPr kumimoji="1" lang="zh-TW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gridSpan="2">
                  <a:txBody>
                    <a:bodyPr/>
                    <a:lstStyle>
                      <a:lvl1pPr marL="42863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buFont typeface="Wingdings" pitchFamily="2" charset="2"/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just" defTabSz="685800">
                        <a:lnSpc>
                          <a:spcPct val="120000"/>
                        </a:lnSpc>
                        <a:spcBef>
                          <a:spcPct val="20000"/>
                        </a:spcBef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algn="just" defTabSz="68580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000">
                          <a:solidFill>
                            <a:schemeClr val="bg2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42863" marR="0" lvl="0" indent="0" algn="ctr" defTabSz="685800" rtl="0" eaLnBrk="1" fontAlgn="base" latinLnBrk="0" hangingPunct="0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82" name="圖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916113"/>
            <a:ext cx="15065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3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716338"/>
            <a:ext cx="157480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4" name="圖片 19" descr="A terminate pseudostate is shown as a cros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5589588"/>
            <a:ext cx="15081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2711450"/>
          </a:xfrm>
        </p:spPr>
        <p:txBody>
          <a:bodyPr/>
          <a:lstStyle/>
          <a:p>
            <a:pPr eaLnBrk="1">
              <a:lnSpc>
                <a:spcPct val="100000"/>
              </a:lnSpc>
            </a:pPr>
            <a:r>
              <a:rPr lang="zh-TW" altLang="en-US" sz="2000" smtClean="0"/>
              <a:t>組合狀態 </a:t>
            </a:r>
            <a:r>
              <a:rPr lang="en-US" altLang="zh-TW" sz="2000" smtClean="0"/>
              <a:t>(Concurrent Composite State)</a:t>
            </a:r>
            <a:endParaRPr lang="zh-TW" altLang="en-US" sz="2000" smtClean="0"/>
          </a:p>
          <a:p>
            <a:pPr lvl="1" eaLnBrk="1">
              <a:lnSpc>
                <a:spcPct val="100000"/>
              </a:lnSpc>
            </a:pPr>
            <a:r>
              <a:rPr lang="zh-TW" altLang="zh-TW" sz="2000" smtClean="0"/>
              <a:t>表示擁有子狀態的狀態，子狀態可以是有順序的 </a:t>
            </a:r>
            <a:r>
              <a:rPr lang="en-US" altLang="zh-TW" sz="2000" smtClean="0"/>
              <a:t>(Sequential) </a:t>
            </a:r>
            <a:r>
              <a:rPr lang="zh-TW" altLang="zh-TW" sz="2000" smtClean="0"/>
              <a:t>或同步的 </a:t>
            </a:r>
            <a:r>
              <a:rPr lang="en-US" altLang="zh-TW" sz="2000" smtClean="0"/>
              <a:t>(Concurrent)</a:t>
            </a:r>
            <a:r>
              <a:rPr lang="zh-TW" altLang="zh-TW" sz="2000" smtClean="0"/>
              <a:t>。組合狀態中有四個元素，分別為名稱分隔、內部活動分隔、內部轉換分隔與分解分隔</a:t>
            </a:r>
            <a:endParaRPr lang="en-US" altLang="zh-TW" sz="2000" smtClean="0"/>
          </a:p>
          <a:p>
            <a:pPr lvl="1" eaLnBrk="1">
              <a:lnSpc>
                <a:spcPct val="100000"/>
              </a:lnSpc>
            </a:pPr>
            <a:r>
              <a:rPr lang="zh-TW" altLang="zh-TW" sz="2000" smtClean="0"/>
              <a:t>簡單組合狀態</a:t>
            </a:r>
            <a:r>
              <a:rPr lang="zh-TW" altLang="en-US" sz="2000" smtClean="0"/>
              <a:t>：</a:t>
            </a:r>
            <a:r>
              <a:rPr lang="zh-TW" altLang="zh-TW" sz="2000" smtClean="0"/>
              <a:t>包含一個或一個以上的子狀態，且當組合狀態被啟動時，同一時間僅有一個子狀態會被啟動</a:t>
            </a:r>
            <a:endParaRPr lang="en-US" altLang="zh-TW" sz="2000" smtClean="0"/>
          </a:p>
          <a:p>
            <a:pPr lvl="2" eaLnBrk="1">
              <a:lnSpc>
                <a:spcPct val="100000"/>
              </a:lnSpc>
            </a:pPr>
            <a:r>
              <a:rPr lang="zh-TW" altLang="zh-TW" sz="2000" smtClean="0"/>
              <a:t>同步組合狀態</a:t>
            </a:r>
            <a:r>
              <a:rPr lang="zh-TW" altLang="en-US" sz="2000" smtClean="0"/>
              <a:t>：</a:t>
            </a:r>
            <a:r>
              <a:rPr lang="zh-TW" altLang="zh-TW" sz="2000" smtClean="0"/>
              <a:t>它被分成兩個或以上的同步子狀態，且當組合狀態被啟動時，所有的子狀態將同步被啟動。</a:t>
            </a:r>
            <a:endParaRPr lang="zh-TW" altLang="en-US" sz="2000" smtClean="0"/>
          </a:p>
        </p:txBody>
      </p:sp>
      <p:pic>
        <p:nvPicPr>
          <p:cNvPr id="43011" name="圖片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0438" y="4221163"/>
            <a:ext cx="5075237" cy="2074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(c.7)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12.4.1 </a:t>
            </a:r>
            <a:r>
              <a:rPr lang="zh-TW" altLang="en-US" smtClean="0"/>
              <a:t>行為狀態機圖之元件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  <p:sp>
        <p:nvSpPr>
          <p:cNvPr id="44035" name="Rectangle 2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z="1600" smtClean="0"/>
              <a:t>轉換 </a:t>
            </a:r>
            <a:r>
              <a:rPr lang="en-US" altLang="zh-TW" sz="1600" smtClean="0"/>
              <a:t>(Transition)</a:t>
            </a:r>
            <a:endParaRPr lang="zh-TW" altLang="en-US" sz="1600" smtClean="0"/>
          </a:p>
          <a:p>
            <a:pPr lvl="1" eaLnBrk="1"/>
            <a:r>
              <a:rPr lang="zh-TW" altLang="en-US" sz="1600" smtClean="0"/>
              <a:t>狀態間之結合關係，是觸發物件從一狀態進入另一狀態的事件、成立條件或動作，以一「箭頭」旁註明「事件</a:t>
            </a:r>
            <a:r>
              <a:rPr lang="en-US" altLang="zh-TW" sz="1600" smtClean="0"/>
              <a:t>〔</a:t>
            </a:r>
            <a:r>
              <a:rPr lang="zh-TW" altLang="en-US" sz="1600" smtClean="0"/>
              <a:t>成立條件</a:t>
            </a:r>
            <a:r>
              <a:rPr lang="en-US" altLang="zh-TW" sz="1600" smtClean="0"/>
              <a:t>〕</a:t>
            </a:r>
            <a:r>
              <a:rPr lang="zh-TW" altLang="en-US" sz="1600" smtClean="0"/>
              <a:t>／動作」來表示。</a:t>
            </a:r>
            <a:endParaRPr lang="en-US" altLang="zh-TW" sz="1600" smtClean="0"/>
          </a:p>
          <a:p>
            <a:pPr lvl="1" eaLnBrk="1"/>
            <a:r>
              <a:rPr lang="zh-TW" altLang="en-US" sz="1600" smtClean="0"/>
              <a:t>事件 </a:t>
            </a:r>
            <a:r>
              <a:rPr lang="en-US" altLang="zh-TW" sz="1600" smtClean="0"/>
              <a:t>(Event) </a:t>
            </a:r>
            <a:r>
              <a:rPr lang="zh-TW" altLang="en-US" sz="1600" smtClean="0"/>
              <a:t>是物件生命週期中一種刺激的發生，它有時間與空間之位置，且能引發狀態轉換。</a:t>
            </a:r>
            <a:endParaRPr lang="en-US" altLang="zh-TW" sz="1600" smtClean="0"/>
          </a:p>
          <a:p>
            <a:pPr lvl="1" eaLnBrk="1"/>
            <a:r>
              <a:rPr lang="zh-TW" altLang="en-US" sz="1600" smtClean="0"/>
              <a:t>成立條件 </a:t>
            </a:r>
            <a:r>
              <a:rPr lang="en-US" altLang="zh-TW" sz="1600" smtClean="0"/>
              <a:t>(Guard) </a:t>
            </a:r>
            <a:r>
              <a:rPr lang="zh-TW" altLang="en-US" sz="1600" smtClean="0"/>
              <a:t>是事件發生時的判斷條件，只具有真或假的邏輯狀況；若為真則轉換開始執行 </a:t>
            </a:r>
            <a:r>
              <a:rPr lang="en-US" altLang="zh-TW" sz="1600" smtClean="0"/>
              <a:t>(Fire)</a:t>
            </a:r>
            <a:r>
              <a:rPr lang="zh-TW" altLang="en-US" sz="1600" smtClean="0"/>
              <a:t>，若為假則轉換不可執行。</a:t>
            </a:r>
            <a:endParaRPr lang="en-US" altLang="zh-TW" sz="1600" smtClean="0"/>
          </a:p>
          <a:p>
            <a:pPr lvl="1" eaLnBrk="1"/>
            <a:r>
              <a:rPr lang="zh-TW" altLang="zh-TW" sz="1600" smtClean="0"/>
              <a:t>動作 </a:t>
            </a:r>
            <a:r>
              <a:rPr lang="en-US" altLang="zh-TW" sz="1600" smtClean="0"/>
              <a:t>(Action) </a:t>
            </a:r>
            <a:r>
              <a:rPr lang="zh-TW" altLang="zh-TW" sz="1600" smtClean="0"/>
              <a:t>與狀態中之活動均屬於處理，但動作是不能分割的，所需處理時間較短（相對於活動），處理過程中不可被事件中斷或暫停。</a:t>
            </a:r>
            <a:endParaRPr lang="zh-TW" altLang="en-US" sz="1600" smtClean="0"/>
          </a:p>
        </p:txBody>
      </p:sp>
      <p:pic>
        <p:nvPicPr>
          <p:cNvPr id="44036" name="Picture 2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7675" y="4508500"/>
            <a:ext cx="3724275" cy="1787525"/>
          </a:xfr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1" descr="z-vb157d-f12-1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t="13231" r="8960" b="3038"/>
          <a:stretch>
            <a:fillRect/>
          </a:stretch>
        </p:blipFill>
        <p:spPr>
          <a:xfrm>
            <a:off x="1692275" y="1484313"/>
            <a:ext cx="6048375" cy="4897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行為狀態機圖範例</a:t>
            </a: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1" descr="z-vb157d-f12-1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" r="6697" b="3134"/>
          <a:stretch>
            <a:fillRect/>
          </a:stretch>
        </p:blipFill>
        <p:spPr>
          <a:xfrm>
            <a:off x="1619250" y="1628775"/>
            <a:ext cx="6480175" cy="467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12.5.1 </a:t>
            </a:r>
            <a:r>
              <a:rPr lang="zh-TW" altLang="en-US" smtClean="0"/>
              <a:t>使用個案之狀態塑模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12.5.2 </a:t>
            </a:r>
            <a:r>
              <a:rPr lang="zh-TW" altLang="en-US" smtClean="0"/>
              <a:t>系統狀態塑模案例</a:t>
            </a:r>
            <a:r>
              <a:rPr lang="en-US" altLang="zh-TW" smtClean="0"/>
              <a:t>(c.2)</a:t>
            </a:r>
          </a:p>
        </p:txBody>
      </p:sp>
      <p:pic>
        <p:nvPicPr>
          <p:cNvPr id="57347" name="Picture 12" descr="z-vb157d-f12-1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2" t="4715" r="2855" b="4057"/>
          <a:stretch>
            <a:fillRect/>
          </a:stretch>
        </p:blipFill>
        <p:spPr>
          <a:xfrm>
            <a:off x="1187450" y="1484313"/>
            <a:ext cx="7488238" cy="472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12.5.2 </a:t>
            </a:r>
            <a:r>
              <a:rPr lang="zh-TW" altLang="en-US" smtClean="0"/>
              <a:t>系統狀態塑模案例</a:t>
            </a:r>
            <a:r>
              <a:rPr lang="en-US" altLang="zh-TW" smtClean="0"/>
              <a:t>(c.3)</a:t>
            </a:r>
          </a:p>
        </p:txBody>
      </p:sp>
      <p:pic>
        <p:nvPicPr>
          <p:cNvPr id="58371" name="Picture 14" descr="z-vb157d-t12-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" t="3978" r="3990"/>
          <a:stretch>
            <a:fillRect/>
          </a:stretch>
        </p:blipFill>
        <p:spPr>
          <a:xfrm>
            <a:off x="755650" y="1916113"/>
            <a:ext cx="7848600" cy="2085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(c.2)</a:t>
            </a:r>
          </a:p>
        </p:txBody>
      </p:sp>
      <p:sp>
        <p:nvSpPr>
          <p:cNvPr id="60419" name="Rectangle 9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mtClean="0">
                <a:ea typeface="微軟正黑體" pitchFamily="34" charset="-120"/>
              </a:rPr>
              <a:t>使用者介面需求塑模</a:t>
            </a:r>
            <a:endParaRPr lang="en-US" altLang="zh-TW" smtClean="0">
              <a:ea typeface="微軟正黑體" pitchFamily="34" charset="-120"/>
            </a:endParaRPr>
          </a:p>
          <a:p>
            <a:pPr eaLnBrk="1"/>
            <a:r>
              <a:rPr lang="zh-TW" altLang="zh-TW" smtClean="0">
                <a:ea typeface="微軟正黑體" pitchFamily="34" charset="-120"/>
              </a:rPr>
              <a:t>夢幻系統之需求塑模請參考第</a:t>
            </a:r>
            <a:r>
              <a:rPr lang="en-US" altLang="zh-TW" smtClean="0">
                <a:ea typeface="微軟正黑體" pitchFamily="34" charset="-120"/>
              </a:rPr>
              <a:t>3</a:t>
            </a:r>
            <a:r>
              <a:rPr lang="zh-TW" altLang="zh-TW" smtClean="0">
                <a:ea typeface="微軟正黑體" pitchFamily="34" charset="-120"/>
              </a:rPr>
              <a:t>章，本節僅將送貨處理之描述，摘述於表</a:t>
            </a:r>
            <a:r>
              <a:rPr lang="en-US" altLang="zh-TW" smtClean="0">
                <a:ea typeface="微軟正黑體" pitchFamily="34" charset="-120"/>
              </a:rPr>
              <a:t>12-9</a:t>
            </a:r>
            <a:r>
              <a:rPr lang="zh-TW" altLang="zh-TW" smtClean="0">
                <a:ea typeface="微軟正黑體" pitchFamily="34" charset="-120"/>
              </a:rPr>
              <a:t>。</a:t>
            </a:r>
            <a:endParaRPr lang="zh-TW" altLang="en-US" smtClean="0">
              <a:ea typeface="微軟正黑體" pitchFamily="34" charset="-120"/>
            </a:endParaRPr>
          </a:p>
          <a:p>
            <a:pPr eaLnBrk="1"/>
            <a:endParaRPr lang="zh-TW" altLang="en-US" smtClean="0"/>
          </a:p>
        </p:txBody>
      </p:sp>
      <p:pic>
        <p:nvPicPr>
          <p:cNvPr id="60420" name="Picture 10" descr="z-vb157d-t12-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26981" r="4977" b="5412"/>
          <a:stretch>
            <a:fillRect/>
          </a:stretch>
        </p:blipFill>
        <p:spPr>
          <a:xfrm>
            <a:off x="1042988" y="3213100"/>
            <a:ext cx="7489825" cy="1949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en-US" sz="2000" smtClean="0"/>
              <a:t>上述案例可建構出一個階層式介面架構圖</a:t>
            </a:r>
            <a:r>
              <a:rPr lang="zh-TW" altLang="zh-TW" sz="2000" smtClean="0"/>
              <a:t>，如圖</a:t>
            </a:r>
            <a:r>
              <a:rPr lang="en-US" altLang="zh-TW" sz="2000" smtClean="0"/>
              <a:t>12-13a </a:t>
            </a:r>
            <a:r>
              <a:rPr lang="zh-TW" altLang="en-US" sz="2000" smtClean="0"/>
              <a:t>。但如果該系統是</a:t>
            </a:r>
            <a:r>
              <a:rPr lang="en-US" altLang="zh-TW" sz="2000" smtClean="0"/>
              <a:t>Web-based</a:t>
            </a:r>
            <a:r>
              <a:rPr lang="zh-TW" altLang="en-US" sz="2000" smtClean="0"/>
              <a:t>系統，則其架構的呈現方式需轉變成階層式與網狀式共存的方式</a:t>
            </a:r>
            <a:r>
              <a:rPr lang="zh-TW" altLang="zh-TW" sz="2000" smtClean="0"/>
              <a:t>，如圖</a:t>
            </a:r>
            <a:r>
              <a:rPr lang="en-US" altLang="zh-TW" sz="2000" smtClean="0"/>
              <a:t>12-32b</a:t>
            </a:r>
            <a:r>
              <a:rPr lang="zh-TW" altLang="en-US" sz="2000" smtClean="0"/>
              <a:t>。</a:t>
            </a:r>
          </a:p>
          <a:p>
            <a:pPr lvl="1" eaLnBrk="1"/>
            <a:r>
              <a:rPr lang="zh-TW" altLang="zh-TW" sz="2000" smtClean="0"/>
              <a:t>一個</a:t>
            </a:r>
            <a:r>
              <a:rPr lang="en-US" altLang="zh-TW" sz="2000" smtClean="0"/>
              <a:t>Net-PAC</a:t>
            </a:r>
            <a:r>
              <a:rPr lang="zh-TW" altLang="zh-TW" sz="2000" smtClean="0"/>
              <a:t>介面架構圖需有一個</a:t>
            </a:r>
            <a:r>
              <a:rPr lang="en-US" altLang="zh-TW" sz="2000" smtClean="0"/>
              <a:t>PAC</a:t>
            </a:r>
            <a:r>
              <a:rPr lang="zh-TW" altLang="zh-TW" sz="2000" smtClean="0"/>
              <a:t>表以記錄每個介面之表達、摘述與控制，以便於查詢與文件之關聯。圖</a:t>
            </a:r>
            <a:r>
              <a:rPr lang="en-US" altLang="zh-TW" sz="2000" smtClean="0"/>
              <a:t>12-13a</a:t>
            </a:r>
            <a:r>
              <a:rPr lang="zh-TW" altLang="zh-TW" sz="2000" smtClean="0"/>
              <a:t>之部分</a:t>
            </a:r>
            <a:r>
              <a:rPr lang="en-US" altLang="zh-TW" sz="2000" smtClean="0"/>
              <a:t>PAC</a:t>
            </a:r>
            <a:r>
              <a:rPr lang="zh-TW" altLang="zh-TW" sz="2000" smtClean="0"/>
              <a:t>表可表達如表</a:t>
            </a:r>
            <a:r>
              <a:rPr lang="en-US" altLang="zh-TW" sz="2000" smtClean="0"/>
              <a:t>12-10</a:t>
            </a:r>
            <a:r>
              <a:rPr lang="zh-TW" altLang="zh-TW" sz="2000" smtClean="0"/>
              <a:t>。</a:t>
            </a:r>
            <a:r>
              <a:rPr lang="zh-TW" altLang="en-US" sz="2000" smtClean="0"/>
              <a:t> </a:t>
            </a:r>
          </a:p>
          <a:p>
            <a:pPr eaLnBrk="1"/>
            <a:endParaRPr lang="zh-TW" altLang="en-US" sz="2000" smtClean="0"/>
          </a:p>
        </p:txBody>
      </p:sp>
      <p:sp>
        <p:nvSpPr>
          <p:cNvPr id="63491" name="Text Box 244"/>
          <p:cNvSpPr txBox="1">
            <a:spLocks noChangeArrowheads="1"/>
          </p:cNvSpPr>
          <p:nvPr/>
        </p:nvSpPr>
        <p:spPr bwMode="auto">
          <a:xfrm>
            <a:off x="1116013" y="4437063"/>
            <a:ext cx="548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>
              <a:spcBef>
                <a:spcPct val="0"/>
              </a:spcBef>
              <a:buFontTx/>
              <a:buNone/>
            </a:pPr>
            <a:r>
              <a:rPr lang="zh-TW" altLang="zh-TW" sz="1500">
                <a:solidFill>
                  <a:schemeClr val="tx1"/>
                </a:solidFill>
              </a:rPr>
              <a:t>表</a:t>
            </a:r>
            <a:r>
              <a:rPr lang="en-US" altLang="zh-TW" sz="1500">
                <a:solidFill>
                  <a:schemeClr val="tx1"/>
                </a:solidFill>
              </a:rPr>
              <a:t>12-10  PAC</a:t>
            </a:r>
            <a:r>
              <a:rPr lang="zh-TW" altLang="zh-TW" sz="1500">
                <a:solidFill>
                  <a:schemeClr val="tx1"/>
                </a:solidFill>
              </a:rPr>
              <a:t>表範例</a:t>
            </a:r>
            <a:endParaRPr lang="zh-TW" altLang="en-US" sz="1500">
              <a:solidFill>
                <a:schemeClr val="tx1"/>
              </a:solidFill>
              <a:latin typeface="新細明體" pitchFamily="18" charset="-120"/>
            </a:endParaRPr>
          </a:p>
        </p:txBody>
      </p:sp>
      <p:sp>
        <p:nvSpPr>
          <p:cNvPr id="63492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(c.5)</a:t>
            </a:r>
          </a:p>
        </p:txBody>
      </p:sp>
      <p:pic>
        <p:nvPicPr>
          <p:cNvPr id="63493" name="Picture 14" descr="z-vb157d-t12-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9" r="3233" b="5533"/>
          <a:stretch>
            <a:fillRect/>
          </a:stretch>
        </p:blipFill>
        <p:spPr>
          <a:xfrm>
            <a:off x="1692275" y="3789363"/>
            <a:ext cx="6480175" cy="2584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12-13a </a:t>
            </a:r>
            <a:r>
              <a:rPr lang="zh-TW" altLang="en-US" smtClean="0"/>
              <a:t>夢幻系統階層式介面架構</a:t>
            </a:r>
            <a:endParaRPr lang="en-US" altLang="zh-TW" smtClean="0"/>
          </a:p>
        </p:txBody>
      </p:sp>
      <p:pic>
        <p:nvPicPr>
          <p:cNvPr id="64515" name="Picture 10" descr="z-vb157d-f12-13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" t="11508" r="2158" b="5402"/>
          <a:stretch>
            <a:fillRect/>
          </a:stretch>
        </p:blipFill>
        <p:spPr>
          <a:xfrm>
            <a:off x="755650" y="1557338"/>
            <a:ext cx="7777163" cy="4664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12-13b </a:t>
            </a:r>
            <a:r>
              <a:rPr lang="zh-TW" altLang="en-US" smtClean="0"/>
              <a:t>夢幻系統網狀式介面架構</a:t>
            </a:r>
          </a:p>
        </p:txBody>
      </p:sp>
      <p:pic>
        <p:nvPicPr>
          <p:cNvPr id="65539" name="Picture 8" descr="z-vb157d-f12-13b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4" t="11340" r="2434" b="1208"/>
          <a:stretch>
            <a:fillRect/>
          </a:stretch>
        </p:blipFill>
        <p:spPr>
          <a:xfrm>
            <a:off x="971550" y="1557338"/>
            <a:ext cx="7416800" cy="4751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圖</a:t>
            </a:r>
            <a:r>
              <a:rPr lang="en-US" altLang="zh-TW" smtClean="0"/>
              <a:t>12-14 </a:t>
            </a:r>
            <a:r>
              <a:rPr lang="zh-TW" altLang="zh-TW" smtClean="0"/>
              <a:t>介面藍圖（介面</a:t>
            </a:r>
            <a:r>
              <a:rPr lang="en-US" altLang="zh-TW" smtClean="0"/>
              <a:t>1.2.1.2</a:t>
            </a:r>
            <a:r>
              <a:rPr lang="zh-TW" altLang="zh-TW" smtClean="0"/>
              <a:t>）</a:t>
            </a:r>
            <a:endParaRPr lang="zh-TW" altLang="en-US" smtClean="0"/>
          </a:p>
          <a:p>
            <a:pPr eaLnBrk="1"/>
            <a:endParaRPr lang="zh-TW" altLang="en-US" smtClean="0"/>
          </a:p>
        </p:txBody>
      </p:sp>
      <p:pic>
        <p:nvPicPr>
          <p:cNvPr id="67587" name="內容版面配置區 6" descr="未命名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166938"/>
            <a:ext cx="5241925" cy="39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(c.9)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(c.10)</a:t>
            </a:r>
            <a:endParaRPr lang="zh-TW" altLang="en-US" smtClean="0"/>
          </a:p>
        </p:txBody>
      </p:sp>
      <p:pic>
        <p:nvPicPr>
          <p:cNvPr id="68611" name="Picture 12" descr="z-vb157d-t12-1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" t="1387" r="3526" b="2156"/>
          <a:stretch>
            <a:fillRect/>
          </a:stretch>
        </p:blipFill>
        <p:spPr>
          <a:xfrm>
            <a:off x="1979613" y="1412875"/>
            <a:ext cx="5545137" cy="4968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(c.11)</a:t>
            </a:r>
            <a:endParaRPr lang="zh-TW" altLang="en-US" smtClean="0"/>
          </a:p>
        </p:txBody>
      </p:sp>
      <p:sp>
        <p:nvSpPr>
          <p:cNvPr id="69635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圖</a:t>
            </a:r>
            <a:r>
              <a:rPr lang="en-US" altLang="zh-TW" smtClean="0"/>
              <a:t>12-15  </a:t>
            </a:r>
            <a:r>
              <a:rPr lang="zh-TW" altLang="zh-TW" smtClean="0"/>
              <a:t>介面藍圖（介面</a:t>
            </a:r>
            <a:r>
              <a:rPr lang="en-US" altLang="zh-TW" smtClean="0"/>
              <a:t>1.2.1.2.1</a:t>
            </a:r>
            <a:r>
              <a:rPr lang="zh-TW" altLang="zh-TW" smtClean="0"/>
              <a:t>）</a:t>
            </a:r>
            <a:endParaRPr lang="zh-TW" altLang="en-US" smtClean="0"/>
          </a:p>
          <a:p>
            <a:pPr eaLnBrk="1"/>
            <a:endParaRPr lang="zh-TW" altLang="en-US" smtClean="0"/>
          </a:p>
        </p:txBody>
      </p:sp>
      <p:pic>
        <p:nvPicPr>
          <p:cNvPr id="69636" name="內容版面配置區 9" descr="未命名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916113"/>
            <a:ext cx="5470525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(c.12)</a:t>
            </a:r>
            <a:endParaRPr lang="zh-TW" altLang="en-US" smtClean="0"/>
          </a:p>
        </p:txBody>
      </p:sp>
      <p:pic>
        <p:nvPicPr>
          <p:cNvPr id="70659" name="Picture 14" descr="z-vb157d-t12-1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7" t="2451" r="2713" b="2679"/>
          <a:stretch>
            <a:fillRect/>
          </a:stretch>
        </p:blipFill>
        <p:spPr>
          <a:xfrm>
            <a:off x="2195513" y="1484313"/>
            <a:ext cx="5400675" cy="4868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(c.15)</a:t>
            </a:r>
            <a:endParaRPr lang="zh-TW" altLang="en-US" smtClean="0"/>
          </a:p>
        </p:txBody>
      </p:sp>
      <p:pic>
        <p:nvPicPr>
          <p:cNvPr id="73731" name="Picture 12" descr="z-vb157d-f12-1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0" t="3922" b="1208"/>
          <a:stretch>
            <a:fillRect/>
          </a:stretch>
        </p:blipFill>
        <p:spPr>
          <a:xfrm>
            <a:off x="1908175" y="1484313"/>
            <a:ext cx="5903913" cy="475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12.6 </a:t>
            </a:r>
            <a:r>
              <a:rPr lang="zh-TW" altLang="en-US" smtClean="0"/>
              <a:t>結構化使用者介面塑模案例</a:t>
            </a:r>
            <a:r>
              <a:rPr lang="en-US" altLang="zh-TW" smtClean="0"/>
              <a:t>(c.16)</a:t>
            </a:r>
            <a:endParaRPr lang="zh-TW" altLang="en-US" smtClean="0"/>
          </a:p>
        </p:txBody>
      </p:sp>
      <p:pic>
        <p:nvPicPr>
          <p:cNvPr id="74755" name="Picture 13" descr="z-vb157d-t12-1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1" r="2965"/>
          <a:stretch>
            <a:fillRect/>
          </a:stretch>
        </p:blipFill>
        <p:spPr>
          <a:xfrm>
            <a:off x="1619250" y="1484313"/>
            <a:ext cx="6264275" cy="4897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2004</TotalTime>
  <Words>992</Words>
  <Application>Microsoft Office PowerPoint</Application>
  <PresentationFormat>如螢幕大小 (4:3)</PresentationFormat>
  <Paragraphs>93</Paragraphs>
  <Slides>36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36</vt:i4>
      </vt:variant>
    </vt:vector>
  </HeadingPairs>
  <TitlesOfParts>
    <vt:vector size="38" baseType="lpstr">
      <vt:lpstr>ch01</vt:lpstr>
      <vt:lpstr>5_ch01 網際網路基礎</vt:lpstr>
      <vt:lpstr>第十二章 使用者介面塑模</vt:lpstr>
      <vt:lpstr>內容大綱</vt:lpstr>
      <vt:lpstr>學習目標</vt:lpstr>
      <vt:lpstr>12.1 導論(c.2)</vt:lpstr>
      <vt:lpstr>12.2.1 介面架構圖(c.2)</vt:lpstr>
      <vt:lpstr>12.2.1 介面架構圖(c.3)</vt:lpstr>
      <vt:lpstr>12.2.1 介面架構圖(c.4)</vt:lpstr>
      <vt:lpstr>12.2.2 介面元件(c.2)</vt:lpstr>
      <vt:lpstr>12.2.3 介面藍圖及介面詞彙(c.2)</vt:lpstr>
      <vt:lpstr>12.2.3 介面藍圖及介面詞彙(c.4)</vt:lpstr>
      <vt:lpstr>12.2.3 介面藍圖及介面詞彙(c.5)</vt:lpstr>
      <vt:lpstr>12.2.4 介面設計(c.3)</vt:lpstr>
      <vt:lpstr>12.3 使用者介面靜態結構塑模與案例(c.4)</vt:lpstr>
      <vt:lpstr>12.3 使用者介面靜態結構塑模與案例(c.5)</vt:lpstr>
      <vt:lpstr>12.3 使用者介面靜態結構塑模與案例(c.7)</vt:lpstr>
      <vt:lpstr>12.3 使用者介面靜態結構塑模與案例(c.8)</vt:lpstr>
      <vt:lpstr>12.4.1 行為狀態機圖之元件(c.2)</vt:lpstr>
      <vt:lpstr>12.4.1 行為狀態機圖之元件(c.3)</vt:lpstr>
      <vt:lpstr>12.4.1 行為狀態機圖之元件(c.4)</vt:lpstr>
      <vt:lpstr>12.4.1 行為狀態機圖之元件(c.5)</vt:lpstr>
      <vt:lpstr>12.4.1 行為狀態機圖之元件(c.7)</vt:lpstr>
      <vt:lpstr>12.4.1 行為狀態機圖之元件(c.8)</vt:lpstr>
      <vt:lpstr>行為狀態機圖範例</vt:lpstr>
      <vt:lpstr>12.5.1 使用個案之狀態塑模(c.4)</vt:lpstr>
      <vt:lpstr>12.5.2 系統狀態塑模案例(c.2)</vt:lpstr>
      <vt:lpstr>12.5.2 系統狀態塑模案例(c.3)</vt:lpstr>
      <vt:lpstr>12.6 結構化使用者介面塑模案例(c.2)</vt:lpstr>
      <vt:lpstr>12.6 結構化使用者介面塑模案例(c.5)</vt:lpstr>
      <vt:lpstr>圖12-13a 夢幻系統階層式介面架構</vt:lpstr>
      <vt:lpstr>圖12-13b 夢幻系統網狀式介面架構</vt:lpstr>
      <vt:lpstr>12.6 結構化使用者介面塑模案例(c.9)</vt:lpstr>
      <vt:lpstr>12.6 結構化使用者介面塑模案例(c.10)</vt:lpstr>
      <vt:lpstr>12.6 結構化使用者介面塑模案例(c.11)</vt:lpstr>
      <vt:lpstr>12.6 結構化使用者介面塑模案例(c.12)</vt:lpstr>
      <vt:lpstr>12.6 結構化使用者介面塑模案例(c.15)</vt:lpstr>
      <vt:lpstr>12.6 結構化使用者介面塑模案例(c.16)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第十五章 使用者介面塑模</dc:title>
  <dc:creator>handsome</dc:creator>
  <cp:lastModifiedBy>user</cp:lastModifiedBy>
  <cp:revision>113</cp:revision>
  <dcterms:created xsi:type="dcterms:W3CDTF">1999-12-24T04:05:17Z</dcterms:created>
  <dcterms:modified xsi:type="dcterms:W3CDTF">2020-04-20T02:56:12Z</dcterms:modified>
</cp:coreProperties>
</file>