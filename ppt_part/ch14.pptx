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  <p:sldMasterId id="2147483790" r:id="rId2"/>
  </p:sldMasterIdLst>
  <p:notesMasterIdLst>
    <p:notesMasterId r:id="rId40"/>
  </p:notesMasterIdLst>
  <p:handoutMasterIdLst>
    <p:handoutMasterId r:id="rId41"/>
  </p:handoutMasterIdLst>
  <p:sldIdLst>
    <p:sldId id="256" r:id="rId3"/>
    <p:sldId id="257" r:id="rId4"/>
    <p:sldId id="258" r:id="rId5"/>
    <p:sldId id="355" r:id="rId6"/>
    <p:sldId id="315" r:id="rId7"/>
    <p:sldId id="316" r:id="rId8"/>
    <p:sldId id="261" r:id="rId9"/>
    <p:sldId id="262" r:id="rId10"/>
    <p:sldId id="264" r:id="rId11"/>
    <p:sldId id="318" r:id="rId12"/>
    <p:sldId id="265" r:id="rId13"/>
    <p:sldId id="319" r:id="rId14"/>
    <p:sldId id="356" r:id="rId15"/>
    <p:sldId id="357" r:id="rId16"/>
    <p:sldId id="325" r:id="rId17"/>
    <p:sldId id="327" r:id="rId18"/>
    <p:sldId id="358" r:id="rId19"/>
    <p:sldId id="359" r:id="rId20"/>
    <p:sldId id="332" r:id="rId21"/>
    <p:sldId id="335" r:id="rId22"/>
    <p:sldId id="337" r:id="rId23"/>
    <p:sldId id="341" r:id="rId24"/>
    <p:sldId id="342" r:id="rId25"/>
    <p:sldId id="282" r:id="rId26"/>
    <p:sldId id="360" r:id="rId27"/>
    <p:sldId id="344" r:id="rId28"/>
    <p:sldId id="345" r:id="rId29"/>
    <p:sldId id="346" r:id="rId30"/>
    <p:sldId id="286" r:id="rId31"/>
    <p:sldId id="347" r:id="rId32"/>
    <p:sldId id="289" r:id="rId33"/>
    <p:sldId id="291" r:id="rId34"/>
    <p:sldId id="349" r:id="rId35"/>
    <p:sldId id="350" r:id="rId36"/>
    <p:sldId id="352" r:id="rId37"/>
    <p:sldId id="313" r:id="rId38"/>
    <p:sldId id="354" r:id="rId39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9.xml"/><Relationship Id="rId13" Type="http://schemas.openxmlformats.org/officeDocument/2006/relationships/slide" Target="slides/slide31.xml"/><Relationship Id="rId18" Type="http://schemas.openxmlformats.org/officeDocument/2006/relationships/slide" Target="slides/slide36.xml"/><Relationship Id="rId3" Type="http://schemas.openxmlformats.org/officeDocument/2006/relationships/slide" Target="slides/slide14.xml"/><Relationship Id="rId7" Type="http://schemas.openxmlformats.org/officeDocument/2006/relationships/slide" Target="slides/slide18.xml"/><Relationship Id="rId12" Type="http://schemas.openxmlformats.org/officeDocument/2006/relationships/slide" Target="slides/slide30.xml"/><Relationship Id="rId17" Type="http://schemas.openxmlformats.org/officeDocument/2006/relationships/slide" Target="slides/slide35.xml"/><Relationship Id="rId2" Type="http://schemas.openxmlformats.org/officeDocument/2006/relationships/slide" Target="slides/slide13.xml"/><Relationship Id="rId16" Type="http://schemas.openxmlformats.org/officeDocument/2006/relationships/slide" Target="slides/slide34.xml"/><Relationship Id="rId1" Type="http://schemas.openxmlformats.org/officeDocument/2006/relationships/slide" Target="slides/slide9.xml"/><Relationship Id="rId6" Type="http://schemas.openxmlformats.org/officeDocument/2006/relationships/slide" Target="slides/slide17.xml"/><Relationship Id="rId11" Type="http://schemas.openxmlformats.org/officeDocument/2006/relationships/slide" Target="slides/slide29.xml"/><Relationship Id="rId5" Type="http://schemas.openxmlformats.org/officeDocument/2006/relationships/slide" Target="slides/slide16.xml"/><Relationship Id="rId15" Type="http://schemas.openxmlformats.org/officeDocument/2006/relationships/slide" Target="slides/slide33.xml"/><Relationship Id="rId10" Type="http://schemas.openxmlformats.org/officeDocument/2006/relationships/slide" Target="slides/slide22.xml"/><Relationship Id="rId19" Type="http://schemas.openxmlformats.org/officeDocument/2006/relationships/slide" Target="slides/slide37.xml"/><Relationship Id="rId4" Type="http://schemas.openxmlformats.org/officeDocument/2006/relationships/slide" Target="slides/slide15.xml"/><Relationship Id="rId9" Type="http://schemas.openxmlformats.org/officeDocument/2006/relationships/slide" Target="slides/slide20.xml"/><Relationship Id="rId14" Type="http://schemas.openxmlformats.org/officeDocument/2006/relationships/slide" Target="slides/slide3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841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842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842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809A3B0-CDD0-4DBB-9E65-EA924D20B45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0591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8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AB88EEB-D30F-4AD8-A55E-22A8DB4575A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50294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  <p:sp>
        <p:nvSpPr>
          <p:cNvPr id="79876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fld id="{157AE038-78C2-496B-A2A9-8667371E8B7E}" type="slidenum">
              <a:rPr lang="en-US" altLang="zh-TW"/>
              <a:pPr/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  <p:sp>
        <p:nvSpPr>
          <p:cNvPr id="8090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fld id="{057D9A5A-F8FD-49BC-B6B0-D24301989B37}" type="slidenum">
              <a:rPr lang="en-US" altLang="zh-TW"/>
              <a:pPr/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資訊科技_b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548874566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315666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57704384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856120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132448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5789767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020974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00464821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91966222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3006945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2744879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19138" y="1438275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19138" y="3943350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500910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3847675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77404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37443332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650770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914587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419173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083343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12247249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2310673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089117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262535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1028" name="Picture 4" descr="資訊科技_bg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1030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36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</p:sldLayoutIdLst>
  <p:transition spd="med"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052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2054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algn="ctr" eaLnBrk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zh-TW" altLang="en-US" smtClean="0"/>
          </a:p>
        </p:txBody>
      </p:sp>
      <p:sp>
        <p:nvSpPr>
          <p:cNvPr id="4099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第十四章 系統元件與結構塑模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學習目標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14.1 </a:t>
            </a:r>
            <a:r>
              <a:rPr lang="zh-TW" altLang="en-US" smtClean="0"/>
              <a:t>導論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14.2 </a:t>
            </a:r>
            <a:r>
              <a:rPr lang="zh-TW" altLang="en-US" smtClean="0"/>
              <a:t>元件圖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14.3 </a:t>
            </a:r>
            <a:r>
              <a:rPr lang="zh-TW" altLang="en-US" smtClean="0"/>
              <a:t>部署圖 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14.4 </a:t>
            </a:r>
            <a:r>
              <a:rPr lang="zh-TW" altLang="en-US" smtClean="0"/>
              <a:t>結論</a:t>
            </a:r>
          </a:p>
          <a:p>
            <a:pPr eaLnBrk="1"/>
            <a:endParaRPr lang="en-US" altLang="zh-TW" smtClean="0"/>
          </a:p>
        </p:txBody>
      </p:sp>
      <p:sp>
        <p:nvSpPr>
          <p:cNvPr id="512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內容大綱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學習目標</a:t>
            </a:r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詳讀本章，你至少能瞭解：</a:t>
            </a:r>
          </a:p>
          <a:p>
            <a:pPr eaLnBrk="1"/>
            <a:r>
              <a:rPr lang="zh-TW" altLang="zh-TW" smtClean="0"/>
              <a:t>物件導向系統分析與設計中之系統元件與結構塑模工作。</a:t>
            </a:r>
          </a:p>
          <a:p>
            <a:pPr eaLnBrk="1"/>
            <a:r>
              <a:rPr lang="zh-TW" altLang="zh-TW" smtClean="0"/>
              <a:t>何謂元件圖、部署圖及其用途。</a:t>
            </a:r>
          </a:p>
          <a:p>
            <a:pPr eaLnBrk="1"/>
            <a:r>
              <a:rPr lang="zh-TW" altLang="zh-TW" smtClean="0"/>
              <a:t>如何建構元件圖、部署圖及其建構準則。</a:t>
            </a:r>
          </a:p>
          <a:p>
            <a:pPr eaLnBrk="1"/>
            <a:r>
              <a:rPr lang="zh-TW" altLang="zh-TW" smtClean="0"/>
              <a:t>如何以元件圖和部署圖進行系統元件與結構塑模。</a:t>
            </a:r>
            <a:r>
              <a:rPr lang="zh-TW" altLang="en-US" smtClean="0"/>
              <a:t> </a:t>
            </a:r>
          </a:p>
          <a:p>
            <a:pPr eaLnBrk="1"/>
            <a:endParaRPr lang="en-US" altLang="zh-TW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425" y="3324225"/>
            <a:ext cx="571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425" y="3324225"/>
            <a:ext cx="571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425" y="3324225"/>
            <a:ext cx="571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14-1 </a:t>
            </a:r>
            <a:r>
              <a:rPr lang="zh-TW" altLang="en-US" smtClean="0"/>
              <a:t>元件圖範例</a:t>
            </a:r>
          </a:p>
        </p:txBody>
      </p:sp>
      <p:pic>
        <p:nvPicPr>
          <p:cNvPr id="10246" name="Picture 11" descr="z-vb157d-f14-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3" t="16986" r="6252"/>
          <a:stretch>
            <a:fillRect/>
          </a:stretch>
        </p:blipFill>
        <p:spPr>
          <a:xfrm>
            <a:off x="1403350" y="1628775"/>
            <a:ext cx="6911975" cy="4535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endParaRPr lang="zh-TW" altLang="en-US" smtClean="0"/>
          </a:p>
        </p:txBody>
      </p:sp>
      <p:sp>
        <p:nvSpPr>
          <p:cNvPr id="11267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1046163" y="1438275"/>
            <a:ext cx="8097837" cy="4857750"/>
          </a:xfrm>
        </p:spPr>
        <p:txBody>
          <a:bodyPr lIns="91440" tIns="45720" rIns="91440" bIns="45720"/>
          <a:lstStyle/>
          <a:p>
            <a:pPr eaLnBrk="1" hangingPunct="1"/>
            <a:r>
              <a:rPr lang="zh-TW" altLang="en-US" sz="2000" smtClean="0">
                <a:ea typeface="微軟正黑體" pitchFamily="34" charset="-120"/>
              </a:rPr>
              <a:t>元件圖主要包括元件、介面、連接埠與關係。</a:t>
            </a:r>
          </a:p>
          <a:p>
            <a:pPr eaLnBrk="1" hangingPunct="1"/>
            <a:endParaRPr lang="zh-TW" altLang="en-US" sz="2000" smtClean="0">
              <a:ea typeface="微軟正黑體" pitchFamily="34" charset="-120"/>
            </a:endParaRPr>
          </a:p>
        </p:txBody>
      </p:sp>
      <p:pic>
        <p:nvPicPr>
          <p:cNvPr id="11268" name="圖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916113"/>
            <a:ext cx="7632700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14.2.1 </a:t>
            </a:r>
            <a:r>
              <a:rPr lang="zh-TW" altLang="en-US" smtClean="0"/>
              <a:t>元件圖之元件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內容版面配置區 8" descr="未命名 - 複製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1844675"/>
            <a:ext cx="7488237" cy="4286250"/>
          </a:xfrm>
        </p:spPr>
      </p:pic>
      <p:sp>
        <p:nvSpPr>
          <p:cNvPr id="122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14.2.1 </a:t>
            </a:r>
            <a:r>
              <a:rPr lang="zh-TW" altLang="en-US" smtClean="0"/>
              <a:t>元件圖之元件</a:t>
            </a:r>
            <a:r>
              <a:rPr lang="en-US" altLang="zh-TW" smtClean="0"/>
              <a:t>(c.2)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>
              <a:lnSpc>
                <a:spcPct val="100000"/>
              </a:lnSpc>
            </a:pPr>
            <a:r>
              <a:rPr lang="zh-TW" altLang="en-US" sz="2000" smtClean="0"/>
              <a:t>元件</a:t>
            </a:r>
          </a:p>
          <a:p>
            <a:pPr lvl="1" eaLnBrk="1">
              <a:lnSpc>
                <a:spcPct val="100000"/>
              </a:lnSpc>
            </a:pPr>
            <a:r>
              <a:rPr lang="zh-TW" altLang="en-US" sz="2000" smtClean="0"/>
              <a:t>元件 </a:t>
            </a:r>
            <a:r>
              <a:rPr lang="en-US" altLang="zh-TW" sz="2000" smtClean="0"/>
              <a:t>(Component) </a:t>
            </a:r>
            <a:r>
              <a:rPr lang="zh-TW" altLang="en-US" sz="2000" smtClean="0"/>
              <a:t>是系統的實體模組，也是系統中可被替換的部分，適合提供給一群介面做適當的實現</a:t>
            </a:r>
            <a:r>
              <a:rPr lang="en-US" altLang="zh-TW" sz="2000" smtClean="0"/>
              <a:t>(</a:t>
            </a:r>
            <a:r>
              <a:rPr lang="zh-TW" altLang="en-US" sz="2000" smtClean="0"/>
              <a:t>實作</a:t>
            </a:r>
            <a:r>
              <a:rPr lang="en-US" altLang="zh-TW" sz="2000" smtClean="0"/>
              <a:t>)</a:t>
            </a:r>
            <a:r>
              <a:rPr lang="zh-TW" altLang="en-US" sz="2000" smtClean="0"/>
              <a:t>。  </a:t>
            </a:r>
            <a:endParaRPr lang="en-US" altLang="zh-TW" sz="2000" smtClean="0"/>
          </a:p>
          <a:p>
            <a:pPr lvl="1" eaLnBrk="1">
              <a:lnSpc>
                <a:spcPct val="100000"/>
              </a:lnSpc>
            </a:pPr>
            <a:r>
              <a:rPr lang="en-US" altLang="zh-TW" sz="2000" smtClean="0"/>
              <a:t>UML 1.x</a:t>
            </a:r>
            <a:r>
              <a:rPr lang="zh-TW" altLang="en-US" sz="2000" smtClean="0"/>
              <a:t>版之元件是以一個矩形貼上兩個小標籤</a:t>
            </a:r>
            <a:r>
              <a:rPr lang="en-US" altLang="zh-TW" sz="2000" smtClean="0"/>
              <a:t>(</a:t>
            </a:r>
            <a:r>
              <a:rPr lang="zh-TW" altLang="en-US" sz="2000" smtClean="0"/>
              <a:t>矩形</a:t>
            </a:r>
            <a:r>
              <a:rPr lang="en-US" altLang="zh-TW" sz="2000" smtClean="0"/>
              <a:t>)</a:t>
            </a:r>
            <a:r>
              <a:rPr lang="zh-TW" altLang="en-US" sz="2000" smtClean="0"/>
              <a:t>表示，且一元件有唯一的名稱置於矩形內部，也可在名稱上方加上該元件之</a:t>
            </a:r>
            <a:r>
              <a:rPr lang="en-US" altLang="zh-TW" sz="2000" smtClean="0"/>
              <a:t>Stereotype</a:t>
            </a:r>
            <a:r>
              <a:rPr lang="zh-TW" altLang="en-US" sz="2000" smtClean="0"/>
              <a:t>。</a:t>
            </a:r>
            <a:endParaRPr lang="en-US" altLang="zh-TW" sz="2000" smtClean="0"/>
          </a:p>
          <a:p>
            <a:pPr lvl="1" eaLnBrk="1">
              <a:lnSpc>
                <a:spcPct val="100000"/>
              </a:lnSpc>
            </a:pPr>
            <a:r>
              <a:rPr lang="en-US" altLang="zh-TW" sz="2000" smtClean="0"/>
              <a:t>UML 2.x</a:t>
            </a:r>
            <a:r>
              <a:rPr lang="zh-TW" altLang="en-US" sz="2000" smtClean="0"/>
              <a:t>版之元件是在矩形內部之右上角標示</a:t>
            </a:r>
            <a:r>
              <a:rPr lang="en-US" altLang="zh-TW" sz="2000" smtClean="0"/>
              <a:t>UML 1.x</a:t>
            </a:r>
            <a:r>
              <a:rPr lang="zh-TW" altLang="en-US" sz="2000" smtClean="0"/>
              <a:t>版元件之縮小圖。</a:t>
            </a:r>
          </a:p>
        </p:txBody>
      </p:sp>
      <p:pic>
        <p:nvPicPr>
          <p:cNvPr id="13315" name="Picture 15" descr="z-vb157d-f14-2a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" b="5533"/>
          <a:stretch>
            <a:fillRect/>
          </a:stretch>
        </p:blipFill>
        <p:spPr>
          <a:xfrm>
            <a:off x="1908175" y="4221163"/>
            <a:ext cx="5759450" cy="2081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14.2.1 </a:t>
            </a:r>
            <a:r>
              <a:rPr lang="zh-TW" altLang="en-US" smtClean="0"/>
              <a:t>元件圖之元件</a:t>
            </a:r>
            <a:r>
              <a:rPr lang="en-US" altLang="zh-TW" smtClean="0"/>
              <a:t>(c.3)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14.2.1 </a:t>
            </a:r>
            <a:r>
              <a:rPr lang="zh-TW" altLang="en-US" smtClean="0"/>
              <a:t>元件圖之元件</a:t>
            </a:r>
            <a:r>
              <a:rPr lang="en-US" altLang="zh-TW" smtClean="0"/>
              <a:t>(c.4)</a:t>
            </a:r>
            <a:endParaRPr lang="zh-TW" altLang="en-US" smtClean="0"/>
          </a:p>
        </p:txBody>
      </p:sp>
      <p:sp>
        <p:nvSpPr>
          <p:cNvPr id="14339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 hangingPunct="1"/>
            <a:r>
              <a:rPr lang="zh-TW" altLang="en-US" sz="2000" smtClean="0">
                <a:ea typeface="微軟正黑體" pitchFamily="34" charset="-120"/>
              </a:rPr>
              <a:t>元件之名稱有單純的名稱或延伸型的路徑名稱</a:t>
            </a:r>
          </a:p>
          <a:p>
            <a:pPr lvl="1" eaLnBrk="1" hangingPunct="1"/>
            <a:r>
              <a:rPr lang="zh-TW" altLang="en-US" sz="2000" smtClean="0">
                <a:ea typeface="微軟正黑體" pitchFamily="34" charset="-120"/>
              </a:rPr>
              <a:t>必要時也可以加上一些標籤值或用額外的區隔來表達其詳細資料，顯示元件提供或要求的介面。</a:t>
            </a:r>
          </a:p>
          <a:p>
            <a:pPr eaLnBrk="1"/>
            <a:endParaRPr lang="zh-TW" altLang="en-US" sz="2000" smtClean="0"/>
          </a:p>
        </p:txBody>
      </p:sp>
      <p:pic>
        <p:nvPicPr>
          <p:cNvPr id="14340" name="Picture 11" descr="z-vb157d-f14-2b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8538" y="2636838"/>
            <a:ext cx="4487862" cy="37385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/>
            <a:r>
              <a:rPr lang="zh-TW" altLang="en-US" sz="2000" smtClean="0"/>
              <a:t>圖</a:t>
            </a:r>
            <a:r>
              <a:rPr lang="en-US" altLang="zh-TW" sz="2000" smtClean="0"/>
              <a:t>14-3a </a:t>
            </a:r>
            <a:r>
              <a:rPr lang="zh-TW" altLang="en-US" sz="2000" smtClean="0"/>
              <a:t>有</a:t>
            </a:r>
            <a:r>
              <a:rPr lang="en-US" altLang="zh-TW" sz="2000" smtClean="0"/>
              <a:t>purchase.java </a:t>
            </a:r>
            <a:r>
              <a:rPr lang="zh-TW" altLang="en-US" sz="2000" smtClean="0"/>
              <a:t>與</a:t>
            </a:r>
            <a:r>
              <a:rPr lang="en-US" altLang="zh-TW" sz="2000" smtClean="0"/>
              <a:t>products.java </a:t>
            </a:r>
            <a:r>
              <a:rPr lang="zh-TW" altLang="en-US" sz="2000" smtClean="0"/>
              <a:t>兩個元件。</a:t>
            </a:r>
            <a:r>
              <a:rPr lang="en-US" altLang="zh-TW" sz="2000" smtClean="0"/>
              <a:t>purchase.java </a:t>
            </a:r>
            <a:r>
              <a:rPr lang="zh-TW" altLang="en-US" sz="2000" smtClean="0"/>
              <a:t>程式元件使用一個</a:t>
            </a:r>
            <a:r>
              <a:rPr lang="en-US" altLang="zh-TW" sz="2000" smtClean="0"/>
              <a:t>PInterface </a:t>
            </a:r>
            <a:r>
              <a:rPr lang="zh-TW" altLang="en-US" sz="2000" smtClean="0"/>
              <a:t>介面來實作</a:t>
            </a:r>
            <a:r>
              <a:rPr lang="en-US" altLang="zh-TW" sz="2000" smtClean="0"/>
              <a:t>products.java </a:t>
            </a:r>
            <a:r>
              <a:rPr lang="zh-TW" altLang="en-US" sz="2000" smtClean="0"/>
              <a:t>程式元件。</a:t>
            </a:r>
            <a:endParaRPr lang="en-US" altLang="zh-TW" sz="2000" smtClean="0"/>
          </a:p>
          <a:p>
            <a:pPr lvl="1" eaLnBrk="1"/>
            <a:r>
              <a:rPr lang="zh-TW" altLang="en-US" sz="2000" smtClean="0"/>
              <a:t>上層是以簡單型式表示介面，下層則以延伸型式表示之。</a:t>
            </a:r>
          </a:p>
          <a:p>
            <a:pPr eaLnBrk="1"/>
            <a:endParaRPr lang="zh-TW" altLang="en-US" sz="2000" smtClean="0"/>
          </a:p>
        </p:txBody>
      </p:sp>
      <p:pic>
        <p:nvPicPr>
          <p:cNvPr id="17411" name="Picture 13" descr="z-vb157d-f14-3a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4" r="6425"/>
          <a:stretch>
            <a:fillRect/>
          </a:stretch>
        </p:blipFill>
        <p:spPr>
          <a:xfrm>
            <a:off x="1835150" y="2708275"/>
            <a:ext cx="6049963" cy="3762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14.2.1 </a:t>
            </a:r>
            <a:r>
              <a:rPr lang="zh-TW" altLang="en-US" smtClean="0"/>
              <a:t>元件圖之元件</a:t>
            </a:r>
            <a:r>
              <a:rPr lang="en-US" altLang="zh-TW" smtClean="0"/>
              <a:t>(c.7)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/>
            <a:r>
              <a:rPr lang="zh-TW" altLang="en-US" sz="2000" smtClean="0"/>
              <a:t>左圖之元件左端有一個完整圓周的介面符號，代表元件「提供」的介面，而右端只有半個圓周的介面符號代表元件「要求」的介面，介面的名稱應標示在介面符號的附近。</a:t>
            </a:r>
            <a:endParaRPr lang="en-US" altLang="zh-TW" sz="2000" smtClean="0"/>
          </a:p>
          <a:p>
            <a:pPr lvl="1" eaLnBrk="1"/>
            <a:r>
              <a:rPr lang="zh-TW" altLang="en-US" sz="2000" smtClean="0"/>
              <a:t>左右兩圖之表達方式不同，但都提供了相同的資訊，即</a:t>
            </a:r>
            <a:r>
              <a:rPr lang="en-US" altLang="zh-TW" sz="2000" smtClean="0"/>
              <a:t>broker.java </a:t>
            </a:r>
            <a:r>
              <a:rPr lang="zh-TW" altLang="en-US" sz="2000" smtClean="0"/>
              <a:t>元件提供</a:t>
            </a:r>
            <a:r>
              <a:rPr lang="en-US" altLang="zh-TW" sz="2000" smtClean="0"/>
              <a:t>customer</a:t>
            </a:r>
            <a:r>
              <a:rPr lang="zh-TW" altLang="en-US" sz="2000" smtClean="0"/>
              <a:t>介面，並要求</a:t>
            </a:r>
            <a:r>
              <a:rPr lang="en-US" altLang="zh-TW" sz="2000" smtClean="0"/>
              <a:t>product </a:t>
            </a:r>
            <a:r>
              <a:rPr lang="zh-TW" altLang="en-US" sz="2000" smtClean="0"/>
              <a:t>介面。</a:t>
            </a:r>
          </a:p>
          <a:p>
            <a:pPr eaLnBrk="1"/>
            <a:endParaRPr lang="zh-TW" altLang="en-US" sz="2000" smtClean="0"/>
          </a:p>
        </p:txBody>
      </p:sp>
      <p:sp>
        <p:nvSpPr>
          <p:cNvPr id="18435" name="Rectangle 1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lvl="1" eaLnBrk="1"/>
            <a:endParaRPr lang="zh-TW" altLang="en-US" sz="2000" smtClean="0"/>
          </a:p>
        </p:txBody>
      </p:sp>
      <p:sp>
        <p:nvSpPr>
          <p:cNvPr id="18436" name="Text Box 9"/>
          <p:cNvSpPr txBox="1">
            <a:spLocks noChangeArrowheads="1"/>
          </p:cNvSpPr>
          <p:nvPr/>
        </p:nvSpPr>
        <p:spPr bwMode="auto">
          <a:xfrm>
            <a:off x="1714500" y="6072188"/>
            <a:ext cx="300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zh-TW" sz="1800">
                <a:solidFill>
                  <a:schemeClr val="tx1"/>
                </a:solidFill>
              </a:rPr>
              <a:t>圖</a:t>
            </a:r>
            <a:r>
              <a:rPr lang="en-US" altLang="zh-TW" sz="1800">
                <a:solidFill>
                  <a:schemeClr val="tx1"/>
                </a:solidFill>
              </a:rPr>
              <a:t>14-3b </a:t>
            </a:r>
            <a:r>
              <a:rPr lang="zh-TW" altLang="zh-TW" sz="1800">
                <a:solidFill>
                  <a:schemeClr val="tx1"/>
                </a:solidFill>
              </a:rPr>
              <a:t>介面範例二</a:t>
            </a:r>
            <a:endParaRPr lang="zh-TW" altLang="en-US" sz="1800">
              <a:solidFill>
                <a:schemeClr val="tx1"/>
              </a:solidFill>
            </a:endParaRPr>
          </a:p>
        </p:txBody>
      </p:sp>
      <p:grpSp>
        <p:nvGrpSpPr>
          <p:cNvPr id="18437" name="Group 15"/>
          <p:cNvGrpSpPr>
            <a:grpSpLocks/>
          </p:cNvGrpSpPr>
          <p:nvPr/>
        </p:nvGrpSpPr>
        <p:grpSpPr bwMode="auto">
          <a:xfrm>
            <a:off x="857250" y="4149725"/>
            <a:ext cx="7300913" cy="1933575"/>
            <a:chOff x="540" y="2614"/>
            <a:chExt cx="4599" cy="1218"/>
          </a:xfrm>
        </p:grpSpPr>
        <p:pic>
          <p:nvPicPr>
            <p:cNvPr id="18439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" y="2790"/>
              <a:ext cx="3072" cy="1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0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9" y="2614"/>
              <a:ext cx="1170" cy="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438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14.2.1 </a:t>
            </a:r>
            <a:r>
              <a:rPr lang="zh-TW" altLang="en-US" smtClean="0"/>
              <a:t>元件圖之元件</a:t>
            </a:r>
            <a:r>
              <a:rPr lang="en-US" altLang="zh-TW" smtClean="0"/>
              <a:t>(c.8)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關係</a:t>
            </a:r>
          </a:p>
          <a:p>
            <a:pPr lvl="1" eaLnBrk="1"/>
            <a:r>
              <a:rPr lang="zh-TW" altLang="zh-TW" smtClean="0"/>
              <a:t>關係</a:t>
            </a:r>
            <a:r>
              <a:rPr lang="en-US" altLang="zh-TW" smtClean="0"/>
              <a:t> (Relationship) </a:t>
            </a:r>
            <a:r>
              <a:rPr lang="zh-TW" altLang="en-US" smtClean="0"/>
              <a:t>是描述元件與元件，或元件與介面間的結合關係，關係之意義與表達符號均與類別圖相同。</a:t>
            </a:r>
          </a:p>
          <a:p>
            <a:pPr eaLnBrk="1"/>
            <a:endParaRPr lang="zh-TW" altLang="en-US" smtClean="0"/>
          </a:p>
        </p:txBody>
      </p:sp>
      <p:pic>
        <p:nvPicPr>
          <p:cNvPr id="1945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39975" y="3284538"/>
            <a:ext cx="5095875" cy="25542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14.2.1 </a:t>
            </a:r>
            <a:r>
              <a:rPr lang="zh-TW" altLang="en-US" smtClean="0"/>
              <a:t>元件圖之元件</a:t>
            </a:r>
            <a:r>
              <a:rPr lang="en-US" altLang="zh-TW" smtClean="0"/>
              <a:t>(c.9)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/>
            <a:r>
              <a:rPr lang="zh-TW" altLang="zh-TW" sz="2000" smtClean="0"/>
              <a:t>元件間提供或要求之介面，也可由相依關係取代</a:t>
            </a:r>
            <a:r>
              <a:rPr lang="zh-TW" altLang="en-US" sz="2000" smtClean="0"/>
              <a:t>。</a:t>
            </a:r>
            <a:endParaRPr lang="en-US" altLang="zh-TW" sz="2000" smtClean="0"/>
          </a:p>
          <a:p>
            <a:pPr lvl="1" eaLnBrk="1"/>
            <a:r>
              <a:rPr lang="zh-TW" altLang="zh-TW" sz="2000" smtClean="0"/>
              <a:t>圖</a:t>
            </a:r>
            <a:r>
              <a:rPr lang="en-US" altLang="zh-TW" sz="2000" smtClean="0"/>
              <a:t>14-4</a:t>
            </a:r>
            <a:r>
              <a:rPr lang="zh-TW" altLang="zh-TW" sz="2000" smtClean="0"/>
              <a:t>左邊之元件圖為元件</a:t>
            </a:r>
            <a:r>
              <a:rPr lang="en-US" altLang="zh-TW" sz="2000" smtClean="0"/>
              <a:t>Product </a:t>
            </a:r>
            <a:r>
              <a:rPr lang="zh-TW" altLang="zh-TW" sz="2000" smtClean="0"/>
              <a:t>提供一介面</a:t>
            </a:r>
            <a:r>
              <a:rPr lang="en-US" altLang="zh-TW" sz="2000" smtClean="0"/>
              <a:t>OrderableItem</a:t>
            </a:r>
            <a:r>
              <a:rPr lang="zh-TW" altLang="zh-TW" sz="2000" smtClean="0"/>
              <a:t>，即元件</a:t>
            </a:r>
            <a:r>
              <a:rPr lang="en-US" altLang="zh-TW" sz="2000" smtClean="0"/>
              <a:t>Order </a:t>
            </a:r>
            <a:r>
              <a:rPr lang="zh-TW" altLang="zh-TW" sz="2000" smtClean="0"/>
              <a:t>所要求的介面。</a:t>
            </a:r>
            <a:endParaRPr lang="en-US" altLang="zh-TW" sz="2000" smtClean="0"/>
          </a:p>
          <a:p>
            <a:pPr lvl="1" eaLnBrk="1"/>
            <a:r>
              <a:rPr lang="zh-TW" altLang="zh-TW" sz="2000" smtClean="0"/>
              <a:t>此類關係可簡化如右邊之元件圖，以相依關係表達元件</a:t>
            </a:r>
            <a:r>
              <a:rPr lang="en-US" altLang="zh-TW" sz="2000" smtClean="0"/>
              <a:t>Order </a:t>
            </a:r>
            <a:r>
              <a:rPr lang="zh-TW" altLang="zh-TW" sz="2000" smtClean="0"/>
              <a:t>會使用到元件</a:t>
            </a:r>
            <a:r>
              <a:rPr lang="en-US" altLang="zh-TW" sz="2000" smtClean="0"/>
              <a:t>Product </a:t>
            </a:r>
            <a:r>
              <a:rPr lang="zh-TW" altLang="zh-TW" sz="2000" smtClean="0"/>
              <a:t>所提供之服務。</a:t>
            </a:r>
            <a:endParaRPr lang="zh-TW" altLang="en-US" sz="2000" smtClean="0"/>
          </a:p>
          <a:p>
            <a:pPr eaLnBrk="1"/>
            <a:endParaRPr lang="zh-TW" altLang="en-US" sz="2000" smtClean="0"/>
          </a:p>
        </p:txBody>
      </p:sp>
      <p:pic>
        <p:nvPicPr>
          <p:cNvPr id="20483" name="Picture 13" descr="z-vb157d-f14-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95" b="9515"/>
          <a:stretch>
            <a:fillRect/>
          </a:stretch>
        </p:blipFill>
        <p:spPr>
          <a:xfrm>
            <a:off x="2051050" y="3429000"/>
            <a:ext cx="5327650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14.2.1 </a:t>
            </a:r>
            <a:r>
              <a:rPr lang="zh-TW" altLang="en-US" smtClean="0"/>
              <a:t>元件圖之元件</a:t>
            </a:r>
            <a:r>
              <a:rPr lang="en-US" altLang="zh-TW" smtClean="0"/>
              <a:t>(c.10)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z="2800" smtClean="0"/>
              <a:t>圖</a:t>
            </a:r>
            <a:r>
              <a:rPr lang="en-US" altLang="zh-TW" sz="2800" smtClean="0"/>
              <a:t>14-5a </a:t>
            </a:r>
            <a:r>
              <a:rPr lang="zh-TW" altLang="en-US" sz="2800" smtClean="0"/>
              <a:t>以元件圖塑模執行檔與函式庫之範例</a:t>
            </a:r>
          </a:p>
        </p:txBody>
      </p:sp>
      <p:sp>
        <p:nvSpPr>
          <p:cNvPr id="25603" name="內容版面配置區 2"/>
          <p:cNvSpPr txBox="1">
            <a:spLocks/>
          </p:cNvSpPr>
          <p:nvPr/>
        </p:nvSpPr>
        <p:spPr bwMode="auto">
          <a:xfrm>
            <a:off x="-22225" y="1270000"/>
            <a:ext cx="4429125" cy="530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70000"/>
              <a:buFont typeface="Wingdings 2" pitchFamily="18" charset="2"/>
              <a:buChar char=""/>
            </a:pPr>
            <a:endParaRPr kumimoji="0" lang="zh-TW" altLang="en-US" sz="2400">
              <a:solidFill>
                <a:schemeClr val="tx2"/>
              </a:solidFill>
              <a:latin typeface="Franklin Gothic Book" pitchFamily="34" charset="0"/>
              <a:ea typeface="微軟正黑體" pitchFamily="34" charset="-120"/>
            </a:endParaRPr>
          </a:p>
        </p:txBody>
      </p:sp>
      <p:sp>
        <p:nvSpPr>
          <p:cNvPr id="25604" name="Text Box 9"/>
          <p:cNvSpPr txBox="1">
            <a:spLocks noChangeArrowheads="1"/>
          </p:cNvSpPr>
          <p:nvPr/>
        </p:nvSpPr>
        <p:spPr bwMode="auto">
          <a:xfrm>
            <a:off x="5143500" y="5170488"/>
            <a:ext cx="33575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zh-TW" sz="1800">
                <a:solidFill>
                  <a:schemeClr val="tx1"/>
                </a:solidFill>
              </a:rPr>
              <a:t>圖</a:t>
            </a:r>
            <a:r>
              <a:rPr lang="en-US" altLang="zh-TW" sz="1800">
                <a:solidFill>
                  <a:schemeClr val="tx1"/>
                </a:solidFill>
              </a:rPr>
              <a:t>14-5a </a:t>
            </a:r>
            <a:r>
              <a:rPr lang="zh-TW" altLang="zh-TW" sz="1800">
                <a:solidFill>
                  <a:schemeClr val="tx1"/>
                </a:solidFill>
              </a:rPr>
              <a:t>以元件圖塑模執行檔與函式庫之範例</a:t>
            </a:r>
            <a:endParaRPr lang="zh-TW" altLang="en-US" sz="1800">
              <a:solidFill>
                <a:schemeClr val="tx1"/>
              </a:solidFill>
            </a:endParaRPr>
          </a:p>
        </p:txBody>
      </p:sp>
      <p:pic>
        <p:nvPicPr>
          <p:cNvPr id="25605" name="Picture 11" descr="z-vb157d-f14-5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5" t="16174" r="4828" b="10020"/>
          <a:stretch>
            <a:fillRect/>
          </a:stretch>
        </p:blipFill>
        <p:spPr>
          <a:xfrm>
            <a:off x="1692275" y="1700213"/>
            <a:ext cx="6335713" cy="4221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z="2800" smtClean="0"/>
              <a:t>圖</a:t>
            </a:r>
            <a:r>
              <a:rPr lang="en-US" altLang="zh-TW" sz="2800" smtClean="0"/>
              <a:t>14-5b </a:t>
            </a:r>
            <a:r>
              <a:rPr lang="zh-TW" altLang="en-US" sz="2800" smtClean="0"/>
              <a:t>以元件圖塑模資料表、檔案</a:t>
            </a:r>
            <a:br>
              <a:rPr lang="zh-TW" altLang="en-US" sz="2800" smtClean="0"/>
            </a:br>
            <a:r>
              <a:rPr lang="zh-TW" altLang="en-US" sz="2800" smtClean="0"/>
              <a:t>與文件之範例</a:t>
            </a:r>
          </a:p>
        </p:txBody>
      </p:sp>
      <p:sp>
        <p:nvSpPr>
          <p:cNvPr id="28675" name="Text Box 9"/>
          <p:cNvSpPr txBox="1">
            <a:spLocks noChangeArrowheads="1"/>
          </p:cNvSpPr>
          <p:nvPr/>
        </p:nvSpPr>
        <p:spPr bwMode="auto">
          <a:xfrm>
            <a:off x="4714875" y="5773738"/>
            <a:ext cx="4000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ts val="1200"/>
              </a:lnSpc>
              <a:spcBef>
                <a:spcPct val="50000"/>
              </a:spcBef>
              <a:buFontTx/>
              <a:buNone/>
            </a:pPr>
            <a:r>
              <a:rPr lang="zh-TW" altLang="zh-TW" sz="1800">
                <a:solidFill>
                  <a:schemeClr val="tx1"/>
                </a:solidFill>
              </a:rPr>
              <a:t>圖</a:t>
            </a:r>
            <a:r>
              <a:rPr lang="en-US" altLang="zh-TW" sz="1800">
                <a:solidFill>
                  <a:schemeClr val="tx1"/>
                </a:solidFill>
              </a:rPr>
              <a:t>14-5b </a:t>
            </a:r>
            <a:r>
              <a:rPr lang="zh-TW" altLang="zh-TW" sz="1800">
                <a:solidFill>
                  <a:schemeClr val="tx1"/>
                </a:solidFill>
              </a:rPr>
              <a:t>以元件圖塑模</a:t>
            </a:r>
            <a:endParaRPr lang="en-US" altLang="zh-TW" sz="1800">
              <a:solidFill>
                <a:schemeClr val="tx1"/>
              </a:solidFill>
            </a:endParaRPr>
          </a:p>
          <a:p>
            <a:pPr algn="ctr" eaLnBrk="1" hangingPunct="1">
              <a:lnSpc>
                <a:spcPts val="1200"/>
              </a:lnSpc>
              <a:spcBef>
                <a:spcPct val="50000"/>
              </a:spcBef>
              <a:buFontTx/>
              <a:buNone/>
            </a:pPr>
            <a:r>
              <a:rPr lang="zh-TW" altLang="zh-TW" sz="1800">
                <a:solidFill>
                  <a:schemeClr val="tx1"/>
                </a:solidFill>
              </a:rPr>
              <a:t>資料表、檔案與文件之範例</a:t>
            </a:r>
            <a:endParaRPr lang="zh-TW" altLang="en-US" sz="1800">
              <a:solidFill>
                <a:schemeClr val="tx1"/>
              </a:solidFill>
            </a:endParaRPr>
          </a:p>
        </p:txBody>
      </p:sp>
      <p:pic>
        <p:nvPicPr>
          <p:cNvPr id="28676" name="Picture 11" descr="z-vb157d-f14-5b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1" t="9224" r="5418" b="6470"/>
          <a:stretch>
            <a:fillRect/>
          </a:stretch>
        </p:blipFill>
        <p:spPr>
          <a:xfrm>
            <a:off x="2195513" y="1557338"/>
            <a:ext cx="5184775" cy="4610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14-5c </a:t>
            </a:r>
            <a:r>
              <a:rPr lang="zh-TW" altLang="en-US" smtClean="0"/>
              <a:t>表示</a:t>
            </a:r>
            <a:r>
              <a:rPr lang="en-US" altLang="zh-TW" smtClean="0"/>
              <a:t>UseButtom.exe </a:t>
            </a:r>
            <a:r>
              <a:rPr lang="zh-TW" altLang="en-US" smtClean="0"/>
              <a:t>執行元件提供</a:t>
            </a:r>
            <a:r>
              <a:rPr lang="en-US" altLang="zh-TW" smtClean="0"/>
              <a:t>IApplet</a:t>
            </a:r>
            <a:r>
              <a:rPr lang="zh-TW" altLang="en-US" smtClean="0"/>
              <a:t>、</a:t>
            </a:r>
            <a:r>
              <a:rPr lang="en-US" altLang="zh-TW" smtClean="0"/>
              <a:t>IColor</a:t>
            </a:r>
            <a:r>
              <a:rPr lang="zh-TW" altLang="en-US" smtClean="0"/>
              <a:t>、</a:t>
            </a:r>
            <a:r>
              <a:rPr lang="en-US" altLang="zh-TW" smtClean="0"/>
              <a:t>IButton</a:t>
            </a:r>
            <a:r>
              <a:rPr lang="zh-TW" altLang="en-US" smtClean="0"/>
              <a:t>、</a:t>
            </a:r>
            <a:r>
              <a:rPr lang="en-US" altLang="zh-TW" smtClean="0"/>
              <a:t>IEvent </a:t>
            </a:r>
            <a:r>
              <a:rPr lang="zh-TW" altLang="en-US" smtClean="0"/>
              <a:t>四個</a:t>
            </a:r>
            <a:r>
              <a:rPr lang="en-US" altLang="zh-TW" smtClean="0"/>
              <a:t>API </a:t>
            </a:r>
            <a:r>
              <a:rPr lang="zh-TW" altLang="en-US" smtClean="0"/>
              <a:t>供其他元件使用。</a:t>
            </a:r>
          </a:p>
          <a:p>
            <a:pPr eaLnBrk="1"/>
            <a:endParaRPr lang="zh-TW" altLang="en-US" smtClean="0"/>
          </a:p>
        </p:txBody>
      </p:sp>
      <p:sp>
        <p:nvSpPr>
          <p:cNvPr id="3072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14.2.2 </a:t>
            </a:r>
            <a:r>
              <a:rPr lang="zh-TW" altLang="en-US" smtClean="0"/>
              <a:t>元件圖之塑模原則</a:t>
            </a:r>
            <a:r>
              <a:rPr lang="en-US" altLang="zh-TW" smtClean="0"/>
              <a:t>(c.8)</a:t>
            </a:r>
            <a:endParaRPr lang="zh-TW" altLang="en-US" smtClean="0"/>
          </a:p>
        </p:txBody>
      </p:sp>
      <p:pic>
        <p:nvPicPr>
          <p:cNvPr id="30724" name="Picture 16" descr="z-vb157d-f14-5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913" y="2565400"/>
            <a:ext cx="6977062" cy="3490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14-5d </a:t>
            </a:r>
            <a:r>
              <a:rPr lang="zh-TW" altLang="en-US" smtClean="0"/>
              <a:t>描述四個以</a:t>
            </a:r>
            <a:r>
              <a:rPr lang="en-US" altLang="zh-TW" smtClean="0"/>
              <a:t>ASP </a:t>
            </a:r>
            <a:r>
              <a:rPr lang="zh-TW" altLang="en-US" smtClean="0"/>
              <a:t>撰寫的程式元件</a:t>
            </a:r>
            <a:r>
              <a:rPr lang="en-US" altLang="zh-TW" smtClean="0"/>
              <a:t>product.asp</a:t>
            </a:r>
            <a:r>
              <a:rPr lang="zh-TW" altLang="en-US" smtClean="0"/>
              <a:t>、</a:t>
            </a:r>
            <a:r>
              <a:rPr lang="en-US" altLang="zh-TW" smtClean="0"/>
              <a:t>purchase.asp</a:t>
            </a:r>
            <a:r>
              <a:rPr lang="zh-TW" altLang="en-US" smtClean="0"/>
              <a:t>、</a:t>
            </a:r>
            <a:r>
              <a:rPr lang="en-US" altLang="zh-TW" smtClean="0"/>
              <a:t>orders.asp </a:t>
            </a:r>
            <a:r>
              <a:rPr lang="zh-TW" altLang="en-US" smtClean="0"/>
              <a:t>及</a:t>
            </a:r>
            <a:r>
              <a:rPr lang="en-US" altLang="zh-TW" smtClean="0"/>
              <a:t>confirm.asp</a:t>
            </a:r>
            <a:r>
              <a:rPr lang="zh-TW" altLang="en-US" smtClean="0"/>
              <a:t>與</a:t>
            </a:r>
            <a:r>
              <a:rPr lang="en-US" altLang="zh-TW" smtClean="0"/>
              <a:t>fobjvbs.inc </a:t>
            </a:r>
            <a:r>
              <a:rPr lang="zh-TW" altLang="en-US" smtClean="0"/>
              <a:t>程式碼間之相依關係，圖中也表達各元件之版本。</a:t>
            </a:r>
          </a:p>
          <a:p>
            <a:pPr eaLnBrk="1"/>
            <a:endParaRPr lang="zh-TW" altLang="en-US" smtClean="0"/>
          </a:p>
        </p:txBody>
      </p:sp>
      <p:sp>
        <p:nvSpPr>
          <p:cNvPr id="3277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14.2.2 </a:t>
            </a:r>
            <a:r>
              <a:rPr lang="zh-TW" altLang="en-US" smtClean="0"/>
              <a:t>元件圖之塑模原則</a:t>
            </a:r>
            <a:r>
              <a:rPr lang="en-US" altLang="zh-TW" smtClean="0"/>
              <a:t>(c.10)</a:t>
            </a:r>
            <a:endParaRPr lang="zh-TW" altLang="en-US" smtClean="0"/>
          </a:p>
        </p:txBody>
      </p:sp>
      <p:pic>
        <p:nvPicPr>
          <p:cNvPr id="32772" name="Picture 14" descr="z-vb157d-f14-5d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07" b="3737"/>
          <a:stretch>
            <a:fillRect/>
          </a:stretch>
        </p:blipFill>
        <p:spPr>
          <a:xfrm>
            <a:off x="1979613" y="2708275"/>
            <a:ext cx="5184775" cy="3673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9"/>
          <p:cNvSpPr txBox="1">
            <a:spLocks noChangeArrowheads="1"/>
          </p:cNvSpPr>
          <p:nvPr/>
        </p:nvSpPr>
        <p:spPr bwMode="auto">
          <a:xfrm>
            <a:off x="4929188" y="5643563"/>
            <a:ext cx="33575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zh-TW" sz="1800">
                <a:solidFill>
                  <a:schemeClr val="tx1"/>
                </a:solidFill>
              </a:rPr>
              <a:t>圖</a:t>
            </a:r>
            <a:r>
              <a:rPr lang="en-US" altLang="zh-TW" sz="1800">
                <a:solidFill>
                  <a:schemeClr val="tx1"/>
                </a:solidFill>
              </a:rPr>
              <a:t>14-5e </a:t>
            </a:r>
            <a:r>
              <a:rPr lang="zh-TW" altLang="zh-TW" sz="1800">
                <a:solidFill>
                  <a:schemeClr val="tx1"/>
                </a:solidFill>
              </a:rPr>
              <a:t>以元件圖塑模系統原始碼之範例</a:t>
            </a: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3584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14-5e </a:t>
            </a:r>
            <a:r>
              <a:rPr lang="zh-TW" altLang="en-US" smtClean="0"/>
              <a:t>以元件圖塑模系統原始碼之範例</a:t>
            </a:r>
          </a:p>
        </p:txBody>
      </p:sp>
      <p:pic>
        <p:nvPicPr>
          <p:cNvPr id="35844" name="Picture 8" descr="z-vb157d-f14-5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6" t="11876" r="4724" b="1790"/>
          <a:stretch>
            <a:fillRect/>
          </a:stretch>
        </p:blipFill>
        <p:spPr>
          <a:xfrm>
            <a:off x="2051050" y="1628775"/>
            <a:ext cx="5689600" cy="4741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14-5f </a:t>
            </a:r>
            <a:r>
              <a:rPr lang="zh-TW" altLang="en-US" smtClean="0"/>
              <a:t>以元件圖塑模執行檔版本之範例</a:t>
            </a:r>
          </a:p>
        </p:txBody>
      </p:sp>
      <p:pic>
        <p:nvPicPr>
          <p:cNvPr id="38915" name="Picture 13" descr="z-vb157d-f14-5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27" t="22363" r="10275" b="5330"/>
          <a:stretch>
            <a:fillRect/>
          </a:stretch>
        </p:blipFill>
        <p:spPr>
          <a:xfrm>
            <a:off x="2555875" y="1844675"/>
            <a:ext cx="4238625" cy="43926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zh-TW" smtClean="0"/>
              <a:t>圖</a:t>
            </a:r>
            <a:r>
              <a:rPr lang="en-US" altLang="zh-TW" smtClean="0"/>
              <a:t>14-5g </a:t>
            </a:r>
            <a:r>
              <a:rPr lang="zh-TW" altLang="en-US" smtClean="0"/>
              <a:t>表示人力資源資料庫元件是由員工、獎懲、薪資、教育訓練及出勤考核五個資料表元件所組成。</a:t>
            </a:r>
          </a:p>
        </p:txBody>
      </p:sp>
      <p:sp>
        <p:nvSpPr>
          <p:cNvPr id="4096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14.2.2 </a:t>
            </a:r>
            <a:r>
              <a:rPr lang="zh-TW" altLang="en-US" smtClean="0"/>
              <a:t>元件圖之塑模原則</a:t>
            </a:r>
            <a:r>
              <a:rPr lang="en-US" altLang="zh-TW" smtClean="0"/>
              <a:t>(c.16)</a:t>
            </a:r>
            <a:endParaRPr lang="zh-TW" altLang="en-US" smtClean="0"/>
          </a:p>
        </p:txBody>
      </p:sp>
      <p:pic>
        <p:nvPicPr>
          <p:cNvPr id="40964" name="Picture 15" descr="z-vb157d-f14-5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2492375"/>
            <a:ext cx="7200900" cy="35163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下圖表示伺服器</a:t>
            </a:r>
            <a:r>
              <a:rPr lang="en-US" altLang="zh-TW" smtClean="0"/>
              <a:t>B </a:t>
            </a:r>
            <a:r>
              <a:rPr lang="zh-TW" altLang="en-US" smtClean="0"/>
              <a:t>上的人力資源資料庫被備份至伺服器</a:t>
            </a:r>
            <a:r>
              <a:rPr lang="en-US" altLang="zh-TW" smtClean="0"/>
              <a:t>A </a:t>
            </a:r>
            <a:r>
              <a:rPr lang="zh-TW" altLang="en-US" smtClean="0"/>
              <a:t>上的人力資源資料庫內。</a:t>
            </a:r>
          </a:p>
          <a:p>
            <a:pPr eaLnBrk="1"/>
            <a:endParaRPr lang="zh-TW" altLang="en-US" smtClean="0"/>
          </a:p>
        </p:txBody>
      </p:sp>
      <p:sp>
        <p:nvSpPr>
          <p:cNvPr id="4301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14.2.2 </a:t>
            </a:r>
            <a:r>
              <a:rPr lang="zh-TW" altLang="en-US" smtClean="0"/>
              <a:t>元件圖之塑模原則</a:t>
            </a:r>
            <a:r>
              <a:rPr lang="en-US" altLang="zh-TW" smtClean="0"/>
              <a:t>(c.18)</a:t>
            </a:r>
            <a:endParaRPr lang="zh-TW" altLang="en-US" smtClean="0"/>
          </a:p>
        </p:txBody>
      </p:sp>
      <p:pic>
        <p:nvPicPr>
          <p:cNvPr id="43012" name="Picture 14" descr="z-vb157d-f14-5h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2420938"/>
            <a:ext cx="6272213" cy="38163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z="2800" smtClean="0"/>
              <a:t>表</a:t>
            </a:r>
            <a:r>
              <a:rPr lang="en-US" altLang="zh-TW" sz="2800" smtClean="0"/>
              <a:t>14-2 </a:t>
            </a:r>
            <a:r>
              <a:rPr lang="zh-TW" altLang="en-US" sz="2800" smtClean="0"/>
              <a:t>西子灣線上訂購系統案例之元件</a:t>
            </a:r>
            <a:br>
              <a:rPr lang="zh-TW" altLang="en-US" sz="2800" smtClean="0"/>
            </a:br>
            <a:r>
              <a:rPr lang="zh-TW" altLang="en-US" sz="2800" smtClean="0"/>
              <a:t>（部分範例）</a:t>
            </a:r>
            <a:endParaRPr lang="en-US" altLang="zh-TW" sz="2800" smtClean="0"/>
          </a:p>
        </p:txBody>
      </p:sp>
      <p:pic>
        <p:nvPicPr>
          <p:cNvPr id="45059" name="圖片 7" descr="未命名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8175" y="1438275"/>
            <a:ext cx="5759450" cy="4943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14.2.3 </a:t>
            </a:r>
            <a:r>
              <a:rPr lang="zh-TW" altLang="en-US" smtClean="0"/>
              <a:t>元件圖之建構案例</a:t>
            </a:r>
            <a:r>
              <a:rPr lang="en-US" altLang="zh-TW" smtClean="0"/>
              <a:t>(c.5)</a:t>
            </a:r>
          </a:p>
        </p:txBody>
      </p:sp>
      <p:pic>
        <p:nvPicPr>
          <p:cNvPr id="48131" name="Picture 14" descr="z-vb157d-f14-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913" y="1773238"/>
            <a:ext cx="7272337" cy="4248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z="2000" smtClean="0"/>
              <a:t>圖</a:t>
            </a:r>
            <a:r>
              <a:rPr lang="en-US" altLang="zh-TW" sz="2000" smtClean="0"/>
              <a:t>14-7 </a:t>
            </a:r>
            <a:r>
              <a:rPr lang="zh-TW" altLang="en-US" sz="2000" smtClean="0"/>
              <a:t>描述某個系統的運作環境是以區域網路連接六部伺服器主機（</a:t>
            </a:r>
            <a:r>
              <a:rPr lang="en-US" altLang="zh-TW" sz="2000" smtClean="0"/>
              <a:t>Proxy</a:t>
            </a:r>
            <a:r>
              <a:rPr lang="zh-TW" altLang="en-US" sz="2000" smtClean="0"/>
              <a:t>、</a:t>
            </a:r>
            <a:r>
              <a:rPr lang="en-US" altLang="zh-TW" sz="2000" smtClean="0"/>
              <a:t>DHCP</a:t>
            </a:r>
            <a:r>
              <a:rPr lang="zh-TW" altLang="en-US" sz="2000" smtClean="0"/>
              <a:t>、檔案、</a:t>
            </a:r>
            <a:r>
              <a:rPr lang="en-US" altLang="zh-TW" sz="2000" smtClean="0"/>
              <a:t>E-mail</a:t>
            </a:r>
            <a:r>
              <a:rPr lang="zh-TW" altLang="en-US" sz="2000" smtClean="0"/>
              <a:t>、資料庫及網站伺服器）。</a:t>
            </a:r>
            <a:endParaRPr lang="en-US" altLang="zh-TW" sz="2000" smtClean="0"/>
          </a:p>
          <a:p>
            <a:pPr eaLnBrk="1"/>
            <a:r>
              <a:rPr lang="zh-TW" altLang="en-US" sz="2000" smtClean="0"/>
              <a:t>這個區域網路與外界</a:t>
            </a:r>
            <a:r>
              <a:rPr lang="en-US" altLang="zh-TW" sz="2000" smtClean="0"/>
              <a:t>Internet </a:t>
            </a:r>
            <a:r>
              <a:rPr lang="zh-TW" altLang="en-US" sz="2000" smtClean="0"/>
              <a:t>的連結方式是藉由</a:t>
            </a:r>
            <a:r>
              <a:rPr lang="en-US" altLang="zh-TW" sz="2000" smtClean="0"/>
              <a:t>Proxy </a:t>
            </a:r>
            <a:r>
              <a:rPr lang="zh-TW" altLang="en-US" sz="2000" smtClean="0"/>
              <a:t>伺服器透過</a:t>
            </a:r>
            <a:r>
              <a:rPr lang="en-US" altLang="zh-TW" sz="2000" smtClean="0"/>
              <a:t>DSU/CSU </a:t>
            </a:r>
            <a:r>
              <a:rPr lang="zh-TW" altLang="en-US" sz="2000" smtClean="0"/>
              <a:t>節點連接上</a:t>
            </a:r>
            <a:r>
              <a:rPr lang="en-US" altLang="zh-TW" sz="2000" smtClean="0"/>
              <a:t>Internet</a:t>
            </a:r>
            <a:r>
              <a:rPr lang="zh-TW" altLang="en-US" sz="2000" smtClean="0"/>
              <a:t>。</a:t>
            </a:r>
          </a:p>
          <a:p>
            <a:pPr eaLnBrk="1"/>
            <a:endParaRPr lang="zh-TW" altLang="en-US" sz="2000" smtClean="0"/>
          </a:p>
        </p:txBody>
      </p:sp>
      <p:pic>
        <p:nvPicPr>
          <p:cNvPr id="50179" name="Picture 15" descr="z-vb157d-f14-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2275" y="2997200"/>
            <a:ext cx="5976938" cy="3311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 </a:t>
            </a:r>
            <a:r>
              <a:rPr lang="zh-TW" altLang="en-US" smtClean="0"/>
              <a:t>部署圖</a:t>
            </a:r>
            <a:r>
              <a:rPr lang="en-US" altLang="zh-TW" smtClean="0"/>
              <a:t>(c.2)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/>
            <a:r>
              <a:rPr lang="zh-TW" altLang="zh-TW" smtClean="0"/>
              <a:t>部署圖有產出、節點與連接三元件，如</a:t>
            </a:r>
            <a:r>
              <a:rPr lang="zh-TW" altLang="en-US" smtClean="0"/>
              <a:t>下</a:t>
            </a:r>
            <a:r>
              <a:rPr lang="zh-TW" altLang="zh-TW" smtClean="0"/>
              <a:t>表</a:t>
            </a:r>
            <a:r>
              <a:rPr lang="zh-TW" altLang="en-US" smtClean="0"/>
              <a:t>所示。</a:t>
            </a:r>
          </a:p>
        </p:txBody>
      </p:sp>
      <p:pic>
        <p:nvPicPr>
          <p:cNvPr id="5120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2133600"/>
            <a:ext cx="4416425" cy="410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14.3.1 </a:t>
            </a:r>
            <a:r>
              <a:rPr lang="zh-TW" altLang="en-US" smtClean="0"/>
              <a:t>部署圖之元件</a:t>
            </a:r>
            <a:endParaRPr lang="en-US" altLang="zh-TW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14-8a </a:t>
            </a:r>
            <a:r>
              <a:rPr lang="zh-TW" altLang="en-US" smtClean="0"/>
              <a:t>單純的與延伸型的節點範例</a:t>
            </a:r>
          </a:p>
        </p:txBody>
      </p:sp>
      <p:sp>
        <p:nvSpPr>
          <p:cNvPr id="55299" name="Text Box 6"/>
          <p:cNvSpPr txBox="1">
            <a:spLocks noChangeArrowheads="1"/>
          </p:cNvSpPr>
          <p:nvPr/>
        </p:nvSpPr>
        <p:spPr bwMode="auto">
          <a:xfrm>
            <a:off x="5072063" y="5027613"/>
            <a:ext cx="35004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zh-TW" sz="1800">
                <a:solidFill>
                  <a:schemeClr val="tx1"/>
                </a:solidFill>
              </a:rPr>
              <a:t>圖</a:t>
            </a:r>
            <a:r>
              <a:rPr lang="en-US" altLang="zh-TW" sz="1800">
                <a:solidFill>
                  <a:schemeClr val="tx1"/>
                </a:solidFill>
              </a:rPr>
              <a:t>14-8a </a:t>
            </a:r>
            <a:r>
              <a:rPr lang="zh-TW" altLang="zh-TW" sz="1800">
                <a:solidFill>
                  <a:schemeClr val="tx1"/>
                </a:solidFill>
              </a:rPr>
              <a:t>單純的與延伸型的節點範例</a:t>
            </a:r>
            <a:endParaRPr lang="zh-TW" altLang="en-US" sz="1800">
              <a:solidFill>
                <a:schemeClr val="tx1"/>
              </a:solidFill>
            </a:endParaRPr>
          </a:p>
        </p:txBody>
      </p:sp>
      <p:pic>
        <p:nvPicPr>
          <p:cNvPr id="55300" name="Picture 10" descr="z-vb157d-f14-8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1" t="30130"/>
          <a:stretch>
            <a:fillRect/>
          </a:stretch>
        </p:blipFill>
        <p:spPr>
          <a:xfrm>
            <a:off x="1692275" y="1700213"/>
            <a:ext cx="5903913" cy="435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9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zh-TW" altLang="en-US" smtClean="0">
                <a:ea typeface="微軟正黑體" pitchFamily="34" charset="-120"/>
              </a:rPr>
              <a:t>有三種方式可用以表示產出被部署在節點上：</a:t>
            </a:r>
            <a:endParaRPr lang="en-US" altLang="zh-TW" smtClean="0">
              <a:ea typeface="微軟正黑體" pitchFamily="34" charset="-120"/>
            </a:endParaRPr>
          </a:p>
          <a:p>
            <a:pPr eaLnBrk="1" hangingPunct="1"/>
            <a:r>
              <a:rPr lang="zh-TW" altLang="zh-TW" smtClean="0">
                <a:ea typeface="微軟正黑體" pitchFamily="34" charset="-120"/>
              </a:rPr>
              <a:t>直接將產出畫入節點中，此方式可顯示產出間的相依關係，如圖</a:t>
            </a:r>
            <a:r>
              <a:rPr lang="en-US" altLang="zh-TW" smtClean="0">
                <a:ea typeface="微軟正黑體" pitchFamily="34" charset="-120"/>
              </a:rPr>
              <a:t>14-8b</a:t>
            </a:r>
            <a:r>
              <a:rPr lang="zh-TW" altLang="zh-TW" smtClean="0">
                <a:ea typeface="微軟正黑體" pitchFamily="34" charset="-120"/>
              </a:rPr>
              <a:t>所示</a:t>
            </a:r>
            <a:r>
              <a:rPr lang="zh-TW" altLang="en-US" smtClean="0">
                <a:ea typeface="微軟正黑體" pitchFamily="34" charset="-120"/>
              </a:rPr>
              <a:t>。</a:t>
            </a:r>
          </a:p>
          <a:p>
            <a:pPr eaLnBrk="1"/>
            <a:endParaRPr lang="zh-TW" altLang="en-US" smtClean="0"/>
          </a:p>
        </p:txBody>
      </p:sp>
      <p:pic>
        <p:nvPicPr>
          <p:cNvPr id="56323" name="Picture 10" descr="z-vb157d-f14-8b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" t="6644" r="4649" b="20805"/>
          <a:stretch>
            <a:fillRect/>
          </a:stretch>
        </p:blipFill>
        <p:spPr>
          <a:xfrm>
            <a:off x="2195513" y="2997200"/>
            <a:ext cx="4968875" cy="2592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14.3.1 </a:t>
            </a:r>
            <a:r>
              <a:rPr lang="zh-TW" altLang="en-US" smtClean="0"/>
              <a:t>部署圖之元件</a:t>
            </a:r>
            <a:r>
              <a:rPr lang="en-US" altLang="zh-TW" smtClean="0"/>
              <a:t>(c.5)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14.3.1 </a:t>
            </a:r>
            <a:r>
              <a:rPr lang="zh-TW" altLang="en-US" smtClean="0"/>
              <a:t>部署圖之元件</a:t>
            </a:r>
            <a:r>
              <a:rPr lang="en-US" altLang="zh-TW" smtClean="0"/>
              <a:t>(c.6)</a:t>
            </a:r>
            <a:endParaRPr lang="zh-TW" altLang="en-US" smtClean="0"/>
          </a:p>
        </p:txBody>
      </p:sp>
      <p:sp>
        <p:nvSpPr>
          <p:cNvPr id="57347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zh-TW" smtClean="0">
                <a:ea typeface="微軟正黑體" pitchFamily="34" charset="-120"/>
              </a:rPr>
              <a:t>將產出畫在節點外，並以部署關係連結產出與節點，如圖</a:t>
            </a:r>
            <a:r>
              <a:rPr lang="en-US" altLang="zh-TW" smtClean="0">
                <a:ea typeface="微軟正黑體" pitchFamily="34" charset="-120"/>
              </a:rPr>
              <a:t>14-8c</a:t>
            </a:r>
            <a:r>
              <a:rPr lang="zh-TW" altLang="zh-TW" smtClean="0">
                <a:ea typeface="微軟正黑體" pitchFamily="34" charset="-120"/>
              </a:rPr>
              <a:t>所示</a:t>
            </a:r>
            <a:r>
              <a:rPr lang="zh-TW" altLang="en-US" smtClean="0">
                <a:ea typeface="微軟正黑體" pitchFamily="34" charset="-120"/>
              </a:rPr>
              <a:t>。</a:t>
            </a:r>
          </a:p>
        </p:txBody>
      </p:sp>
      <p:pic>
        <p:nvPicPr>
          <p:cNvPr id="57348" name="Picture 11" descr="z-vb157d-f14-8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9613" y="2565400"/>
            <a:ext cx="5472112" cy="3527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zh-TW" smtClean="0"/>
              <a:t>簡單的將產出以條列式列在節點之中，此方式可節省繪圖空間，如圖</a:t>
            </a:r>
            <a:r>
              <a:rPr lang="en-US" altLang="zh-TW" smtClean="0"/>
              <a:t>14-8d </a:t>
            </a:r>
            <a:r>
              <a:rPr lang="zh-TW" altLang="zh-TW" smtClean="0"/>
              <a:t>所示</a:t>
            </a:r>
            <a:r>
              <a:rPr lang="zh-TW" altLang="en-US" smtClean="0"/>
              <a:t>。</a:t>
            </a:r>
          </a:p>
        </p:txBody>
      </p:sp>
      <p:pic>
        <p:nvPicPr>
          <p:cNvPr id="58371" name="Picture 13" descr="z-vb157d-f14-8d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71775" y="2565400"/>
            <a:ext cx="3303588" cy="3522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14.3.1 </a:t>
            </a:r>
            <a:r>
              <a:rPr lang="zh-TW" altLang="en-US" smtClean="0"/>
              <a:t>部署圖之元件</a:t>
            </a:r>
            <a:r>
              <a:rPr lang="en-US" altLang="zh-TW" smtClean="0"/>
              <a:t>(c.7)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/>
            <a:r>
              <a:rPr lang="zh-TW" altLang="zh-TW" smtClean="0"/>
              <a:t>圖</a:t>
            </a:r>
            <a:r>
              <a:rPr lang="en-US" altLang="zh-TW" smtClean="0"/>
              <a:t>14-9a</a:t>
            </a:r>
            <a:r>
              <a:rPr lang="zh-TW" altLang="zh-TW" smtClean="0"/>
              <a:t>中有</a:t>
            </a:r>
            <a:r>
              <a:rPr lang="en-US" altLang="zh-TW" smtClean="0"/>
              <a:t>purchase</a:t>
            </a:r>
            <a:r>
              <a:rPr lang="zh-TW" altLang="zh-TW" smtClean="0"/>
              <a:t>節點及</a:t>
            </a:r>
            <a:r>
              <a:rPr lang="en-US" altLang="zh-TW" smtClean="0"/>
              <a:t>order.asp </a:t>
            </a:r>
            <a:r>
              <a:rPr lang="zh-TW" altLang="zh-TW" smtClean="0"/>
              <a:t>與</a:t>
            </a:r>
            <a:r>
              <a:rPr lang="en-US" altLang="zh-TW" smtClean="0"/>
              <a:t>cart.dll </a:t>
            </a:r>
            <a:r>
              <a:rPr lang="zh-TW" altLang="zh-TW" smtClean="0"/>
              <a:t>元件</a:t>
            </a:r>
            <a:r>
              <a:rPr lang="zh-TW" altLang="en-US" smtClean="0"/>
              <a:t>。</a:t>
            </a:r>
            <a:endParaRPr lang="en-US" altLang="zh-TW" smtClean="0"/>
          </a:p>
          <a:p>
            <a:pPr lvl="1" eaLnBrk="1"/>
            <a:r>
              <a:rPr lang="en-US" altLang="zh-TW" smtClean="0"/>
              <a:t>purchase </a:t>
            </a:r>
            <a:r>
              <a:rPr lang="zh-TW" altLang="zh-TW" smtClean="0"/>
              <a:t>節點會使用</a:t>
            </a:r>
            <a:r>
              <a:rPr lang="en-US" altLang="zh-TW" smtClean="0"/>
              <a:t>order.asp </a:t>
            </a:r>
            <a:r>
              <a:rPr lang="zh-TW" altLang="zh-TW" smtClean="0"/>
              <a:t>元件所提供的功能與</a:t>
            </a:r>
            <a:r>
              <a:rPr lang="en-US" altLang="zh-TW" smtClean="0"/>
              <a:t>cart.dll </a:t>
            </a:r>
            <a:r>
              <a:rPr lang="zh-TW" altLang="zh-TW" smtClean="0"/>
              <a:t>元件中所包含的函式</a:t>
            </a:r>
            <a:r>
              <a:rPr lang="zh-TW" altLang="en-US" smtClean="0"/>
              <a:t>。</a:t>
            </a:r>
          </a:p>
          <a:p>
            <a:pPr eaLnBrk="1"/>
            <a:endParaRPr lang="zh-TW" altLang="en-US" smtClean="0"/>
          </a:p>
        </p:txBody>
      </p:sp>
      <p:sp>
        <p:nvSpPr>
          <p:cNvPr id="60419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14.3.1 </a:t>
            </a:r>
            <a:r>
              <a:rPr lang="zh-TW" altLang="en-US" smtClean="0"/>
              <a:t>部署圖之元件</a:t>
            </a:r>
            <a:r>
              <a:rPr lang="en-US" altLang="zh-TW" smtClean="0"/>
              <a:t>(c.9)</a:t>
            </a:r>
            <a:endParaRPr lang="zh-TW" altLang="en-US" smtClean="0"/>
          </a:p>
        </p:txBody>
      </p:sp>
      <p:pic>
        <p:nvPicPr>
          <p:cNvPr id="60420" name="Picture 14" descr="z-vb157d-f14-9a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4075" y="2852738"/>
            <a:ext cx="4608513" cy="3408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如</a:t>
            </a:r>
            <a:r>
              <a:rPr lang="zh-TW" altLang="zh-TW" smtClean="0"/>
              <a:t>圖</a:t>
            </a:r>
            <a:r>
              <a:rPr lang="en-US" altLang="zh-TW" smtClean="0"/>
              <a:t>14-9b </a:t>
            </a:r>
            <a:r>
              <a:rPr lang="zh-TW" altLang="en-US" smtClean="0"/>
              <a:t>，一台應用程式伺服器與一組硬碟陣列之間就有關聯關係，其符號表達方式為一實線，並於實線上方以雙尖括號標示連結的方式。</a:t>
            </a:r>
          </a:p>
        </p:txBody>
      </p:sp>
      <p:sp>
        <p:nvSpPr>
          <p:cNvPr id="6144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14.3.1 </a:t>
            </a:r>
            <a:r>
              <a:rPr lang="zh-TW" altLang="en-US" smtClean="0"/>
              <a:t>部署圖之元件</a:t>
            </a:r>
            <a:r>
              <a:rPr lang="en-US" altLang="zh-TW" smtClean="0"/>
              <a:t>(c.10)</a:t>
            </a:r>
            <a:endParaRPr lang="zh-TW" altLang="en-US" smtClean="0"/>
          </a:p>
        </p:txBody>
      </p:sp>
      <p:pic>
        <p:nvPicPr>
          <p:cNvPr id="61444" name="Picture 14" descr="z-vb157d-f14-9b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8" t="4214" r="3775" b="7550"/>
          <a:stretch>
            <a:fillRect/>
          </a:stretch>
        </p:blipFill>
        <p:spPr>
          <a:xfrm>
            <a:off x="2411413" y="2852738"/>
            <a:ext cx="5113337" cy="32305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14.3.2 </a:t>
            </a:r>
            <a:r>
              <a:rPr lang="zh-TW" altLang="en-US" smtClean="0"/>
              <a:t>部署圖之塑模原則</a:t>
            </a:r>
            <a:r>
              <a:rPr lang="en-US" altLang="zh-TW" smtClean="0"/>
              <a:t>(c.4)</a:t>
            </a:r>
            <a:endParaRPr lang="zh-TW" altLang="en-US" smtClean="0"/>
          </a:p>
        </p:txBody>
      </p:sp>
      <p:pic>
        <p:nvPicPr>
          <p:cNvPr id="65539" name="Picture 13" descr="z-vb157d-f14-10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1" t="1767" r="6882" b="2069"/>
          <a:stretch>
            <a:fillRect/>
          </a:stretch>
        </p:blipFill>
        <p:spPr>
          <a:xfrm>
            <a:off x="1619250" y="1557338"/>
            <a:ext cx="6697663" cy="4076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>
              <a:lnSpc>
                <a:spcPct val="110000"/>
              </a:lnSpc>
            </a:pPr>
            <a:r>
              <a:rPr lang="zh-TW" altLang="en-US" sz="1800" smtClean="0"/>
              <a:t>圖</a:t>
            </a:r>
            <a:r>
              <a:rPr lang="en-US" altLang="zh-TW" sz="1800" smtClean="0"/>
              <a:t>14-10b </a:t>
            </a:r>
            <a:r>
              <a:rPr lang="zh-TW" altLang="en-US" sz="1800" smtClean="0"/>
              <a:t>表示用戶端電腦群與應用程式伺服器的連結是透過</a:t>
            </a:r>
            <a:r>
              <a:rPr lang="en-US" altLang="zh-TW" sz="1800" smtClean="0"/>
              <a:t>10BASE-T </a:t>
            </a:r>
            <a:r>
              <a:rPr lang="zh-TW" altLang="en-US" sz="1800" smtClean="0"/>
              <a:t>的乙太網路，該節點上會執行</a:t>
            </a:r>
            <a:r>
              <a:rPr lang="en-US" altLang="zh-TW" sz="1800" smtClean="0"/>
              <a:t>purchase.exe </a:t>
            </a:r>
            <a:r>
              <a:rPr lang="zh-TW" altLang="en-US" sz="1800" smtClean="0"/>
              <a:t>應用程式。</a:t>
            </a:r>
            <a:endParaRPr lang="en-US" altLang="zh-TW" sz="1800" smtClean="0"/>
          </a:p>
          <a:p>
            <a:pPr lvl="1" eaLnBrk="1">
              <a:lnSpc>
                <a:spcPct val="110000"/>
              </a:lnSpc>
            </a:pPr>
            <a:r>
              <a:rPr lang="zh-TW" altLang="en-US" sz="1800" smtClean="0"/>
              <a:t>主控台與應用程式伺服器的連結是透過</a:t>
            </a:r>
            <a:r>
              <a:rPr lang="en-US" altLang="zh-TW" sz="1800" smtClean="0"/>
              <a:t>RS-232</a:t>
            </a:r>
            <a:r>
              <a:rPr lang="zh-TW" altLang="en-US" sz="1800" smtClean="0"/>
              <a:t>的</a:t>
            </a:r>
            <a:r>
              <a:rPr lang="zh-TW" altLang="zh-TW" sz="1800" smtClean="0"/>
              <a:t>序列埠</a:t>
            </a:r>
            <a:r>
              <a:rPr lang="zh-TW" altLang="en-US" sz="1800" smtClean="0"/>
              <a:t>，該節點上會執行</a:t>
            </a:r>
            <a:r>
              <a:rPr lang="en-US" altLang="zh-TW" sz="1800" smtClean="0"/>
              <a:t>admin.exe </a:t>
            </a:r>
            <a:r>
              <a:rPr lang="zh-TW" altLang="en-US" sz="1800" smtClean="0"/>
              <a:t>及</a:t>
            </a:r>
            <a:r>
              <a:rPr lang="en-US" altLang="zh-TW" sz="1800" smtClean="0"/>
              <a:t>monitor.exe </a:t>
            </a:r>
            <a:r>
              <a:rPr lang="zh-TW" altLang="en-US" sz="1800" smtClean="0"/>
              <a:t>兩個應用程式。</a:t>
            </a:r>
            <a:endParaRPr lang="en-US" altLang="zh-TW" sz="1800" smtClean="0"/>
          </a:p>
          <a:p>
            <a:pPr lvl="1" eaLnBrk="1">
              <a:lnSpc>
                <a:spcPct val="110000"/>
              </a:lnSpc>
            </a:pPr>
            <a:r>
              <a:rPr lang="zh-TW" altLang="en-US" sz="1800" smtClean="0"/>
              <a:t>應用程式伺服器與磁碟陣列的連結是透過</a:t>
            </a:r>
            <a:r>
              <a:rPr lang="en-US" altLang="zh-TW" sz="1800" smtClean="0"/>
              <a:t>BUS </a:t>
            </a:r>
            <a:r>
              <a:rPr lang="zh-TW" altLang="en-US" sz="1800" smtClean="0"/>
              <a:t>匯流排，該節點的</a:t>
            </a:r>
            <a:r>
              <a:rPr lang="en-US" altLang="zh-TW" sz="1800" smtClean="0"/>
              <a:t>CPU </a:t>
            </a:r>
            <a:r>
              <a:rPr lang="zh-TW" altLang="en-US" sz="1800" smtClean="0"/>
              <a:t>為</a:t>
            </a:r>
            <a:r>
              <a:rPr lang="en-US" altLang="zh-TW" sz="1800" smtClean="0"/>
              <a:t>Intel P3-1GHz</a:t>
            </a:r>
            <a:r>
              <a:rPr lang="zh-TW" altLang="en-US" sz="1800" smtClean="0"/>
              <a:t>、主記憶體</a:t>
            </a:r>
            <a:r>
              <a:rPr lang="en-US" altLang="zh-TW" sz="1800" smtClean="0"/>
              <a:t>512MB</a:t>
            </a:r>
            <a:r>
              <a:rPr lang="zh-TW" altLang="en-US" sz="1800" smtClean="0"/>
              <a:t>，其上會執行</a:t>
            </a:r>
            <a:r>
              <a:rPr lang="en-US" altLang="zh-TW" sz="1800" smtClean="0"/>
              <a:t>sqladmin.exe </a:t>
            </a:r>
            <a:r>
              <a:rPr lang="zh-TW" altLang="en-US" sz="1800" smtClean="0"/>
              <a:t>及</a:t>
            </a:r>
            <a:r>
              <a:rPr lang="en-US" altLang="zh-TW" sz="1800" smtClean="0"/>
              <a:t>top.exe </a:t>
            </a:r>
            <a:r>
              <a:rPr lang="zh-TW" altLang="en-US" sz="1800" smtClean="0"/>
              <a:t>兩個應用程式。</a:t>
            </a:r>
          </a:p>
        </p:txBody>
      </p:sp>
      <p:pic>
        <p:nvPicPr>
          <p:cNvPr id="67587" name="Picture 13" descr="z-vb157d-f14-10b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1" t="8092" r="2887"/>
          <a:stretch>
            <a:fillRect/>
          </a:stretch>
        </p:blipFill>
        <p:spPr>
          <a:xfrm>
            <a:off x="2124075" y="3933825"/>
            <a:ext cx="5545138" cy="2519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14.3.2 </a:t>
            </a:r>
            <a:r>
              <a:rPr lang="zh-TW" altLang="en-US" smtClean="0"/>
              <a:t>部署圖之塑模原則</a:t>
            </a:r>
            <a:r>
              <a:rPr lang="en-US" altLang="zh-TW" smtClean="0"/>
              <a:t>(c.6)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/>
            <a:r>
              <a:rPr lang="zh-TW" altLang="en-US" sz="2000" smtClean="0"/>
              <a:t>圖</a:t>
            </a:r>
            <a:r>
              <a:rPr lang="en-US" altLang="zh-TW" sz="2000" smtClean="0"/>
              <a:t>14-10c </a:t>
            </a:r>
            <a:r>
              <a:rPr lang="zh-TW" altLang="en-US" sz="2000" smtClean="0"/>
              <a:t>表示一台個人電腦是由九個設備所組成：主機、顯示器、鍵盤、</a:t>
            </a:r>
            <a:r>
              <a:rPr lang="en-US" altLang="zh-TW" sz="2000" smtClean="0"/>
              <a:t>CD-ROM</a:t>
            </a:r>
            <a:r>
              <a:rPr lang="zh-TW" altLang="en-US" sz="2000" smtClean="0"/>
              <a:t>、影像顯示卡、硬式磁碟機、滑鼠、</a:t>
            </a:r>
            <a:r>
              <a:rPr lang="en-US" altLang="zh-TW" sz="2000" smtClean="0"/>
              <a:t>CCD </a:t>
            </a:r>
            <a:r>
              <a:rPr lang="zh-TW" altLang="en-US" sz="2000" smtClean="0"/>
              <a:t>攝影機和網路卡，</a:t>
            </a:r>
            <a:r>
              <a:rPr lang="en-US" altLang="zh-TW" sz="2000" smtClean="0"/>
              <a:t>CCD </a:t>
            </a:r>
            <a:r>
              <a:rPr lang="zh-TW" altLang="en-US" sz="2000" smtClean="0"/>
              <a:t>攝影機與個人電腦之間是使用</a:t>
            </a:r>
            <a:r>
              <a:rPr lang="en-US" altLang="zh-TW" sz="2000" smtClean="0"/>
              <a:t>USB </a:t>
            </a:r>
            <a:r>
              <a:rPr lang="zh-TW" altLang="en-US" sz="2000" smtClean="0"/>
              <a:t>介面連接。</a:t>
            </a:r>
          </a:p>
          <a:p>
            <a:pPr eaLnBrk="1"/>
            <a:endParaRPr lang="zh-TW" altLang="en-US" sz="2000" smtClean="0"/>
          </a:p>
        </p:txBody>
      </p:sp>
      <p:sp>
        <p:nvSpPr>
          <p:cNvPr id="69635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14.3.2 </a:t>
            </a:r>
            <a:r>
              <a:rPr lang="zh-TW" altLang="en-US" smtClean="0"/>
              <a:t>部署圖之塑模原則</a:t>
            </a:r>
            <a:r>
              <a:rPr lang="en-US" altLang="zh-TW" smtClean="0"/>
              <a:t>(c.8)</a:t>
            </a:r>
            <a:endParaRPr lang="zh-TW" altLang="en-US" smtClean="0"/>
          </a:p>
        </p:txBody>
      </p:sp>
      <p:pic>
        <p:nvPicPr>
          <p:cNvPr id="69636" name="Picture 14" descr="z-vb157d-f14-10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" t="4591" r="4440"/>
          <a:stretch>
            <a:fillRect/>
          </a:stretch>
        </p:blipFill>
        <p:spPr>
          <a:xfrm>
            <a:off x="1908175" y="2997200"/>
            <a:ext cx="5472113" cy="3298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1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/>
            <a:r>
              <a:rPr lang="zh-TW" altLang="en-US" sz="2000" smtClean="0"/>
              <a:t>圖</a:t>
            </a:r>
            <a:r>
              <a:rPr lang="en-US" altLang="zh-TW" sz="2000" smtClean="0"/>
              <a:t>14-10d </a:t>
            </a:r>
            <a:r>
              <a:rPr lang="zh-TW" altLang="en-US" sz="2000" smtClean="0"/>
              <a:t>表示系統為主從式架構，客戶端是藉由資訊站及主控台向伺服器端提出服務要求，提供服務的伺服器端是由二至多台 </a:t>
            </a:r>
            <a:r>
              <a:rPr lang="en-US" altLang="zh-TW" sz="2000" smtClean="0"/>
              <a:t>(2..*) Proxy </a:t>
            </a:r>
            <a:r>
              <a:rPr lang="zh-TW" altLang="en-US" sz="2000" smtClean="0"/>
              <a:t>伺服器及四至多台 </a:t>
            </a:r>
            <a:r>
              <a:rPr lang="en-US" altLang="zh-TW" sz="2000" smtClean="0"/>
              <a:t>(4..*) </a:t>
            </a:r>
            <a:r>
              <a:rPr lang="zh-TW" altLang="en-US" sz="2000" smtClean="0"/>
              <a:t>一般用途伺服器等設備所組成，各伺服器上執行的服務程式如節點上的英文敘述。</a:t>
            </a:r>
          </a:p>
          <a:p>
            <a:pPr eaLnBrk="1"/>
            <a:endParaRPr lang="zh-TW" altLang="en-US" sz="2000" smtClean="0"/>
          </a:p>
        </p:txBody>
      </p:sp>
      <p:pic>
        <p:nvPicPr>
          <p:cNvPr id="71683" name="Picture 13" descr="z-vb157d-f14-10d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6" t="4695" r="9886" b="6398"/>
          <a:stretch>
            <a:fillRect/>
          </a:stretch>
        </p:blipFill>
        <p:spPr>
          <a:xfrm>
            <a:off x="1547813" y="3068638"/>
            <a:ext cx="6767512" cy="31670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4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14.3.2 </a:t>
            </a:r>
            <a:r>
              <a:rPr lang="zh-TW" altLang="en-US" smtClean="0"/>
              <a:t>部署圖之塑模原則</a:t>
            </a:r>
            <a:r>
              <a:rPr lang="en-US" altLang="zh-TW" smtClean="0"/>
              <a:t>(c.10)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14.3.2 </a:t>
            </a:r>
            <a:r>
              <a:rPr lang="zh-TW" altLang="en-US" smtClean="0"/>
              <a:t>部署圖之塑模原則</a:t>
            </a:r>
            <a:r>
              <a:rPr lang="en-US" altLang="zh-TW" smtClean="0"/>
              <a:t>(c.12)</a:t>
            </a:r>
            <a:endParaRPr lang="zh-TW" altLang="en-US" smtClean="0"/>
          </a:p>
        </p:txBody>
      </p:sp>
      <p:pic>
        <p:nvPicPr>
          <p:cNvPr id="73731" name="Picture 13" descr="z-vb157d-f14-10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5" t="7289" r="4781"/>
          <a:stretch>
            <a:fillRect/>
          </a:stretch>
        </p:blipFill>
        <p:spPr>
          <a:xfrm>
            <a:off x="1476375" y="1700213"/>
            <a:ext cx="6624638" cy="44116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438275"/>
            <a:ext cx="8097837" cy="2566988"/>
          </a:xfrm>
        </p:spPr>
        <p:txBody>
          <a:bodyPr/>
          <a:lstStyle/>
          <a:p>
            <a:pPr lvl="1" eaLnBrk="1">
              <a:lnSpc>
                <a:spcPct val="105000"/>
              </a:lnSpc>
            </a:pPr>
            <a:r>
              <a:rPr lang="zh-TW" altLang="zh-TW" sz="2000" smtClean="0"/>
              <a:t>本案例系統之設計屬三層式主從式架構之</a:t>
            </a:r>
            <a:r>
              <a:rPr lang="en-US" altLang="zh-TW" sz="2000" smtClean="0"/>
              <a:t>Web-based </a:t>
            </a:r>
            <a:r>
              <a:rPr lang="zh-TW" altLang="zh-TW" sz="2000" smtClean="0"/>
              <a:t>系統</a:t>
            </a:r>
            <a:r>
              <a:rPr lang="zh-TW" altLang="en-US" sz="2000" smtClean="0"/>
              <a:t>：</a:t>
            </a:r>
            <a:endParaRPr lang="en-US" altLang="zh-TW" sz="2000" smtClean="0"/>
          </a:p>
          <a:p>
            <a:pPr lvl="2" eaLnBrk="1">
              <a:lnSpc>
                <a:spcPct val="105000"/>
              </a:lnSpc>
            </a:pPr>
            <a:r>
              <a:rPr lang="zh-TW" altLang="zh-TW" sz="2000" smtClean="0"/>
              <a:t>第一層是客戶端的瀏覽器及其硬體</a:t>
            </a:r>
            <a:endParaRPr lang="en-US" altLang="zh-TW" sz="2000" smtClean="0"/>
          </a:p>
          <a:p>
            <a:pPr lvl="2" eaLnBrk="1">
              <a:lnSpc>
                <a:spcPct val="105000"/>
              </a:lnSpc>
            </a:pPr>
            <a:r>
              <a:rPr lang="zh-TW" altLang="zh-TW" sz="2000" smtClean="0"/>
              <a:t>第二層伺服器端是網站伺服器</a:t>
            </a:r>
            <a:r>
              <a:rPr lang="en-US" altLang="zh-TW" sz="2000" smtClean="0"/>
              <a:t>(</a:t>
            </a:r>
            <a:r>
              <a:rPr lang="zh-TW" altLang="zh-TW" sz="2000" smtClean="0"/>
              <a:t>例如</a:t>
            </a:r>
            <a:r>
              <a:rPr lang="en-US" altLang="zh-TW" sz="2000" smtClean="0"/>
              <a:t>MS-IIS5)</a:t>
            </a:r>
          </a:p>
          <a:p>
            <a:pPr lvl="2" eaLnBrk="1">
              <a:lnSpc>
                <a:spcPct val="105000"/>
              </a:lnSpc>
            </a:pPr>
            <a:r>
              <a:rPr lang="zh-TW" altLang="zh-TW" sz="2000" smtClean="0"/>
              <a:t>第三層伺服端是資料庫伺服器</a:t>
            </a:r>
            <a:r>
              <a:rPr lang="en-US" altLang="zh-TW" sz="2000" smtClean="0"/>
              <a:t>(</a:t>
            </a:r>
            <a:r>
              <a:rPr lang="zh-TW" altLang="zh-TW" sz="2000" smtClean="0"/>
              <a:t>例如</a:t>
            </a:r>
            <a:r>
              <a:rPr lang="en-US" altLang="zh-TW" sz="2000" smtClean="0"/>
              <a:t>MS-SQL Server)</a:t>
            </a:r>
          </a:p>
          <a:p>
            <a:pPr lvl="1" eaLnBrk="1">
              <a:lnSpc>
                <a:spcPct val="105000"/>
              </a:lnSpc>
            </a:pPr>
            <a:r>
              <a:rPr lang="zh-TW" altLang="zh-TW" sz="2000" smtClean="0"/>
              <a:t>客戶端瀏覽器經由</a:t>
            </a:r>
            <a:r>
              <a:rPr lang="en-US" altLang="zh-TW" sz="2000" smtClean="0"/>
              <a:t>Internet </a:t>
            </a:r>
            <a:r>
              <a:rPr lang="zh-TW" altLang="zh-TW" sz="2000" smtClean="0"/>
              <a:t>以</a:t>
            </a:r>
            <a:r>
              <a:rPr lang="en-US" altLang="zh-TW" sz="2000" smtClean="0"/>
              <a:t>TCP/IP </a:t>
            </a:r>
            <a:r>
              <a:rPr lang="zh-TW" altLang="zh-TW" sz="2000" smtClean="0"/>
              <a:t>通訊協定連上網站伺服器，網站伺服器與資料庫伺服器間以</a:t>
            </a:r>
            <a:r>
              <a:rPr lang="en-US" altLang="zh-TW" sz="2000" smtClean="0"/>
              <a:t>100BASE-T </a:t>
            </a:r>
            <a:r>
              <a:rPr lang="zh-TW" altLang="zh-TW" sz="2000" smtClean="0"/>
              <a:t>網路連接，使用的通訊協定也是</a:t>
            </a:r>
            <a:r>
              <a:rPr lang="en-US" altLang="zh-TW" sz="2000" smtClean="0"/>
              <a:t>TCP/IP</a:t>
            </a:r>
            <a:r>
              <a:rPr lang="zh-TW" altLang="zh-TW" sz="2000" smtClean="0"/>
              <a:t>，屬於公司內部網路 </a:t>
            </a:r>
            <a:r>
              <a:rPr lang="en-US" altLang="zh-TW" sz="2000" smtClean="0"/>
              <a:t>(Intranet)</a:t>
            </a:r>
            <a:r>
              <a:rPr lang="zh-TW" altLang="zh-TW" sz="2000" smtClean="0"/>
              <a:t>。</a:t>
            </a:r>
            <a:endParaRPr lang="zh-TW" altLang="en-US" sz="2000" smtClean="0"/>
          </a:p>
        </p:txBody>
      </p:sp>
      <p:sp>
        <p:nvSpPr>
          <p:cNvPr id="75779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14.3.3 </a:t>
            </a:r>
            <a:r>
              <a:rPr lang="zh-TW" altLang="en-US" smtClean="0"/>
              <a:t>部署圖之建構案例</a:t>
            </a:r>
            <a:r>
              <a:rPr lang="en-US" altLang="zh-TW" smtClean="0"/>
              <a:t>(c.2)</a:t>
            </a:r>
          </a:p>
        </p:txBody>
      </p:sp>
      <p:pic>
        <p:nvPicPr>
          <p:cNvPr id="75780" name="圖片 6" descr="未命名.jpg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9613" y="4292600"/>
            <a:ext cx="6265862" cy="206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en-US" altLang="zh-TW" sz="2000" smtClean="0"/>
              <a:t>2. </a:t>
            </a:r>
            <a:r>
              <a:rPr lang="zh-TW" altLang="en-US" sz="2000" smtClean="0"/>
              <a:t>找出連接</a:t>
            </a:r>
            <a:endParaRPr lang="en-US" altLang="zh-TW" sz="2000" smtClean="0"/>
          </a:p>
          <a:p>
            <a:pPr lvl="1" eaLnBrk="1"/>
            <a:r>
              <a:rPr lang="zh-TW" altLang="zh-TW" sz="2000" smtClean="0"/>
              <a:t>由於</a:t>
            </a:r>
            <a:r>
              <a:rPr lang="en-US" altLang="zh-TW" sz="2000" smtClean="0"/>
              <a:t>Client </a:t>
            </a:r>
            <a:r>
              <a:rPr lang="zh-TW" altLang="zh-TW" sz="2000" smtClean="0"/>
              <a:t>與</a:t>
            </a:r>
            <a:r>
              <a:rPr lang="en-US" altLang="zh-TW" sz="2000" smtClean="0"/>
              <a:t>Web Server </a:t>
            </a:r>
            <a:r>
              <a:rPr lang="zh-TW" altLang="zh-TW" sz="2000" smtClean="0"/>
              <a:t>及</a:t>
            </a:r>
            <a:r>
              <a:rPr lang="en-US" altLang="zh-TW" sz="2000" smtClean="0"/>
              <a:t>Web Server </a:t>
            </a:r>
            <a:r>
              <a:rPr lang="zh-TW" altLang="zh-TW" sz="2000" smtClean="0"/>
              <a:t>與</a:t>
            </a:r>
            <a:r>
              <a:rPr lang="en-US" altLang="zh-TW" sz="2000" smtClean="0"/>
              <a:t>Database Server </a:t>
            </a:r>
            <a:r>
              <a:rPr lang="zh-TW" altLang="zh-TW" sz="2000" smtClean="0"/>
              <a:t>間均是透過</a:t>
            </a:r>
            <a:r>
              <a:rPr lang="en-US" altLang="zh-TW" sz="2000" smtClean="0"/>
              <a:t>TCP/IP </a:t>
            </a:r>
            <a:r>
              <a:rPr lang="zh-TW" altLang="zh-TW" sz="2000" smtClean="0"/>
              <a:t>網路協定溝通，因此西子灣線上訂購系統之部署圖可表達如圖</a:t>
            </a:r>
            <a:r>
              <a:rPr lang="en-US" altLang="zh-TW" sz="2000" smtClean="0"/>
              <a:t>14-11</a:t>
            </a:r>
            <a:r>
              <a:rPr lang="zh-TW" altLang="zh-TW" sz="2000" smtClean="0"/>
              <a:t>。</a:t>
            </a:r>
            <a:endParaRPr lang="zh-TW" altLang="en-US" sz="2000" smtClean="0"/>
          </a:p>
          <a:p>
            <a:pPr eaLnBrk="1"/>
            <a:endParaRPr lang="zh-TW" altLang="en-US" sz="2000" smtClean="0"/>
          </a:p>
        </p:txBody>
      </p:sp>
      <p:pic>
        <p:nvPicPr>
          <p:cNvPr id="76803" name="Picture 16" descr="z-vb157d-f14-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1050" y="3068638"/>
            <a:ext cx="5400675" cy="3213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14.3.3 </a:t>
            </a:r>
            <a:r>
              <a:rPr lang="zh-TW" altLang="en-US" smtClean="0"/>
              <a:t>部署圖之建構案例</a:t>
            </a:r>
            <a:r>
              <a:rPr lang="en-US" altLang="zh-TW" smtClean="0"/>
              <a:t>(c.3)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01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ch01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lnDef>
  </a:objectDefaults>
  <a:extraClrSchemeLst>
    <a:extraClrScheme>
      <a:clrScheme name="ch01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5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lnDef>
  </a:objectDefaults>
  <a:extraClrSchemeLst>
    <a:extraClrScheme>
      <a:clrScheme name="5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52597463</TotalTime>
  <Words>1472</Words>
  <Application>Microsoft Office PowerPoint</Application>
  <PresentationFormat>如螢幕大小 (4:3)</PresentationFormat>
  <Paragraphs>97</Paragraphs>
  <Slides>37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37</vt:i4>
      </vt:variant>
    </vt:vector>
  </HeadingPairs>
  <TitlesOfParts>
    <vt:vector size="39" baseType="lpstr">
      <vt:lpstr>ch01</vt:lpstr>
      <vt:lpstr>5_ch01 網際網路基礎</vt:lpstr>
      <vt:lpstr>第十四章 系統元件與結構塑模</vt:lpstr>
      <vt:lpstr>內容大綱</vt:lpstr>
      <vt:lpstr>學習目標</vt:lpstr>
      <vt:lpstr>圖14-1 元件圖範例</vt:lpstr>
      <vt:lpstr>14.2.1 元件圖之元件</vt:lpstr>
      <vt:lpstr>14.2.1 元件圖之元件(c.2)</vt:lpstr>
      <vt:lpstr>14.2.1 元件圖之元件(c.3)</vt:lpstr>
      <vt:lpstr>14.2.1 元件圖之元件(c.4)</vt:lpstr>
      <vt:lpstr>14.2.1 元件圖之元件(c.7)</vt:lpstr>
      <vt:lpstr>14.2.1 元件圖之元件(c.8)</vt:lpstr>
      <vt:lpstr>14.2.1 元件圖之元件(c.9)</vt:lpstr>
      <vt:lpstr>14.2.1 元件圖之元件(c.10)</vt:lpstr>
      <vt:lpstr>圖14-5a 以元件圖塑模執行檔與函式庫之範例</vt:lpstr>
      <vt:lpstr>圖14-5b 以元件圖塑模資料表、檔案 與文件之範例</vt:lpstr>
      <vt:lpstr>14.2.2 元件圖之塑模原則(c.8)</vt:lpstr>
      <vt:lpstr>14.2.2 元件圖之塑模原則(c.10)</vt:lpstr>
      <vt:lpstr>圖14-5e 以元件圖塑模系統原始碼之範例</vt:lpstr>
      <vt:lpstr>圖14-5f 以元件圖塑模執行檔版本之範例</vt:lpstr>
      <vt:lpstr>14.2.2 元件圖之塑模原則(c.16)</vt:lpstr>
      <vt:lpstr>14.2.2 元件圖之塑模原則(c.18)</vt:lpstr>
      <vt:lpstr>表14-2 西子灣線上訂購系統案例之元件 （部分範例）</vt:lpstr>
      <vt:lpstr>14.2.3 元件圖之建構案例(c.5)</vt:lpstr>
      <vt:lpstr>14.3 部署圖(c.2)</vt:lpstr>
      <vt:lpstr>14.3.1 部署圖之元件</vt:lpstr>
      <vt:lpstr>圖14-8a 單純的與延伸型的節點範例</vt:lpstr>
      <vt:lpstr>14.3.1 部署圖之元件(c.5)</vt:lpstr>
      <vt:lpstr>14.3.1 部署圖之元件(c.6)</vt:lpstr>
      <vt:lpstr>14.3.1 部署圖之元件(c.7)</vt:lpstr>
      <vt:lpstr>14.3.1 部署圖之元件(c.9)</vt:lpstr>
      <vt:lpstr>14.3.1 部署圖之元件(c.10)</vt:lpstr>
      <vt:lpstr>14.3.2 部署圖之塑模原則(c.4)</vt:lpstr>
      <vt:lpstr>14.3.2 部署圖之塑模原則(c.6)</vt:lpstr>
      <vt:lpstr>14.3.2 部署圖之塑模原則(c.8)</vt:lpstr>
      <vt:lpstr>14.3.2 部署圖之塑模原則(c.10)</vt:lpstr>
      <vt:lpstr>14.3.2 部署圖之塑模原則(c.12)</vt:lpstr>
      <vt:lpstr>14.3.3 部署圖之建構案例(c.2)</vt:lpstr>
      <vt:lpstr>14.3.3 部署圖之建構案例(c.3)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第十章使用個案模式</dc:title>
  <dc:creator>handsome</dc:creator>
  <cp:lastModifiedBy>user</cp:lastModifiedBy>
  <cp:revision>170</cp:revision>
  <dcterms:created xsi:type="dcterms:W3CDTF">1999-12-20T09:16:27Z</dcterms:created>
  <dcterms:modified xsi:type="dcterms:W3CDTF">2020-04-20T02:58:17Z</dcterms:modified>
</cp:coreProperties>
</file>